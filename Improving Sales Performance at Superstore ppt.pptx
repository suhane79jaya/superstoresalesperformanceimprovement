
<file path=[Content_Types].xml><?xml version="1.0" encoding="utf-8"?>
<Types xmlns="http://schemas.openxmlformats.org/package/2006/content-types">
  <Default Extension="xml" ContentType="application/xml"/>
  <Default Extension="jpeg" ContentType="image/jpeg"/>
  <Default Extension="JPG" ContentType="image/.jpg"/>
  <Default Extension="png" ContentType="image/png"/>
  <Default Extension="rels" ContentType="application/vnd.openxmlformats-package.relationships+xml"/>
  <Override PartName="/customXml/itemProps6.xml" ContentType="application/vnd.openxmlformats-officedocument.customXmlProperties+xml"/>
  <Override PartName="/customXml/itemProps7.xml" ContentType="application/vnd.openxmlformats-officedocument.customXmlProperties+xml"/>
  <Override PartName="/customXml/itemProps8.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olors1.xml" ContentType="application/vnd.ms-office.chartcolorstyle+xml"/>
  <Override PartName="/ppt/charts/colors2.xml" ContentType="application/vnd.ms-office.chartcolorstyle+xml"/>
  <Override PartName="/ppt/charts/style1.xml" ContentType="application/vnd.ms-office.chartstyle+xml"/>
  <Override PartName="/ppt/charts/style2.xml" ContentType="application/vnd.ms-office.chartstyl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7"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6" r:id="rId17"/>
    <p:sldId id="277" r:id="rId18"/>
    <p:sldId id="278" r:id="rId19"/>
    <p:sldId id="280"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BA8B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7" d="100"/>
          <a:sy n="87" d="100"/>
        </p:scale>
        <p:origin x="528" y="8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6" Type="http://schemas.openxmlformats.org/officeDocument/2006/relationships/customXml" Target="../customXml/item3.xml"/><Relationship Id="rId25" Type="http://schemas.openxmlformats.org/officeDocument/2006/relationships/customXml" Target="../customXml/item2.xml"/><Relationship Id="rId24" Type="http://schemas.openxmlformats.org/officeDocument/2006/relationships/customXml" Target="../customXml/item1.xml"/><Relationship Id="rId23" Type="http://schemas.openxmlformats.org/officeDocument/2006/relationships/tableStyles" Target="tableStyles.xml"/><Relationship Id="rId22" Type="http://schemas.openxmlformats.org/officeDocument/2006/relationships/viewProps" Target="viewProps.xml"/><Relationship Id="rId21" Type="http://schemas.openxmlformats.org/officeDocument/2006/relationships/presProps" Target="presProps.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charts/_rels/chart1.xml.rels><?xml version="1.0" encoding="UTF-8" standalone="yes"?>
<Relationships xmlns="http://schemas.openxmlformats.org/package/2006/relationships"><Relationship Id="rId1" Type="http://schemas.openxmlformats.org/officeDocument/2006/relationships/oleObject" Target="file:///C:\Users\vnaga\Documents\JObAAj%20case%20study\DACS17-PIVOT%20Tables%20Case%20Study%20Improving%20Sales%20Performance%20at%20Superstore\Pivot%20table%20Case%20study%20Improving%20Sales%20performance%20at%20Superstore.xls" TargetMode="External"/></Relationships>
</file>

<file path=ppt/charts/_rels/chart2.xml.rels><?xml version="1.0" encoding="UTF-8" standalone="yes"?>
<Relationships xmlns="http://schemas.openxmlformats.org/package/2006/relationships"><Relationship Id="rId3" Type="http://schemas.microsoft.com/office/2011/relationships/chartColorStyle" Target="colors1.xml"/><Relationship Id="rId2" Type="http://schemas.microsoft.com/office/2011/relationships/chartStyle" Target="style1.xml"/><Relationship Id="rId1" Type="http://schemas.openxmlformats.org/officeDocument/2006/relationships/oleObject" Target="file:///C:\Users\vnaga\Documents\JObAAj%20case%20study\DACS17-PIVOT%20Tables%20Case%20Study%20Improving%20Sales%20Performance%20at%20Superstore\Pivot%20table%20Case%20study%20Improving%20Sales%20performance%20at%20Superstore.xls" TargetMode="External"/></Relationships>
</file>

<file path=ppt/charts/_rels/chart3.xml.rels><?xml version="1.0" encoding="UTF-8" standalone="yes"?>
<Relationships xmlns="http://schemas.openxmlformats.org/package/2006/relationships"><Relationship Id="rId1" Type="http://schemas.openxmlformats.org/officeDocument/2006/relationships/oleObject" Target="file:///C:\Users\vnaga\Documents\JObAAj%20case%20study\DACS17-PIVOT%20Tables%20Case%20Study%20Improving%20Sales%20Performance%20at%20Superstore\Pivot%20table%20Case%20study%20Improving%20Sales%20performance%20at%20Superstore.xls" TargetMode="External"/></Relationships>
</file>

<file path=ppt/charts/_rels/chart4.xml.rels><?xml version="1.0" encoding="UTF-8" standalone="yes"?>
<Relationships xmlns="http://schemas.openxmlformats.org/package/2006/relationships"><Relationship Id="rId3" Type="http://schemas.microsoft.com/office/2011/relationships/chartColorStyle" Target="colors2.xml"/><Relationship Id="rId2" Type="http://schemas.microsoft.com/office/2011/relationships/chartStyle" Target="style2.xml"/><Relationship Id="rId1" Type="http://schemas.openxmlformats.org/officeDocument/2006/relationships/oleObject" Target="file:///C:\Users\vnaga\Documents\JObAAj%20case%20study\DACS17-PIVOT%20Tables%20Case%20Study%20Improving%20Sales%20Performance%20at%20Superstore\Pivot%20table%20Case%20study%20Improving%20Sales%20performance%20at%20Superstore.xls" TargetMode="Externa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pivotSource>
    <c:name>[Pivot table Case study Improving Sales performance at Superstore.xls]Que3!PivotTable1</c:name>
    <c:fmtId val="-1"/>
  </c:pivotSource>
  <c:chart>
    <c:title>
      <c:layout/>
      <c:overlay val="0"/>
      <c:spPr>
        <a:noFill/>
        <a:ln>
          <a:noFill/>
        </a:ln>
        <a:effectLst/>
      </c:spPr>
      <c:txPr>
        <a:bodyPr rot="0" spcFirstLastPara="0" vertOverflow="ellipsis" vert="horz" wrap="square" anchor="ctr" anchorCtr="1"/>
        <a:lstStyle/>
        <a:p>
          <a:pPr>
            <a:defRPr lang="en-US" sz="1400" b="1" i="0" u="none" strike="noStrike" kern="1200" baseline="0">
              <a:solidFill>
                <a:schemeClr val="tx1">
                  <a:lumMod val="75000"/>
                  <a:lumOff val="25000"/>
                </a:schemeClr>
              </a:solidFill>
              <a:latin typeface="+mn-lt"/>
              <a:ea typeface="+mn-ea"/>
              <a:cs typeface="+mn-cs"/>
            </a:defRPr>
          </a:pPr>
        </a:p>
      </c:txPr>
    </c:title>
    <c:autoTitleDeleted val="0"/>
    <c:plotArea>
      <c:layout/>
      <c:barChart>
        <c:barDir val="col"/>
        <c:grouping val="clustered"/>
        <c:varyColors val="0"/>
        <c:ser>
          <c:idx val="0"/>
          <c:order val="0"/>
          <c:tx>
            <c:strRef>
              <c:f>'[Pivot table Case study Improving Sales performance at Superstore.xls]Que3'!$B$3</c:f>
              <c:strCache>
                <c:ptCount val="1"/>
                <c:pt idx="0">
                  <c:v>Total</c:v>
                </c:pt>
              </c:strCache>
            </c:strRef>
          </c:tx>
          <c:spPr>
            <a:solidFill>
              <a:schemeClr val="accent1"/>
            </a:solidFill>
            <a:ln>
              <a:noFill/>
            </a:ln>
            <a:effectLst/>
          </c:spPr>
          <c:invertIfNegative val="0"/>
          <c:dLbls>
            <c:spPr>
              <a:noFill/>
              <a:ln>
                <a:noFill/>
              </a:ln>
              <a:effectLst/>
            </c:spPr>
            <c:txPr>
              <a:bodyPr rot="0" spcFirstLastPara="0" vertOverflow="ellipsis" vert="horz" wrap="square" lIns="38100" tIns="19050" rIns="38100" bIns="19050" anchor="ctr" anchorCtr="1"/>
              <a:lstStyle/>
              <a:p>
                <a:pPr>
                  <a:defRPr lang="en-US" sz="1000" b="0" i="0" u="none" strike="noStrike" kern="1200" baseline="0">
                    <a:solidFill>
                      <a:schemeClr val="tx1"/>
                    </a:solidFill>
                    <a:latin typeface="+mn-lt"/>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ext>
            </c:extLst>
          </c:dLbls>
          <c:cat>
            <c:strRef>
              <c:f>'[Pivot table Case study Improving Sales performance at Superstore.xls]Que3'!$A$4:$A$7</c:f>
              <c:strCache>
                <c:ptCount val="3"/>
                <c:pt idx="0">
                  <c:v>Consumer</c:v>
                </c:pt>
                <c:pt idx="1">
                  <c:v>Corporate</c:v>
                </c:pt>
                <c:pt idx="2">
                  <c:v>Home Office</c:v>
                </c:pt>
              </c:strCache>
            </c:strRef>
          </c:cat>
          <c:val>
            <c:numRef>
              <c:f>'[Pivot table Case study Improving Sales performance at Superstore.xls]Que3'!$B$4:$B$7</c:f>
              <c:numCache>
                <c:formatCode>General</c:formatCode>
                <c:ptCount val="3"/>
                <c:pt idx="0">
                  <c:v>118554.3034</c:v>
                </c:pt>
                <c:pt idx="1">
                  <c:v>70821.3018</c:v>
                </c:pt>
                <c:pt idx="2">
                  <c:v>51755.1627</c:v>
                </c:pt>
              </c:numCache>
            </c:numRef>
          </c:val>
        </c:ser>
        <c:dLbls>
          <c:showLegendKey val="0"/>
          <c:showVal val="1"/>
          <c:showCatName val="0"/>
          <c:showSerName val="0"/>
          <c:showPercent val="0"/>
          <c:showBubbleSize val="0"/>
        </c:dLbls>
        <c:gapWidth val="246"/>
        <c:overlap val="-28"/>
        <c:axId val="577130497"/>
        <c:axId val="895707463"/>
      </c:barChart>
      <c:catAx>
        <c:axId val="577130497"/>
        <c:scaling>
          <c:orientation val="minMax"/>
        </c:scaling>
        <c:delete val="0"/>
        <c:axPos val="b"/>
        <c:numFmt formatCode="General" sourceLinked="0"/>
        <c:majorTickMark val="none"/>
        <c:minorTickMark val="none"/>
        <c:tickLblPos val="nextTo"/>
        <c:spPr>
          <a:noFill/>
          <a:ln w="9525" cap="flat" cmpd="sng" algn="ctr">
            <a:solidFill>
              <a:schemeClr val="tx1">
                <a:lumMod val="15000"/>
                <a:lumOff val="85000"/>
              </a:schemeClr>
            </a:solidFill>
            <a:prstDash val="solid"/>
            <a:round/>
          </a:ln>
          <a:effectLst/>
        </c:spPr>
        <c:txPr>
          <a:bodyPr rot="-60000000" spcFirstLastPara="0" vertOverflow="ellipsis" vert="horz" wrap="square" anchor="ctr" anchorCtr="1"/>
          <a:lstStyle/>
          <a:p>
            <a:pPr>
              <a:defRPr lang="en-US" sz="900" b="0" i="0" u="none" strike="noStrike" kern="1200" baseline="0">
                <a:solidFill>
                  <a:schemeClr val="tx1">
                    <a:lumMod val="65000"/>
                    <a:lumOff val="35000"/>
                  </a:schemeClr>
                </a:solidFill>
                <a:latin typeface="+mn-lt"/>
                <a:ea typeface="+mn-ea"/>
                <a:cs typeface="+mn-cs"/>
              </a:defRPr>
            </a:pPr>
          </a:p>
        </c:txPr>
        <c:crossAx val="895707463"/>
        <c:crosses val="autoZero"/>
        <c:auto val="1"/>
        <c:lblAlgn val="ctr"/>
        <c:lblOffset val="100"/>
        <c:noMultiLvlLbl val="0"/>
      </c:catAx>
      <c:valAx>
        <c:axId val="895707463"/>
        <c:scaling>
          <c:orientation val="minMax"/>
        </c:scaling>
        <c:delete val="0"/>
        <c:axPos val="l"/>
        <c:majorGridlines>
          <c:spPr>
            <a:ln w="9525" cap="flat" cmpd="sng" algn="ctr">
              <a:solidFill>
                <a:schemeClr val="lt1">
                  <a:lumMod val="90200"/>
                </a:schemeClr>
              </a:solidFill>
              <a:prstDash val="solid"/>
              <a:round/>
            </a:ln>
            <a:effectLst/>
          </c:spPr>
        </c:majorGridlines>
        <c:numFmt formatCode="General" sourceLinked="1"/>
        <c:majorTickMark val="none"/>
        <c:minorTickMark val="none"/>
        <c:tickLblPos val="nextTo"/>
        <c:spPr>
          <a:noFill/>
          <a:ln w="6350" cap="flat" cmpd="sng" algn="ctr">
            <a:noFill/>
            <a:prstDash val="solid"/>
            <a:round/>
          </a:ln>
          <a:effectLst/>
        </c:spPr>
        <c:txPr>
          <a:bodyPr rot="-60000000" spcFirstLastPara="0" vertOverflow="ellipsis" vert="horz" wrap="square" anchor="ctr" anchorCtr="1"/>
          <a:lstStyle/>
          <a:p>
            <a:pPr>
              <a:defRPr lang="en-US" sz="900" b="0" i="0" u="none" strike="noStrike" kern="1200" baseline="0">
                <a:solidFill>
                  <a:schemeClr val="tx1">
                    <a:lumMod val="65000"/>
                    <a:lumOff val="35000"/>
                  </a:schemeClr>
                </a:solidFill>
                <a:latin typeface="+mn-lt"/>
                <a:ea typeface="+mn-ea"/>
                <a:cs typeface="+mn-cs"/>
              </a:defRPr>
            </a:pPr>
          </a:p>
        </c:txPr>
        <c:crossAx val="577130497"/>
        <c:crosses val="autoZero"/>
        <c:crossBetween val="between"/>
      </c:valAx>
      <c:dTable>
        <c:showHorzBorder val="1"/>
        <c:showVertBorder val="1"/>
        <c:showOutline val="1"/>
        <c:showKeys val="1"/>
        <c:txPr>
          <a:bodyPr rot="0" spcFirstLastPara="0" vertOverflow="ellipsis" vert="horz" wrap="square" anchor="ctr" anchorCtr="1"/>
          <a:lstStyle/>
          <a:p>
            <a:pPr>
              <a:defRPr lang="en-US" sz="1000" b="0" i="0" u="none" strike="noStrike" kern="1200" baseline="0">
                <a:solidFill>
                  <a:schemeClr val="tx1"/>
                </a:solidFill>
                <a:latin typeface="+mn-lt"/>
                <a:ea typeface="+mn-ea"/>
                <a:cs typeface="+mn-cs"/>
              </a:defRPr>
            </a:pPr>
          </a:p>
        </c:txPr>
      </c:dTable>
      <c:spPr>
        <a:noFill/>
        <a:ln>
          <a:noFill/>
        </a:ln>
        <a:effectLst/>
      </c:spPr>
    </c:plotArea>
    <c:legend>
      <c:legendPos val="r"/>
      <c:layout/>
      <c:overlay val="0"/>
      <c:spPr>
        <a:noFill/>
        <a:ln>
          <a:noFill/>
        </a:ln>
        <a:effectLst/>
      </c:spPr>
      <c:txPr>
        <a:bodyPr rot="0" spcFirstLastPara="0" vertOverflow="ellipsis" vert="horz" wrap="square" anchor="ctr" anchorCtr="1"/>
        <a:lstStyle/>
        <a:p>
          <a:pPr>
            <a:defRPr lang="en-US" sz="900" b="0" i="0" u="none" strike="noStrike" kern="1200" baseline="0">
              <a:solidFill>
                <a:schemeClr val="tx1">
                  <a:lumMod val="65000"/>
                  <a:lumOff val="35000"/>
                </a:schemeClr>
              </a:solidFill>
              <a:latin typeface="+mn-lt"/>
              <a:ea typeface="+mn-ea"/>
              <a:cs typeface="+mn-cs"/>
            </a:defRPr>
          </a:pPr>
        </a:p>
      </c:txPr>
    </c:legend>
    <c:plotVisOnly val="1"/>
    <c:dispBlanksAs val="gap"/>
    <c:showDLblsOverMax val="0"/>
    <c:extLst>
      <c:ext uri="{0b15fc19-7d7d-44ad-8c2d-2c3a37ce22c3}">
        <chartProps xmlns="https://web.wps.cn/et/2018/main" chartId="{f16d6871-515b-4d6b-ba50-490f4a54a557}"/>
      </c:ext>
    </c:extLst>
  </c:chart>
  <c:spPr>
    <a:solidFill>
      <a:schemeClr val="bg1"/>
    </a:solidFill>
    <a:ln w="9525" cap="flat" cmpd="sng" algn="ctr">
      <a:solidFill>
        <a:schemeClr val="tx1">
          <a:lumMod val="15000"/>
          <a:lumOff val="85000"/>
        </a:schemeClr>
      </a:solidFill>
      <a:prstDash val="solid"/>
      <a:round/>
    </a:ln>
    <a:effectLst/>
  </c:spPr>
  <c:txPr>
    <a:bodyPr wrap="square"/>
    <a:lstStyle/>
    <a:p>
      <a:pPr>
        <a:defRPr lang="en-US"/>
      </a:pPr>
    </a:p>
  </c:txPr>
  <c:externalData r:id="rId1">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Lst>
</c:chartSpace>
</file>

<file path=ppt/charts/chart2.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pivotSource>
    <c:name>[Pivot table Case study Improving Sales performance at Superstore.xls]Que5!PivotTable3</c:name>
    <c:fmtId val="-1"/>
  </c:pivotSource>
  <c:chart>
    <c:title>
      <c:layout/>
      <c:overlay val="0"/>
      <c:spPr>
        <a:noFill/>
        <a:ln>
          <a:noFill/>
        </a:ln>
        <a:effectLst/>
      </c:spPr>
      <c:txPr>
        <a:bodyPr rot="0" spcFirstLastPara="0" vertOverflow="ellipsis" vert="horz" wrap="square" anchor="ctr" anchorCtr="1"/>
        <a:lstStyle/>
        <a:p>
          <a:pPr>
            <a:defRPr lang="en-US" sz="1400" b="1" i="0" u="none" strike="noStrike" kern="1200" baseline="0">
              <a:solidFill>
                <a:schemeClr val="tx1">
                  <a:lumMod val="75000"/>
                  <a:lumOff val="25000"/>
                </a:schemeClr>
              </a:solidFill>
              <a:latin typeface="+mn-lt"/>
              <a:ea typeface="+mn-ea"/>
              <a:cs typeface="+mn-cs"/>
            </a:defRPr>
          </a:pPr>
        </a:p>
      </c:txPr>
    </c:title>
    <c:autoTitleDeleted val="0"/>
    <c:plotArea>
      <c:layout/>
      <c:barChart>
        <c:barDir val="col"/>
        <c:grouping val="clustered"/>
        <c:varyColors val="0"/>
        <c:ser>
          <c:idx val="0"/>
          <c:order val="0"/>
          <c:tx>
            <c:strRef>
              <c:f>'[Pivot table Case study Improving Sales performance at Superstore.xls]Que5'!$B$3</c:f>
              <c:strCache>
                <c:ptCount val="1"/>
                <c:pt idx="0">
                  <c:v>Total</c:v>
                </c:pt>
              </c:strCache>
            </c:strRef>
          </c:tx>
          <c:spPr>
            <a:solidFill>
              <a:schemeClr val="accent1"/>
            </a:solidFill>
            <a:ln>
              <a:noFill/>
            </a:ln>
            <a:effectLst/>
          </c:spPr>
          <c:invertIfNegative val="0"/>
          <c:dLbls>
            <c:spPr>
              <a:noFill/>
              <a:ln>
                <a:noFill/>
              </a:ln>
              <a:effectLst/>
            </c:spPr>
            <c:txPr>
              <a:bodyPr rot="0" spcFirstLastPara="0" vertOverflow="ellipsis" vert="horz" wrap="square" lIns="38100" tIns="19050" rIns="38100" bIns="19050" anchor="ctr" anchorCtr="1"/>
              <a:lstStyle/>
              <a:p>
                <a:pPr>
                  <a:defRPr lang="en-US" sz="1000" b="0" i="0" u="none" strike="noStrike" kern="1200" baseline="0">
                    <a:solidFill>
                      <a:schemeClr val="tx1">
                        <a:lumMod val="75000"/>
                        <a:lumOff val="25000"/>
                      </a:schemeClr>
                    </a:solidFill>
                    <a:latin typeface="+mn-lt"/>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'[Pivot table Case study Improving Sales performance at Superstore.xls]Que5'!$A$4:$A$8</c:f>
              <c:strCache>
                <c:ptCount val="4"/>
                <c:pt idx="0">
                  <c:v>First Class</c:v>
                </c:pt>
                <c:pt idx="1">
                  <c:v>Same Day</c:v>
                </c:pt>
                <c:pt idx="2">
                  <c:v>Second Class</c:v>
                </c:pt>
                <c:pt idx="3">
                  <c:v>Standard Class</c:v>
                </c:pt>
              </c:strCache>
            </c:strRef>
          </c:cat>
          <c:val>
            <c:numRef>
              <c:f>'[Pivot table Case study Improving Sales performance at Superstore.xls]Que5'!$B$4:$B$8</c:f>
              <c:numCache>
                <c:formatCode>General</c:formatCode>
                <c:ptCount val="4"/>
                <c:pt idx="0">
                  <c:v>36982.738</c:v>
                </c:pt>
                <c:pt idx="1">
                  <c:v>13988.912</c:v>
                </c:pt>
                <c:pt idx="2">
                  <c:v>49014.0856</c:v>
                </c:pt>
                <c:pt idx="3">
                  <c:v>141145.0323</c:v>
                </c:pt>
              </c:numCache>
            </c:numRef>
          </c:val>
        </c:ser>
        <c:dLbls>
          <c:showLegendKey val="0"/>
          <c:showVal val="1"/>
          <c:showCatName val="0"/>
          <c:showSerName val="0"/>
          <c:showPercent val="0"/>
          <c:showBubbleSize val="0"/>
        </c:dLbls>
        <c:gapWidth val="246"/>
        <c:overlap val="-28"/>
        <c:axId val="328674357"/>
        <c:axId val="426533056"/>
      </c:barChart>
      <c:catAx>
        <c:axId val="328674357"/>
        <c:scaling>
          <c:orientation val="minMax"/>
        </c:scaling>
        <c:delete val="0"/>
        <c:axPos val="b"/>
        <c:majorTickMark val="none"/>
        <c:minorTickMark val="none"/>
        <c:tickLblPos val="nextTo"/>
        <c:spPr>
          <a:noFill/>
          <a:ln w="9525" cap="flat" cmpd="sng" algn="ctr">
            <a:solidFill>
              <a:schemeClr val="tx1">
                <a:lumMod val="15000"/>
                <a:lumOff val="85000"/>
              </a:schemeClr>
            </a:solidFill>
            <a:round/>
          </a:ln>
          <a:effectLst/>
        </c:spPr>
        <c:txPr>
          <a:bodyPr rot="-60000000" spcFirstLastPara="0" vertOverflow="ellipsis" vert="horz" wrap="square" anchor="ctr" anchorCtr="1"/>
          <a:lstStyle/>
          <a:p>
            <a:pPr>
              <a:defRPr lang="en-US" sz="900" b="0" i="0" u="none" strike="noStrike" kern="1200" baseline="0">
                <a:solidFill>
                  <a:schemeClr val="tx1">
                    <a:lumMod val="65000"/>
                    <a:lumOff val="35000"/>
                  </a:schemeClr>
                </a:solidFill>
                <a:latin typeface="+mn-lt"/>
                <a:ea typeface="+mn-ea"/>
                <a:cs typeface="+mn-cs"/>
              </a:defRPr>
            </a:pPr>
          </a:p>
        </c:txPr>
        <c:crossAx val="426533056"/>
        <c:crosses val="autoZero"/>
        <c:auto val="1"/>
        <c:lblAlgn val="ctr"/>
        <c:lblOffset val="100"/>
        <c:noMultiLvlLbl val="0"/>
      </c:catAx>
      <c:valAx>
        <c:axId val="426533056"/>
        <c:scaling>
          <c:orientation val="minMax"/>
        </c:scaling>
        <c:delete val="0"/>
        <c:axPos val="l"/>
        <c:majorGridlines>
          <c:spPr>
            <a:ln w="9525" cap="flat" cmpd="sng" algn="ctr">
              <a:solidFill>
                <a:schemeClr val="lt1">
                  <a:lumMod val="90200"/>
                </a:schemeClr>
              </a:solidFill>
              <a:round/>
            </a:ln>
            <a:effectLst/>
          </c:spPr>
        </c:majorGridlines>
        <c:numFmt formatCode="General" sourceLinked="1"/>
        <c:majorTickMark val="none"/>
        <c:minorTickMark val="none"/>
        <c:tickLblPos val="nextTo"/>
        <c:spPr>
          <a:noFill/>
          <a:ln>
            <a:noFill/>
          </a:ln>
          <a:effectLst/>
        </c:spPr>
        <c:txPr>
          <a:bodyPr rot="-60000000" spcFirstLastPara="0" vertOverflow="ellipsis" vert="horz" wrap="square" anchor="ctr" anchorCtr="1"/>
          <a:lstStyle/>
          <a:p>
            <a:pPr>
              <a:defRPr lang="en-US" sz="900" b="0" i="0" u="none" strike="noStrike" kern="1200" baseline="0">
                <a:solidFill>
                  <a:schemeClr val="tx1">
                    <a:lumMod val="65000"/>
                    <a:lumOff val="35000"/>
                  </a:schemeClr>
                </a:solidFill>
                <a:latin typeface="+mn-lt"/>
                <a:ea typeface="+mn-ea"/>
                <a:cs typeface="+mn-cs"/>
              </a:defRPr>
            </a:pPr>
          </a:p>
        </c:txPr>
        <c:crossAx val="328674357"/>
        <c:crosses val="autoZero"/>
        <c:crossBetween val="between"/>
      </c:valAx>
      <c:spPr>
        <a:noFill/>
        <a:ln>
          <a:noFill/>
        </a:ln>
        <a:effectLst/>
      </c:spPr>
    </c:plotArea>
    <c:legend>
      <c:legendPos val="r"/>
      <c:layout/>
      <c:overlay val="0"/>
      <c:spPr>
        <a:noFill/>
        <a:ln>
          <a:noFill/>
        </a:ln>
        <a:effectLst/>
      </c:spPr>
      <c:txPr>
        <a:bodyPr rot="0" spcFirstLastPara="0" vertOverflow="ellipsis" vert="horz" wrap="square" anchor="ctr" anchorCtr="1"/>
        <a:lstStyle/>
        <a:p>
          <a:pPr>
            <a:defRPr lang="en-US" sz="900" b="0" i="0" u="none" strike="noStrike" kern="1200" baseline="0">
              <a:solidFill>
                <a:schemeClr val="tx1">
                  <a:lumMod val="65000"/>
                  <a:lumOff val="35000"/>
                </a:schemeClr>
              </a:solidFill>
              <a:latin typeface="+mn-lt"/>
              <a:ea typeface="+mn-ea"/>
              <a:cs typeface="+mn-cs"/>
            </a:defRPr>
          </a:pPr>
        </a:p>
      </c:txPr>
    </c:legend>
    <c:plotVisOnly val="1"/>
    <c:dispBlanksAs val="gap"/>
    <c:showDLblsOverMax val="0"/>
    <c:extLst>
      <c:ext uri="{0b15fc19-7d7d-44ad-8c2d-2c3a37ce22c3}">
        <chartProps xmlns="https://web.wps.cn/et/2018/main" chartId="{b796b8c0-fbea-47a2-8bc8-d7ab97de3be5}"/>
      </c:ext>
    </c:extLst>
  </c:chart>
  <c:spPr>
    <a:solidFill>
      <a:schemeClr val="bg1"/>
    </a:solidFill>
    <a:ln w="9525" cap="flat" cmpd="sng" algn="ctr">
      <a:solidFill>
        <a:schemeClr val="tx1">
          <a:lumMod val="15000"/>
          <a:lumOff val="85000"/>
        </a:schemeClr>
      </a:solidFill>
      <a:round/>
    </a:ln>
    <a:effectLst/>
  </c:spPr>
  <c:txPr>
    <a:bodyPr/>
    <a:lstStyle/>
    <a:p>
      <a:pPr>
        <a:defRPr lang="en-US"/>
      </a:pPr>
    </a:p>
  </c:txPr>
  <c:externalData r:id="rId1">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Lst>
</c:chartSpace>
</file>

<file path=ppt/charts/chart3.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pivotSource>
    <c:name>[Pivot table Case study Improving Sales performance at Superstore.xls]Que10!PivotTable11</c:name>
    <c:fmtId val="-1"/>
  </c:pivotSource>
  <c:chart>
    <c:title>
      <c:layout/>
      <c:overlay val="0"/>
      <c:spPr>
        <a:noFill/>
        <a:ln>
          <a:noFill/>
        </a:ln>
        <a:effectLst/>
      </c:spPr>
      <c:txPr>
        <a:bodyPr rot="0" spcFirstLastPara="1" vertOverflow="ellipsis" vert="horz" wrap="square" anchor="ctr" anchorCtr="1"/>
        <a:lstStyle/>
        <a:p>
          <a:pPr>
            <a:defRPr lang="en-US" sz="1400" b="0" i="0" u="none" strike="noStrike" kern="1200" spc="0" baseline="0">
              <a:solidFill>
                <a:schemeClr val="tx1">
                  <a:lumMod val="65000"/>
                  <a:lumOff val="35000"/>
                </a:schemeClr>
              </a:solidFill>
              <a:latin typeface="+mn-lt"/>
              <a:ea typeface="+mn-ea"/>
              <a:cs typeface="+mn-cs"/>
            </a:defRPr>
          </a:pPr>
        </a:p>
      </c:txPr>
    </c:title>
    <c:autoTitleDeleted val="0"/>
    <c:plotArea>
      <c:layout/>
      <c:barChart>
        <c:barDir val="col"/>
        <c:grouping val="clustered"/>
        <c:varyColors val="0"/>
        <c:ser>
          <c:idx val="0"/>
          <c:order val="0"/>
          <c:tx>
            <c:strRef>
              <c:f>'[Pivot table Case study Improving Sales performance at Superstore.xls]Que10'!$B$3</c:f>
              <c:strCache>
                <c:ptCount val="1"/>
                <c:pt idx="0">
                  <c:v>Total</c:v>
                </c:pt>
              </c:strCache>
            </c:strRef>
          </c:tx>
          <c:spPr>
            <a:solidFill>
              <a:schemeClr val="accent1"/>
            </a:solidFill>
            <a:ln>
              <a:noFill/>
            </a:ln>
            <a:effectLst/>
          </c:spPr>
          <c:invertIfNegative val="0"/>
          <c:dLbls>
            <c:spPr>
              <a:noFill/>
              <a:ln>
                <a:noFill/>
              </a:ln>
              <a:effectLst/>
            </c:spPr>
            <c:txPr>
              <a:bodyPr rot="0" spcFirstLastPara="0" vertOverflow="ellipsis" vert="horz" wrap="square" lIns="38100" tIns="19050" rIns="38100" bIns="19050" anchor="ctr" anchorCtr="1"/>
              <a:lstStyle/>
              <a:p>
                <a:pPr>
                  <a:defRPr lang="en-US" sz="1000" b="0" i="0" u="none" strike="noStrike" kern="1200" baseline="0">
                    <a:solidFill>
                      <a:schemeClr val="tx1"/>
                    </a:solidFill>
                    <a:latin typeface="+mn-lt"/>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ext>
            </c:extLst>
          </c:dLbls>
          <c:cat>
            <c:strRef>
              <c:f>'[Pivot table Case study Improving Sales performance at Superstore.xls]Que10'!$A$4:$A$16</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'[Pivot table Case study Improving Sales performance at Superstore.xls]Que10'!$B$4:$B$16</c:f>
              <c:numCache>
                <c:formatCode>General</c:formatCode>
                <c:ptCount val="12"/>
                <c:pt idx="0">
                  <c:v>13953.076</c:v>
                </c:pt>
                <c:pt idx="1">
                  <c:v>2404.392</c:v>
                </c:pt>
                <c:pt idx="2">
                  <c:v>12273.4298</c:v>
                </c:pt>
                <c:pt idx="3">
                  <c:v>13509.6365</c:v>
                </c:pt>
                <c:pt idx="4">
                  <c:v>15697.456</c:v>
                </c:pt>
                <c:pt idx="5">
                  <c:v>24485.697</c:v>
                </c:pt>
                <c:pt idx="6">
                  <c:v>6843.388</c:v>
                </c:pt>
                <c:pt idx="7">
                  <c:v>13081.895</c:v>
                </c:pt>
                <c:pt idx="8">
                  <c:v>52116.0536</c:v>
                </c:pt>
                <c:pt idx="9">
                  <c:v>16506.0795</c:v>
                </c:pt>
                <c:pt idx="10">
                  <c:v>36705.6985</c:v>
                </c:pt>
                <c:pt idx="11">
                  <c:v>33553.966</c:v>
                </c:pt>
              </c:numCache>
            </c:numRef>
          </c:val>
        </c:ser>
        <c:dLbls>
          <c:showLegendKey val="0"/>
          <c:showVal val="1"/>
          <c:showCatName val="0"/>
          <c:showSerName val="0"/>
          <c:showPercent val="0"/>
          <c:showBubbleSize val="0"/>
        </c:dLbls>
        <c:gapWidth val="219"/>
        <c:overlap val="-27"/>
        <c:axId val="280156586"/>
        <c:axId val="323993453"/>
      </c:barChart>
      <c:catAx>
        <c:axId val="280156586"/>
        <c:scaling>
          <c:orientation val="minMax"/>
        </c:scaling>
        <c:delete val="0"/>
        <c:axPos val="b"/>
        <c:majorTickMark val="out"/>
        <c:minorTickMark val="none"/>
        <c:tickLblPos val="nextTo"/>
        <c:spPr>
          <a:noFill/>
          <a:ln w="9525" cap="flat" cmpd="sng" algn="ctr">
            <a:solidFill>
              <a:schemeClr val="tx1">
                <a:lumMod val="15000"/>
                <a:lumOff val="85000"/>
              </a:schemeClr>
            </a:solidFill>
            <a:prstDash val="solid"/>
            <a:round/>
          </a:ln>
          <a:effectLst/>
        </c:spPr>
        <c:txPr>
          <a:bodyPr rot="-60000000" spcFirstLastPara="1" vertOverflow="ellipsis" vert="horz" wrap="square" anchor="ctr" anchorCtr="1"/>
          <a:lstStyle/>
          <a:p>
            <a:pPr>
              <a:defRPr lang="en-US" sz="900" b="0" i="0" u="none" strike="noStrike" kern="1200" baseline="0">
                <a:solidFill>
                  <a:schemeClr val="tx1">
                    <a:lumMod val="65000"/>
                    <a:lumOff val="35000"/>
                  </a:schemeClr>
                </a:solidFill>
                <a:latin typeface="+mn-lt"/>
                <a:ea typeface="+mn-ea"/>
                <a:cs typeface="+mn-cs"/>
              </a:defRPr>
            </a:pPr>
          </a:p>
        </c:txPr>
        <c:crossAx val="323993453"/>
        <c:crosses val="autoZero"/>
        <c:auto val="1"/>
        <c:lblAlgn val="ctr"/>
        <c:lblOffset val="100"/>
        <c:noMultiLvlLbl val="0"/>
      </c:catAx>
      <c:valAx>
        <c:axId val="323993453"/>
        <c:scaling>
          <c:orientation val="minMax"/>
        </c:scaling>
        <c:delete val="0"/>
        <c:axPos val="l"/>
        <c:majorGridlines>
          <c:spPr>
            <a:ln w="9525" cap="flat" cmpd="sng" algn="ctr">
              <a:solidFill>
                <a:schemeClr val="tx1">
                  <a:lumMod val="15000"/>
                  <a:lumOff val="85000"/>
                </a:schemeClr>
              </a:solidFill>
              <a:prstDash val="solid"/>
              <a:round/>
            </a:ln>
            <a:effectLst/>
          </c:spPr>
        </c:majorGridlines>
        <c:numFmt formatCode="General" sourceLinked="1"/>
        <c:majorTickMark val="out"/>
        <c:minorTickMark val="none"/>
        <c:tickLblPos val="nextTo"/>
        <c:spPr>
          <a:noFill/>
          <a:ln w="6350" cap="flat" cmpd="sng" algn="ctr">
            <a:noFill/>
            <a:prstDash val="solid"/>
            <a:round/>
          </a:ln>
          <a:effectLst/>
        </c:spPr>
        <c:txPr>
          <a:bodyPr rot="-60000000" spcFirstLastPara="1" vertOverflow="ellipsis" vert="horz" wrap="square" anchor="ctr" anchorCtr="1"/>
          <a:lstStyle/>
          <a:p>
            <a:pPr>
              <a:defRPr lang="en-US" sz="900" b="0" i="0" u="none" strike="noStrike" kern="1200" baseline="0">
                <a:solidFill>
                  <a:schemeClr val="tx1">
                    <a:lumMod val="65000"/>
                    <a:lumOff val="35000"/>
                  </a:schemeClr>
                </a:solidFill>
                <a:latin typeface="+mn-lt"/>
                <a:ea typeface="+mn-ea"/>
                <a:cs typeface="+mn-cs"/>
              </a:defRPr>
            </a:pPr>
          </a:p>
        </c:txPr>
        <c:crossAx val="280156586"/>
        <c:crosses val="autoZero"/>
        <c:crossBetween val="between"/>
      </c:valAx>
      <c:dTable>
        <c:showHorzBorder val="1"/>
        <c:showVertBorder val="1"/>
        <c:showOutline val="1"/>
        <c:showKeys val="1"/>
        <c:txPr>
          <a:bodyPr rot="0" spcFirstLastPara="0" vertOverflow="ellipsis" vert="horz" wrap="square" anchor="ctr" anchorCtr="1"/>
          <a:lstStyle/>
          <a:p>
            <a:pPr>
              <a:defRPr lang="en-US" sz="1000" b="0" i="0" u="none" strike="noStrike" kern="1200" baseline="0">
                <a:solidFill>
                  <a:schemeClr val="tx1"/>
                </a:solidFill>
                <a:latin typeface="+mn-lt"/>
                <a:ea typeface="+mn-ea"/>
                <a:cs typeface="+mn-cs"/>
              </a:defRPr>
            </a:pPr>
          </a:p>
        </c:txPr>
      </c:dTable>
      <c:spPr>
        <a:noFill/>
        <a:ln>
          <a:noFill/>
        </a:ln>
        <a:effectLst/>
      </c:spPr>
    </c:plotArea>
    <c:legend>
      <c:legendPos val="r"/>
      <c:layout/>
      <c:overlay val="0"/>
      <c:txPr>
        <a:bodyPr rot="0" spcFirstLastPara="1" vertOverflow="ellipsis" vert="horz" wrap="square" anchor="ctr" anchorCtr="1"/>
        <a:lstStyle/>
        <a:p>
          <a:pPr>
            <a:defRPr lang="en-US" sz="900" b="0" i="0" u="none" strike="noStrike" kern="1200" baseline="0">
              <a:solidFill>
                <a:schemeClr val="tx1">
                  <a:lumMod val="65000"/>
                  <a:lumOff val="35000"/>
                </a:schemeClr>
              </a:solidFill>
              <a:latin typeface="+mn-lt"/>
              <a:ea typeface="+mn-ea"/>
              <a:cs typeface="+mn-cs"/>
            </a:defRPr>
          </a:pPr>
        </a:p>
      </c:txPr>
    </c:legend>
    <c:plotVisOnly val="1"/>
    <c:dispBlanksAs val="gap"/>
    <c:showDLblsOverMax val="0"/>
    <c:extLst>
      <c:ext uri="{0b15fc19-7d7d-44ad-8c2d-2c3a37ce22c3}">
        <chartProps xmlns="https://web.wps.cn/et/2018/main" chartId="{61381081-1c3a-4e7c-a871-3724c293f4e4}"/>
      </c:ext>
    </c:extLst>
  </c:chart>
  <c:spPr>
    <a:solidFill>
      <a:schemeClr val="bg1"/>
    </a:solidFill>
    <a:ln w="9525" cap="flat" cmpd="sng" algn="ctr">
      <a:solidFill>
        <a:schemeClr val="tx1">
          <a:lumMod val="15000"/>
          <a:lumOff val="85000"/>
        </a:schemeClr>
      </a:solidFill>
      <a:prstDash val="solid"/>
      <a:round/>
    </a:ln>
    <a:effectLst/>
  </c:spPr>
  <c:txPr>
    <a:bodyPr wrap="square"/>
    <a:lstStyle/>
    <a:p>
      <a:pPr>
        <a:defRPr lang="en-US"/>
      </a:pPr>
    </a:p>
  </c:txPr>
  <c:externalData r:id="rId1">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Lst>
</c:chartSpace>
</file>

<file path=ppt/charts/chart4.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4"/>
    </mc:Choice>
    <mc:Fallback>
      <c:style val="4"/>
    </mc:Fallback>
  </mc:AlternateContent>
  <c:pivotSource>
    <c:name>[Pivot table Case study Improving Sales performance at Superstore.xls]Que2!PivotTable2</c:name>
    <c:fmtId val="-1"/>
  </c:pivotSource>
  <c:chart>
    <c:title>
      <c:layout/>
      <c:overlay val="0"/>
      <c:spPr>
        <a:noFill/>
        <a:ln>
          <a:noFill/>
        </a:ln>
        <a:effectLst/>
      </c:spPr>
      <c:txPr>
        <a:bodyPr rot="0" spcFirstLastPara="1" vertOverflow="ellipsis" vert="horz" wrap="square" anchor="ctr" anchorCtr="1"/>
        <a:lstStyle/>
        <a:p>
          <a:pPr>
            <a:defRPr lang="en-US" sz="1800" b="1" i="0" u="none" strike="noStrike" kern="1200" cap="all" spc="150" baseline="0">
              <a:solidFill>
                <a:schemeClr val="tx1">
                  <a:lumMod val="50000"/>
                  <a:lumOff val="50000"/>
                </a:schemeClr>
              </a:solidFill>
              <a:latin typeface="+mn-lt"/>
              <a:ea typeface="+mn-ea"/>
              <a:cs typeface="+mn-cs"/>
            </a:defRPr>
          </a:pPr>
        </a:p>
      </c:txPr>
    </c:title>
    <c:autoTitleDeleted val="0"/>
    <c:plotArea>
      <c:layout/>
      <c:barChart>
        <c:barDir val="col"/>
        <c:grouping val="clustered"/>
        <c:varyColors val="0"/>
        <c:ser>
          <c:idx val="0"/>
          <c:order val="0"/>
          <c:tx>
            <c:strRef>
              <c:f>'[Pivot table Case study Improving Sales performance at Superstore.xls]Que2'!$B$3</c:f>
              <c:strCache>
                <c:ptCount val="1"/>
                <c:pt idx="0">
                  <c:v>Total</c:v>
                </c:pt>
              </c:strCache>
            </c:strRef>
          </c:tx>
          <c:spPr>
            <a:solidFill>
              <a:schemeClr val="accent2"/>
            </a:solidFill>
            <a:ln>
              <a:noFill/>
            </a:ln>
            <a:effectLst>
              <a:innerShdw blurRad="114300">
                <a:schemeClr val="accent2"/>
              </a:innerShdw>
            </a:effectLst>
          </c:spPr>
          <c:invertIfNegative val="0"/>
          <c:dLbls>
            <c:numFmt formatCode="General" sourceLinked="1"/>
            <c:spPr>
              <a:noFill/>
              <a:ln>
                <a:noFill/>
              </a:ln>
              <a:effectLst/>
            </c:spPr>
            <c:txPr>
              <a:bodyPr rot="0" spcFirstLastPara="1" vertOverflow="ellipsis" vert="horz" wrap="square" lIns="38100" tIns="19050" rIns="38100" bIns="19050" anchor="ctr" anchorCtr="1">
                <a:spAutoFit/>
              </a:bodyPr>
              <a:lstStyle/>
              <a:p>
                <a:pPr>
                  <a:defRPr lang="en-US" sz="900" b="0" i="0" u="none" strike="noStrike" kern="1200" baseline="0">
                    <a:solidFill>
                      <a:schemeClr val="tx1">
                        <a:lumMod val="75000"/>
                        <a:lumOff val="25000"/>
                      </a:schemeClr>
                    </a:solidFill>
                    <a:latin typeface="+mn-lt"/>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spPr>
                    <a:ln w="12700" cap="flat" cmpd="sng" algn="ctr">
                      <a:solidFill>
                        <a:schemeClr val="tx1"/>
                      </a:solidFill>
                      <a:prstDash val="solid"/>
                      <a:round/>
                    </a:ln>
                    <a:effectLst/>
                  </c:spPr>
                </c15:leaderLines>
              </c:ext>
            </c:extLst>
          </c:dLbls>
          <c:cat>
            <c:strRef>
              <c:f>'[Pivot table Case study Improving Sales performance at Superstore.xls]Que2'!$A$4:$A$7</c:f>
              <c:strCache>
                <c:ptCount val="3"/>
                <c:pt idx="0">
                  <c:v>Furniture</c:v>
                </c:pt>
                <c:pt idx="1">
                  <c:v>Office Supplies</c:v>
                </c:pt>
                <c:pt idx="2">
                  <c:v>Technology</c:v>
                </c:pt>
              </c:strCache>
            </c:strRef>
          </c:cat>
          <c:val>
            <c:numRef>
              <c:f>'[Pivot table Case study Improving Sales performance at Superstore.xls]Que2'!$B$4:$B$7</c:f>
              <c:numCache>
                <c:formatCode>General</c:formatCode>
                <c:ptCount val="3"/>
                <c:pt idx="0">
                  <c:v>-1742.0193</c:v>
                </c:pt>
                <c:pt idx="1">
                  <c:v>12470.7288</c:v>
                </c:pt>
                <c:pt idx="2">
                  <c:v>8017.4697</c:v>
                </c:pt>
              </c:numCache>
            </c:numRef>
          </c:val>
        </c:ser>
        <c:dLbls>
          <c:showLegendKey val="0"/>
          <c:showVal val="0"/>
          <c:showCatName val="0"/>
          <c:showSerName val="0"/>
          <c:showPercent val="0"/>
          <c:showBubbleSize val="0"/>
        </c:dLbls>
        <c:gapWidth val="164"/>
        <c:overlap val="-22"/>
        <c:axId val="503447773"/>
        <c:axId val="161641627"/>
      </c:barChart>
      <c:catAx>
        <c:axId val="503447773"/>
        <c:scaling>
          <c:orientation val="minMax"/>
        </c:scaling>
        <c:delete val="0"/>
        <c:axPos val="b"/>
        <c:majorTickMark val="none"/>
        <c:minorTickMark val="none"/>
        <c:tickLblPos val="nextTo"/>
        <c:spPr>
          <a:noFill/>
          <a:ln w="19050" cap="flat" cmpd="sng" algn="ctr">
            <a:solidFill>
              <a:schemeClr val="tx1">
                <a:lumMod val="25000"/>
                <a:lumOff val="75000"/>
              </a:schemeClr>
            </a:solidFill>
            <a:prstDash val="solid"/>
            <a:round/>
          </a:ln>
          <a:effectLst/>
        </c:spPr>
        <c:txPr>
          <a:bodyPr rot="-60000000" spcFirstLastPara="1" vertOverflow="ellipsis" vert="horz" wrap="square" anchor="ctr" anchorCtr="1"/>
          <a:lstStyle/>
          <a:p>
            <a:pPr>
              <a:defRPr lang="en-US" sz="900" b="0" i="0" u="none" strike="noStrike" kern="1200" baseline="0">
                <a:solidFill>
                  <a:schemeClr val="tx1">
                    <a:lumMod val="65000"/>
                    <a:lumOff val="35000"/>
                  </a:schemeClr>
                </a:solidFill>
                <a:latin typeface="+mn-lt"/>
                <a:ea typeface="+mn-ea"/>
                <a:cs typeface="+mn-cs"/>
              </a:defRPr>
            </a:pPr>
          </a:p>
        </c:txPr>
        <c:crossAx val="161641627"/>
        <c:crosses val="autoZero"/>
        <c:auto val="1"/>
        <c:lblAlgn val="ctr"/>
        <c:lblOffset val="100"/>
        <c:noMultiLvlLbl val="0"/>
      </c:catAx>
      <c:valAx>
        <c:axId val="161641627"/>
        <c:scaling>
          <c:orientation val="minMax"/>
        </c:scaling>
        <c:delete val="0"/>
        <c:axPos val="l"/>
        <c:majorGridlines>
          <c:spPr>
            <a:ln w="6350" cap="flat" cmpd="sng" algn="ctr">
              <a:solidFill>
                <a:schemeClr val="tx1">
                  <a:lumMod val="15000"/>
                  <a:lumOff val="85000"/>
                </a:schemeClr>
              </a:solidFill>
              <a:prstDash val="solid"/>
              <a:round/>
            </a:ln>
            <a:effectLst/>
          </c:spPr>
        </c:majorGridlines>
        <c:numFmt formatCode="General" sourceLinked="1"/>
        <c:majorTickMark val="none"/>
        <c:minorTickMark val="none"/>
        <c:tickLblPos val="nextTo"/>
        <c:spPr>
          <a:noFill/>
          <a:ln w="6350" cap="flat" cmpd="sng" algn="ctr">
            <a:noFill/>
            <a:prstDash val="solid"/>
            <a:round/>
          </a:ln>
          <a:effectLst/>
        </c:spPr>
        <c:txPr>
          <a:bodyPr rot="-60000000" spcFirstLastPara="1" vertOverflow="ellipsis" vert="horz" wrap="square" anchor="ctr" anchorCtr="1"/>
          <a:lstStyle/>
          <a:p>
            <a:pPr>
              <a:defRPr lang="en-US" sz="900" b="0" i="0" u="none" strike="noStrike" kern="1200" baseline="0">
                <a:solidFill>
                  <a:schemeClr val="tx1">
                    <a:lumMod val="65000"/>
                    <a:lumOff val="35000"/>
                  </a:schemeClr>
                </a:solidFill>
                <a:latin typeface="+mn-lt"/>
                <a:ea typeface="+mn-ea"/>
                <a:cs typeface="+mn-cs"/>
              </a:defRPr>
            </a:pPr>
          </a:p>
        </c:txPr>
        <c:crossAx val="503447773"/>
        <c:crosses val="autoZero"/>
        <c:crossBetween val="between"/>
      </c:valAx>
      <c:spPr>
        <a:noFill/>
        <a:ln>
          <a:noFill/>
        </a:ln>
        <a:effectLst/>
      </c:spPr>
    </c:plotArea>
    <c:legend>
      <c:legendPos val="r"/>
      <c:layout/>
      <c:overlay val="0"/>
      <c:spPr>
        <a:noFill/>
        <a:ln>
          <a:noFill/>
        </a:ln>
        <a:effectLst/>
      </c:spPr>
      <c:txPr>
        <a:bodyPr rot="0" spcFirstLastPara="1" vertOverflow="ellipsis" vert="horz" wrap="square" anchor="ctr" anchorCtr="1"/>
        <a:lstStyle/>
        <a:p>
          <a:pPr>
            <a:defRPr lang="en-US" sz="900" b="0" i="0" u="none" strike="noStrike" kern="1200" baseline="0">
              <a:solidFill>
                <a:schemeClr val="tx1">
                  <a:lumMod val="65000"/>
                  <a:lumOff val="35000"/>
                </a:schemeClr>
              </a:solidFill>
              <a:latin typeface="+mn-lt"/>
              <a:ea typeface="+mn-ea"/>
              <a:cs typeface="+mn-cs"/>
            </a:defRPr>
          </a:pPr>
        </a:p>
      </c:txPr>
    </c:legend>
    <c:plotVisOnly val="1"/>
    <c:dispBlanksAs val="gap"/>
    <c:showDLblsOverMax val="0"/>
    <c:extLst>
      <c:ext uri="{0b15fc19-7d7d-44ad-8c2d-2c3a37ce22c3}">
        <chartProps xmlns="https://web.wps.cn/et/2018/main" chartId="{496c57a7-1a74-4e34-956f-a4ee7a21ca2d}"/>
      </c:ext>
    </c:extLst>
  </c:chart>
  <c:spPr>
    <a:solidFill>
      <a:schemeClr val="bg1"/>
    </a:solidFill>
    <a:ln w="9525" cap="flat" cmpd="sng" algn="ctr">
      <a:solidFill>
        <a:schemeClr val="tx1">
          <a:lumMod val="15000"/>
          <a:lumOff val="85000"/>
        </a:schemeClr>
      </a:solidFill>
      <a:prstDash val="solid"/>
      <a:round/>
    </a:ln>
    <a:effectLst/>
  </c:spPr>
  <c:txPr>
    <a:bodyPr wrap="square"/>
    <a:lstStyle/>
    <a:p>
      <a:pPr>
        <a:defRPr lang="en-US"/>
      </a:pPr>
    </a:p>
  </c:txPr>
  <c:externalData r:id="rId1">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Lst>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withinLinear" id="15">
  <a:schemeClr val="accent2"/>
</cs:colorStyle>
</file>

<file path=ppt/charts/style1.xml><?xml version="1.0" encoding="utf-8"?>
<cs:chartStyle xmlns:cs="http://schemas.microsoft.com/office/drawing/2012/chartStyle" xmlns:a="http://schemas.openxmlformats.org/drawingml/2006/main" id="100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10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000" kern="1200"/>
    <cs:bodyPr rot="0" spcFirstLastPara="1" vertOverflow="clip" horzOverflow="clip" vert="horz" wrap="square" lIns="36576" tIns="18288" rIns="36576" bIns="18288" anchor="ctr" anchorCtr="1">
      <a:spAutoFit/>
    </cs:bodyPr>
  </cs:dataLabelCallout>
  <cs:dataPoint>
    <cs:lnRef idx="0">
      <cs:styleClr val="auto"/>
    </cs:lnRef>
    <cs:fillRef idx="1">
      <cs:styleClr val="auto"/>
    </cs:fillRef>
    <cs:effectRef idx="0"/>
    <cs:fontRef idx="minor">
      <a:schemeClr val="dk1"/>
    </cs:fontRef>
    <cs:spPr>
      <a:ln>
        <a:noFill/>
      </a:ln>
      <a:effectLst/>
    </cs:spPr>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lt1">
            <a:lumMod val="902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75000"/>
        <a:lumOff val="25000"/>
      </a:schemeClr>
    </cs:fontRef>
    <cs:defRPr sz="1400" b="1" kern="120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102">
  <cs:axisTitle>
    <cs:lnRef idx="0"/>
    <cs:fillRef idx="0"/>
    <cs:effectRef idx="0"/>
    <cs:fontRef idx="minor">
      <a:schemeClr val="tx1"/>
    </cs:fontRef>
    <cs:defRPr sz="1000" b="1" kern="1200"/>
  </cs:axisTitle>
  <cs:categoryAxis>
    <cs:lnRef idx="1">
      <a:schemeClr val="tx1">
        <a:tint val="75000"/>
      </a:schemeClr>
    </cs:lnRef>
    <cs:fillRef idx="0"/>
    <cs:effectRef idx="0"/>
    <cs:fontRef idx="minor">
      <a:schemeClr val="tx1"/>
    </cs:fontRef>
    <cs:spPr>
      <a:ln>
        <a:round/>
      </a:ln>
    </cs:spPr>
    <cs:defRPr sz="1000" kern="1200"/>
  </cs:categoryAxis>
  <cs:chartArea mods="allowNoFillOverride allowNoLineOverride">
    <cs:lnRef idx="1">
      <a:schemeClr val="tx1">
        <a:tint val="75000"/>
      </a:schemeClr>
    </cs:lnRef>
    <cs:fillRef idx="1">
      <a:schemeClr val="bg1"/>
    </cs:fillRef>
    <cs:effectRef idx="0"/>
    <cs:fontRef idx="minor">
      <a:schemeClr val="tx1"/>
    </cs:fontRef>
    <cs:spPr>
      <a:ln>
        <a:round/>
      </a:ln>
    </cs:spPr>
    <cs:defRPr sz="1000" kern="1200"/>
  </cs:chartArea>
  <cs:dataLabel>
    <cs:lnRef idx="0"/>
    <cs:fillRef idx="0"/>
    <cs:effectRef idx="0"/>
    <cs:fontRef idx="minor">
      <a:schemeClr val="tx1"/>
    </cs:fontRef>
    <cs:defRPr sz="1000" kern="1200"/>
  </cs:dataLabel>
  <cs:dataLabelCallout>
    <cs:lnRef idx="0"/>
    <cs:fillRef idx="0"/>
    <cs:effectRef idx="0"/>
    <cs:fontRef idx="minor">
      <a:schemeClr val="dk1"/>
    </cs:fontRef>
    <cs:spPr>
      <a:solidFill>
        <a:schemeClr val="lt1"/>
      </a:solidFill>
      <a:ln>
        <a:solidFill>
          <a:schemeClr val="dk1">
            <a:lumMod val="65000"/>
            <a:lumOff val="35000"/>
          </a:schemeClr>
        </a:solidFill>
      </a:ln>
    </cs:spPr>
    <cs:defRPr sz="1000" kern="1200"/>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1">
      <cs:styleClr val="auto"/>
    </cs:lnRef>
    <cs:lineWidthScale>3</cs:lineWidthScale>
    <cs:fillRef idx="0"/>
    <cs:effectRef idx="0"/>
    <cs:fontRef idx="minor">
      <a:schemeClr val="tx1"/>
    </cs:fontRef>
    <cs:spPr>
      <a:ln cap="rnd">
        <a:round/>
      </a:ln>
    </cs:spPr>
  </cs:dataPointLine>
  <cs:dataPointMarker>
    <cs:lnRef idx="1">
      <cs:styleClr val="auto"/>
    </cs:lnRef>
    <cs:fillRef idx="1">
      <cs:styleClr val="auto"/>
    </cs:fillRef>
    <cs:effectRef idx="0"/>
    <cs:fontRef idx="minor">
      <a:schemeClr val="tx1"/>
    </cs:fontRef>
    <cs:spPr>
      <a:ln>
        <a:round/>
      </a:ln>
    </cs:spPr>
  </cs:dataPointMarker>
  <cs:dataPointMarkerLayout/>
  <cs:dataPointWireframe>
    <cs:lnRef idx="1">
      <cs:styleClr val="auto"/>
    </cs:lnRef>
    <cs:fillRef idx="0"/>
    <cs:effectRef idx="0"/>
    <cs:fontRef idx="minor">
      <a:schemeClr val="tx1"/>
    </cs:fontRef>
    <cs:spPr>
      <a:ln>
        <a:round/>
      </a:ln>
    </cs:spPr>
  </cs:dataPointWireframe>
  <cs:dataTable>
    <cs:lnRef idx="1">
      <a:schemeClr val="tx1">
        <a:tint val="75000"/>
      </a:schemeClr>
    </cs:lnRef>
    <cs:fillRef idx="0"/>
    <cs:effectRef idx="0"/>
    <cs:fontRef idx="minor">
      <a:schemeClr val="tx1"/>
    </cs:fontRef>
    <cs:spPr>
      <a:ln>
        <a:round/>
      </a:ln>
    </cs:spPr>
    <cs:defRPr sz="1000" kern="1200"/>
  </cs:dataTable>
  <cs:downBar>
    <cs:lnRef idx="1">
      <a:schemeClr val="tx1"/>
    </cs:lnRef>
    <cs:fillRef idx="1">
      <a:schemeClr val="dk1">
        <a:tint val="95000"/>
      </a:schemeClr>
    </cs:fillRef>
    <cs:effectRef idx="0"/>
    <cs:fontRef idx="minor">
      <a:schemeClr val="tx1"/>
    </cs:fontRef>
    <cs:spPr>
      <a:ln>
        <a:round/>
      </a:ln>
    </cs:spPr>
  </cs:downBar>
  <cs:dropLine>
    <cs:lnRef idx="1">
      <a:schemeClr val="tx1"/>
    </cs:lnRef>
    <cs:fillRef idx="0"/>
    <cs:effectRef idx="0"/>
    <cs:fontRef idx="minor">
      <a:schemeClr val="tx1"/>
    </cs:fontRef>
    <cs:spPr>
      <a:ln>
        <a:round/>
      </a:ln>
    </cs:spPr>
  </cs:dropLine>
  <cs:errorBar>
    <cs:lnRef idx="1">
      <a:schemeClr val="tx1"/>
    </cs:lnRef>
    <cs:fillRef idx="1">
      <a:schemeClr val="tx1"/>
    </cs:fillRef>
    <cs:effectRef idx="0"/>
    <cs:fontRef idx="minor">
      <a:schemeClr val="tx1"/>
    </cs:fontRef>
    <cs:spPr>
      <a:ln>
        <a:round/>
      </a:ln>
    </cs:spPr>
  </cs:errorBar>
  <cs:floor>
    <cs:lnRef idx="1">
      <a:schemeClr val="tx1">
        <a:tint val="75000"/>
      </a:schemeClr>
    </cs:lnRef>
    <cs:fillRef idx="0"/>
    <cs:effectRef idx="0"/>
    <cs:fontRef idx="minor">
      <a:schemeClr val="tx1"/>
    </cs:fontRef>
    <cs:spPr>
      <a:ln>
        <a:round/>
      </a:ln>
    </cs:spPr>
  </cs:floor>
  <cs:gridlineMajor>
    <cs:lnRef idx="1">
      <a:schemeClr val="tx1">
        <a:tint val="75000"/>
      </a:schemeClr>
    </cs:lnRef>
    <cs:fillRef idx="0"/>
    <cs:effectRef idx="0"/>
    <cs:fontRef idx="minor">
      <a:schemeClr val="tx1"/>
    </cs:fontRef>
    <cs:spPr>
      <a:ln>
        <a:round/>
      </a:ln>
    </cs:spPr>
  </cs:gridlineMajor>
  <cs:gridlineMinor>
    <cs:lnRef idx="1">
      <a:schemeClr val="tx1">
        <a:tint val="50000"/>
      </a:schemeClr>
    </cs:lnRef>
    <cs:fillRef idx="0"/>
    <cs:effectRef idx="0"/>
    <cs:fontRef idx="minor">
      <a:schemeClr val="tx1"/>
    </cs:fontRef>
    <cs:spPr>
      <a:ln>
        <a:round/>
      </a:ln>
    </cs:spPr>
  </cs:gridlineMinor>
  <cs:hiLoLine>
    <cs:lnRef idx="1">
      <a:schemeClr val="tx1"/>
    </cs:lnRef>
    <cs:fillRef idx="0"/>
    <cs:effectRef idx="0"/>
    <cs:fontRef idx="minor">
      <a:schemeClr val="tx1"/>
    </cs:fontRef>
    <cs:spPr>
      <a:ln>
        <a:round/>
      </a:ln>
    </cs:spPr>
  </cs:hiLoLine>
  <cs:leaderLine>
    <cs:lnRef idx="1">
      <a:schemeClr val="tx1"/>
    </cs:lnRef>
    <cs:fillRef idx="0"/>
    <cs:effectRef idx="0"/>
    <cs:fontRef idx="minor">
      <a:schemeClr val="tx1"/>
    </cs:fontRef>
    <cs:spPr>
      <a:ln>
        <a:round/>
      </a:ln>
    </cs:spPr>
  </cs:leaderLine>
  <cs:legend>
    <cs:lnRef idx="0"/>
    <cs:fillRef idx="0"/>
    <cs:effectRef idx="0"/>
    <cs:fontRef idx="minor">
      <a:schemeClr val="tx1"/>
    </cs:fontRef>
    <cs:defRPr sz="1000" kern="1200"/>
  </cs:legend>
  <cs:plotArea mods="allowNoFillOverride allowNoLineOverride">
    <cs:lnRef idx="0"/>
    <cs:fillRef idx="1">
      <a:schemeClr val="bg1"/>
    </cs:fillRef>
    <cs:effectRef idx="0"/>
    <cs:fontRef idx="minor">
      <a:schemeClr val="tx1"/>
    </cs:fontRef>
  </cs:plotArea>
  <cs:plotArea3D>
    <cs:lnRef idx="0"/>
    <cs:fillRef idx="0"/>
    <cs:effectRef idx="0"/>
    <cs:fontRef idx="minor">
      <a:schemeClr val="tx1"/>
    </cs:fontRef>
  </cs:plotArea3D>
  <cs:seriesAxis>
    <cs:lnRef idx="1">
      <a:schemeClr val="tx1">
        <a:tint val="75000"/>
      </a:schemeClr>
    </cs:lnRef>
    <cs:fillRef idx="0"/>
    <cs:effectRef idx="0"/>
    <cs:fontRef idx="minor">
      <a:schemeClr val="tx1"/>
    </cs:fontRef>
    <cs:spPr>
      <a:ln>
        <a:round/>
      </a:ln>
    </cs:spPr>
    <cs:defRPr sz="1000" kern="1200"/>
  </cs:seriesAxis>
  <cs:seriesLine>
    <cs:lnRef idx="1">
      <a:schemeClr val="tx1"/>
    </cs:lnRef>
    <cs:fillRef idx="0"/>
    <cs:effectRef idx="0"/>
    <cs:fontRef idx="minor">
      <a:schemeClr val="tx1"/>
    </cs:fontRef>
    <cs:spPr>
      <a:ln>
        <a:round/>
      </a:ln>
    </cs:spPr>
  </cs:seriesLine>
  <cs:title>
    <cs:lnRef idx="0"/>
    <cs:fillRef idx="0"/>
    <cs:effectRef idx="0"/>
    <cs:fontRef idx="minor">
      <a:schemeClr val="tx1"/>
    </cs:fontRef>
    <cs:defRPr sz="1800" b="1" kern="1200"/>
  </cs:title>
  <cs:trendline>
    <cs:lnRef idx="1">
      <a:schemeClr val="tx1"/>
    </cs:lnRef>
    <cs:fillRef idx="0"/>
    <cs:effectRef idx="0"/>
    <cs:fontRef idx="minor">
      <a:schemeClr val="tx1"/>
    </cs:fontRef>
    <cs:spPr>
      <a:ln cap="rnd">
        <a:round/>
      </a:ln>
    </cs:spPr>
  </cs:trendline>
  <cs:trendlineLabel>
    <cs:lnRef idx="0"/>
    <cs:fillRef idx="0"/>
    <cs:effectRef idx="0"/>
    <cs:fontRef idx="minor">
      <a:schemeClr val="tx1"/>
    </cs:fontRef>
    <cs:defRPr sz="1000" kern="1200"/>
  </cs:trendlineLabel>
  <cs:upBar>
    <cs:lnRef idx="1">
      <a:schemeClr val="tx1"/>
    </cs:lnRef>
    <cs:fillRef idx="1">
      <a:schemeClr val="dk1">
        <a:tint val="5000"/>
      </a:schemeClr>
    </cs:fillRef>
    <cs:effectRef idx="0"/>
    <cs:fontRef idx="minor">
      <a:schemeClr val="tx1"/>
    </cs:fontRef>
    <cs:spPr>
      <a:ln>
        <a:round/>
      </a:ln>
    </cs:spPr>
  </cs:upBar>
  <cs:valueAxis>
    <cs:lnRef idx="1">
      <a:schemeClr val="tx1">
        <a:tint val="75000"/>
      </a:schemeClr>
    </cs:lnRef>
    <cs:fillRef idx="0"/>
    <cs:effectRef idx="0"/>
    <cs:fontRef idx="minor">
      <a:schemeClr val="tx1"/>
    </cs:fontRef>
    <cs:spPr>
      <a:ln>
        <a:round/>
      </a:ln>
    </cs:spPr>
    <cs:defRPr sz="1000" kern="1200"/>
  </cs:valueAxis>
  <cs:wall>
    <cs:lnRef idx="0"/>
    <cs:fillRef idx="0"/>
    <cs:effectRef idx="0"/>
    <cs:fontRef idx="minor">
      <a:schemeClr val="tx1"/>
    </cs:fontRef>
  </cs:wall>
</cs:chartStyl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spTree>
      <p:nvGrpSpPr>
        <p:cNvPr id="1" name=""/>
        <p:cNvGrpSpPr/>
        <p:nvPr/>
      </p:nvGrpSpPr>
      <p:grpSpPr>
        <a:xfrm>
          <a:off x="0" y="0"/>
          <a:ext cx="0" cy="0"/>
          <a:chOff x="0" y="0"/>
          <a:chExt cx="0" cy="0"/>
        </a:xfrm>
      </p:grpSpPr>
      <p:sp>
        <p:nvSpPr>
          <p:cNvPr id="10" name="Rectangle 9"/>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90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645152"/>
            <a:ext cx="10058400" cy="1143000"/>
          </a:xfrm>
        </p:spPr>
        <p:txBody>
          <a:bodyPr lIns="91440" rIns="91440">
            <a:normAutofit/>
          </a:bodyPr>
          <a:lstStyle>
            <a:lvl1pPr marL="0" indent="0" algn="l">
              <a:buNone/>
              <a:defRPr sz="2400" cap="all" spc="200" baseline="0">
                <a:solidFill>
                  <a:schemeClr val="tx1"/>
                </a:solidFill>
                <a:latin typeface="+mn-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cxnSp>
        <p:nvCxnSpPr>
          <p:cNvPr id="9" name="Straight Connector 8"/>
          <p:cNvCxnSpPr/>
          <p:nvPr/>
        </p:nvCxnSpPr>
        <p:spPr>
          <a:xfrm>
            <a:off x="1207658" y="4474741"/>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 name="Date Placeholder 3"/>
          <p:cNvSpPr>
            <a:spLocks noGrp="1"/>
          </p:cNvSpPr>
          <p:nvPr>
            <p:ph type="dt" sz="half" idx="10"/>
          </p:nvPr>
        </p:nvSpPr>
        <p:spPr/>
        <p:txBody>
          <a:bodyPr/>
          <a:lstStyle/>
          <a:p>
            <a:fld id="{9184DA70-C731-4C70-880D-CCD4705E623C}" type="datetime1">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7" name="Date Placeholder 6"/>
          <p:cNvSpPr>
            <a:spLocks noGrp="1"/>
          </p:cNvSpPr>
          <p:nvPr>
            <p:ph type="dt" sz="half" idx="10"/>
          </p:nvPr>
        </p:nvSpPr>
        <p:spPr/>
        <p:txBody>
          <a:bodyPr/>
          <a:lstStyle/>
          <a:p>
            <a:fld id="{4BE1D723-8F53-4F53-90B0-1982A396982E}" type="datetime1">
              <a:rPr lang="en-US" smtClean="0"/>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showMasterSp="0">
  <p:cSld name="Section Header">
    <p:bg>
      <p:bgPr>
        <a:solidFill>
          <a:schemeClr val="bg1"/>
        </a:solidFill>
        <a:effectLst/>
      </p:bgPr>
    </p:bg>
    <p:spTree>
      <p:nvGrpSpPr>
        <p:cNvPr id="1" name=""/>
        <p:cNvGrpSpPr/>
        <p:nvPr/>
      </p:nvGrpSpPr>
      <p:grpSpPr>
        <a:xfrm>
          <a:off x="0" y="0"/>
          <a:ext cx="0" cy="0"/>
          <a:chOff x="0" y="0"/>
          <a:chExt cx="0" cy="0"/>
        </a:xfrm>
      </p:grpSpPr>
      <p:sp>
        <p:nvSpPr>
          <p:cNvPr id="10" name="Rectangle 9"/>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90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663440"/>
            <a:ext cx="10058400" cy="1143000"/>
          </a:xfrm>
        </p:spPr>
        <p:txBody>
          <a:bodyPr lIns="91440" rIns="91440" anchor="t" anchorCtr="0">
            <a:normAutofit/>
          </a:bodyPr>
          <a:lstStyle>
            <a:lvl1pPr marL="0" indent="0">
              <a:buNone/>
              <a:defRPr sz="2400" cap="all" spc="200" baseline="0">
                <a:solidFill>
                  <a:schemeClr val="tx1"/>
                </a:solidFill>
                <a:latin typeface="+mn-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cxnSp>
        <p:nvCxnSpPr>
          <p:cNvPr id="9" name="Straight Connector 8"/>
          <p:cNvCxnSpPr/>
          <p:nvPr/>
        </p:nvCxnSpPr>
        <p:spPr>
          <a:xfrm>
            <a:off x="1207658" y="4485132"/>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7" name="Date Placeholder 6"/>
          <p:cNvSpPr>
            <a:spLocks noGrp="1"/>
          </p:cNvSpPr>
          <p:nvPr>
            <p:ph type="dt" sz="half" idx="10"/>
          </p:nvPr>
        </p:nvSpPr>
        <p:spPr/>
        <p:txBody>
          <a:bodyPr/>
          <a:lstStyle/>
          <a:p>
            <a:fld id="{97669AF7-7BEB-44E4-9852-375E34362B5B}" type="datetime1">
              <a:rPr lang="en-US" smtClean="0"/>
            </a:fld>
            <a:endParaRPr lang="en-US" dirty="0"/>
          </a:p>
        </p:txBody>
      </p:sp>
      <p:sp>
        <p:nvSpPr>
          <p:cNvPr id="8" name="Footer Placeholder 7"/>
          <p:cNvSpPr>
            <a:spLocks noGrp="1"/>
          </p:cNvSpPr>
          <p:nvPr>
            <p:ph type="ftr" sz="quarter" idx="11"/>
          </p:nvPr>
        </p:nvSpPr>
        <p:spPr/>
        <p:txBody>
          <a:bodyPr/>
          <a:lstStyle/>
          <a:p>
            <a:endParaRPr lang="en-US" dirty="0"/>
          </a:p>
        </p:txBody>
      </p:sp>
      <p:sp>
        <p:nvSpPr>
          <p:cNvPr id="11" name="Slide Number Placeholder 10"/>
          <p:cNvSpPr>
            <a:spLocks noGrp="1"/>
          </p:cNvSpPr>
          <p:nvPr>
            <p:ph type="sldNum" sz="quarter" idx="12"/>
          </p:nvPr>
        </p:nvSpPr>
        <p:spPr/>
        <p:txBody>
          <a:bodyPr/>
          <a:lstStyle/>
          <a:p>
            <a:fld id="{3A98EE3D-8CD1-4C3F-BD1C-C98C9596463C}" type="slidenum">
              <a:rPr lang="en-US" smtClean="0"/>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80" y="2120900"/>
            <a:ext cx="4639736" cy="3748193"/>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Content Placeholder 3"/>
          <p:cNvSpPr>
            <a:spLocks noGrp="1"/>
          </p:cNvSpPr>
          <p:nvPr>
            <p:ph sz="half" idx="2"/>
          </p:nvPr>
        </p:nvSpPr>
        <p:spPr>
          <a:xfrm>
            <a:off x="6515944" y="2120900"/>
            <a:ext cx="4639736" cy="3748194"/>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2" name="Date Placeholder 1"/>
          <p:cNvSpPr>
            <a:spLocks noGrp="1"/>
          </p:cNvSpPr>
          <p:nvPr>
            <p:ph type="dt" sz="half" idx="10"/>
          </p:nvPr>
        </p:nvSpPr>
        <p:spPr/>
        <p:txBody>
          <a:bodyPr/>
          <a:lstStyle/>
          <a:p>
            <a:fld id="{BAAAC38D-0552-4C82-B593-E6124DFADBE2}" type="datetime1">
              <a:rPr lang="en-US" smtClean="0"/>
            </a:fld>
            <a:endParaRPr lang="en-US" dirty="0"/>
          </a:p>
        </p:txBody>
      </p:sp>
      <p:sp>
        <p:nvSpPr>
          <p:cNvPr id="9" name="Footer Placeholder 8"/>
          <p:cNvSpPr>
            <a:spLocks noGrp="1"/>
          </p:cNvSpPr>
          <p:nvPr>
            <p:ph type="ftr" sz="quarter" idx="11"/>
          </p:nvPr>
        </p:nvSpPr>
        <p:spPr/>
        <p:txBody>
          <a:bodyPr/>
          <a:lstStyle/>
          <a:p>
            <a:endParaRPr lang="en-US" dirty="0"/>
          </a:p>
        </p:txBody>
      </p:sp>
      <p:sp>
        <p:nvSpPr>
          <p:cNvPr id="10" name="Slide Number Placeholder 9"/>
          <p:cNvSpPr>
            <a:spLocks noGrp="1"/>
          </p:cNvSpPr>
          <p:nvPr>
            <p:ph type="sldNum" sz="quarter" idx="12"/>
          </p:nvPr>
        </p:nvSpPr>
        <p:spPr/>
        <p:txBody>
          <a:bodyPr/>
          <a:lstStyle/>
          <a:p>
            <a:fld id="{3A98EE3D-8CD1-4C3F-BD1C-C98C9596463C}" type="slidenum">
              <a:rPr lang="en-US" smtClean="0"/>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1097280" y="2958274"/>
            <a:ext cx="4639736" cy="2910821"/>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Text Placeholder 4"/>
          <p:cNvSpPr>
            <a:spLocks noGrp="1"/>
          </p:cNvSpPr>
          <p:nvPr>
            <p:ph type="body" sz="quarter" idx="3"/>
          </p:nvPr>
        </p:nvSpPr>
        <p:spPr>
          <a:xfrm>
            <a:off x="6515944"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515944" y="2958273"/>
            <a:ext cx="4639736" cy="2910821"/>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2" name="Date Placeholder 1"/>
          <p:cNvSpPr>
            <a:spLocks noGrp="1"/>
          </p:cNvSpPr>
          <p:nvPr>
            <p:ph type="dt" sz="half" idx="10"/>
          </p:nvPr>
        </p:nvSpPr>
        <p:spPr/>
        <p:txBody>
          <a:bodyPr/>
          <a:lstStyle/>
          <a:p>
            <a:fld id="{D9DF0F1C-5577-4ACB-BB62-DF8F3C494C7E}" type="datetime1">
              <a:rPr lang="en-US" smtClean="0"/>
            </a:fld>
            <a:endParaRPr lang="en-US" dirty="0"/>
          </a:p>
        </p:txBody>
      </p:sp>
      <p:sp>
        <p:nvSpPr>
          <p:cNvPr id="11" name="Footer Placeholder 10"/>
          <p:cNvSpPr>
            <a:spLocks noGrp="1"/>
          </p:cNvSpPr>
          <p:nvPr>
            <p:ph type="ftr" sz="quarter" idx="11"/>
          </p:nvPr>
        </p:nvSpPr>
        <p:spPr/>
        <p:txBody>
          <a:bodyPr/>
          <a:lstStyle/>
          <a:p>
            <a:endParaRPr lang="en-US" dirty="0"/>
          </a:p>
        </p:txBody>
      </p:sp>
      <p:sp>
        <p:nvSpPr>
          <p:cNvPr id="12" name="Slide Number Placeholder 11"/>
          <p:cNvSpPr>
            <a:spLocks noGrp="1"/>
          </p:cNvSpPr>
          <p:nvPr>
            <p:ph type="sldNum" sz="quarter" idx="12"/>
          </p:nvPr>
        </p:nvSpPr>
        <p:spPr/>
        <p:txBody>
          <a:bodyPr/>
          <a:lstStyle/>
          <a:p>
            <a:fld id="{3A98EE3D-8CD1-4C3F-BD1C-C98C9596463C}" type="slidenum">
              <a:rPr lang="en-US" smtClean="0"/>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Date Placeholder 5"/>
          <p:cNvSpPr>
            <a:spLocks noGrp="1"/>
          </p:cNvSpPr>
          <p:nvPr>
            <p:ph type="dt" sz="half" idx="10"/>
          </p:nvPr>
        </p:nvSpPr>
        <p:spPr/>
        <p:txBody>
          <a:bodyPr/>
          <a:lstStyle/>
          <a:p>
            <a:fld id="{1775B394-D9F9-4F0C-B15D-605F45CB9E9F}" type="datetime1">
              <a:rPr lang="en-US" smtClean="0"/>
            </a:fld>
            <a:endParaRPr lang="en-US" dirty="0"/>
          </a:p>
        </p:txBody>
      </p:sp>
      <p:sp>
        <p:nvSpPr>
          <p:cNvPr id="7" name="Footer Placeholder 6"/>
          <p:cNvSpPr>
            <a:spLocks noGrp="1"/>
          </p:cNvSpPr>
          <p:nvPr>
            <p:ph type="ftr" sz="quarter" idx="11"/>
          </p:nvPr>
        </p:nvSpPr>
        <p:spPr/>
        <p:txBody>
          <a:bodyPr/>
          <a:lstStyle/>
          <a:p>
            <a:endParaRPr lang="en-US" dirty="0"/>
          </a:p>
        </p:txBody>
      </p:sp>
      <p:sp>
        <p:nvSpPr>
          <p:cNvPr id="8" name="Slide Number Placeholder 7"/>
          <p:cNvSpPr>
            <a:spLocks noGrp="1"/>
          </p:cNvSpPr>
          <p:nvPr>
            <p:ph type="sldNum" sz="quarter" idx="12"/>
          </p:nvPr>
        </p:nvSpPr>
        <p:spPr/>
        <p:txBody>
          <a:bodyPr/>
          <a:lstStyle/>
          <a:p>
            <a:fld id="{3A98EE3D-8CD1-4C3F-BD1C-C98C9596463C}" type="slidenum">
              <a:rPr lang="en-US" smtClean="0"/>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showMasterSp="0">
  <p:cSld name="Blank">
    <p:spTree>
      <p:nvGrpSpPr>
        <p:cNvPr id="1" name=""/>
        <p:cNvGrpSpPr/>
        <p:nvPr/>
      </p:nvGrpSpPr>
      <p:grpSpPr>
        <a:xfrm>
          <a:off x="0" y="0"/>
          <a:ext cx="0" cy="0"/>
          <a:chOff x="0" y="0"/>
          <a:chExt cx="0" cy="0"/>
        </a:xfrm>
      </p:grpSpPr>
      <p:sp>
        <p:nvSpPr>
          <p:cNvPr id="10" name="Rectangle 9"/>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p:cNvSpPr>
            <a:spLocks noGrp="1"/>
          </p:cNvSpPr>
          <p:nvPr>
            <p:ph type="dt" sz="half" idx="10"/>
          </p:nvPr>
        </p:nvSpPr>
        <p:spPr/>
        <p:txBody>
          <a:bodyPr/>
          <a:lstStyle/>
          <a:p>
            <a:fld id="{39667345-2558-425A-8533-9BFDBCE15005}" type="datetime1">
              <a:rPr lang="en-US" smtClean="0"/>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showMasterSp="0">
  <p:cSld name="Content with Caption">
    <p:spTree>
      <p:nvGrpSpPr>
        <p:cNvPr id="1" name=""/>
        <p:cNvGrpSpPr/>
        <p:nvPr/>
      </p:nvGrpSpPr>
      <p:grpSpPr>
        <a:xfrm>
          <a:off x="0" y="0"/>
          <a:ext cx="0" cy="0"/>
          <a:chOff x="0" y="0"/>
          <a:chExt cx="0" cy="0"/>
        </a:xfrm>
      </p:grpSpPr>
      <p:sp>
        <p:nvSpPr>
          <p:cNvPr id="8" name="Rectangle 7"/>
          <p:cNvSpPr/>
          <p:nvPr/>
        </p:nvSpPr>
        <p:spPr>
          <a:xfrm>
            <a:off x="16" y="0"/>
            <a:ext cx="4654296" cy="6858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43466" y="786383"/>
            <a:ext cx="3517567" cy="2093975"/>
          </a:xfrm>
        </p:spPr>
        <p:txBody>
          <a:bodyPr anchor="b">
            <a:normAutofit/>
          </a:bodyPr>
          <a:lstStyle>
            <a:lvl1pPr>
              <a:lnSpc>
                <a:spcPct val="90000"/>
              </a:lnSpc>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5458984" y="812799"/>
            <a:ext cx="5928344" cy="5294757"/>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Text Placeholder 3"/>
          <p:cNvSpPr>
            <a:spLocks noGrp="1"/>
          </p:cNvSpPr>
          <p:nvPr>
            <p:ph type="body" sz="half" idx="2"/>
          </p:nvPr>
        </p:nvSpPr>
        <p:spPr>
          <a:xfrm>
            <a:off x="643465" y="3043050"/>
            <a:ext cx="3517567" cy="3064505"/>
          </a:xfrm>
        </p:spPr>
        <p:txBody>
          <a:bodyPr lIns="91440" rIns="91440">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a:xfrm>
            <a:off x="643464" y="6446520"/>
            <a:ext cx="3517568" cy="365125"/>
          </a:xfrm>
        </p:spPr>
        <p:txBody>
          <a:bodyPr/>
          <a:lstStyle>
            <a:lvl1pPr algn="l">
              <a:defRPr/>
            </a:lvl1pPr>
          </a:lstStyle>
          <a:p>
            <a:fld id="{92BEA474-078D-4E9B-9B14-09A87B19DC46}" type="datetime1">
              <a:rPr lang="en-US" smtClean="0"/>
            </a:fld>
            <a:endParaRPr lang="en-US" dirty="0"/>
          </a:p>
        </p:txBody>
      </p:sp>
      <p:sp>
        <p:nvSpPr>
          <p:cNvPr id="6" name="Footer Placeholder 5"/>
          <p:cNvSpPr>
            <a:spLocks noGrp="1"/>
          </p:cNvSpPr>
          <p:nvPr>
            <p:ph type="ftr" sz="quarter" idx="11"/>
          </p:nvPr>
        </p:nvSpPr>
        <p:spPr>
          <a:xfrm>
            <a:off x="5458983" y="6446520"/>
            <a:ext cx="5334019"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3A98EE3D-8CD1-4C3F-BD1C-C98C9596463C}" type="slidenum">
              <a:rPr lang="en-US" smtClean="0"/>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showMasterSp="0">
  <p:cSld name="Picture with Caption">
    <p:spTree>
      <p:nvGrpSpPr>
        <p:cNvPr id="1" name=""/>
        <p:cNvGrpSpPr/>
        <p:nvPr/>
      </p:nvGrpSpPr>
      <p:grpSpPr>
        <a:xfrm>
          <a:off x="0" y="0"/>
          <a:ext cx="0" cy="0"/>
          <a:chOff x="0" y="0"/>
          <a:chExt cx="0" cy="0"/>
        </a:xfrm>
      </p:grpSpPr>
      <p:sp>
        <p:nvSpPr>
          <p:cNvPr id="8" name="Rectangle 7"/>
          <p:cNvSpPr/>
          <p:nvPr/>
        </p:nvSpPr>
        <p:spPr>
          <a:xfrm>
            <a:off x="0" y="4578350"/>
            <a:ext cx="12188825" cy="227965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15" y="0"/>
            <a:ext cx="12191985" cy="4578350"/>
          </a:xfrm>
          <a:solidFill>
            <a:schemeClr val="bg1">
              <a:lumMod val="85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2" name="Title 1"/>
          <p:cNvSpPr>
            <a:spLocks noGrp="1"/>
          </p:cNvSpPr>
          <p:nvPr>
            <p:ph type="title"/>
          </p:nvPr>
        </p:nvSpPr>
        <p:spPr>
          <a:xfrm>
            <a:off x="1097279" y="4799362"/>
            <a:ext cx="10113645" cy="743682"/>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4" name="Text Placeholder 3"/>
          <p:cNvSpPr>
            <a:spLocks noGrp="1"/>
          </p:cNvSpPr>
          <p:nvPr>
            <p:ph type="body" sz="half" idx="2"/>
          </p:nvPr>
        </p:nvSpPr>
        <p:spPr>
          <a:xfrm>
            <a:off x="1097279" y="5715000"/>
            <a:ext cx="10113264" cy="609600"/>
          </a:xfrm>
        </p:spPr>
        <p:txBody>
          <a:bodyPr lIns="91440" tIns="0" rIns="91440" bIns="0">
            <a:normAutofit/>
          </a:bodyPr>
          <a:lstStyle>
            <a:lvl1pPr marL="0" indent="0">
              <a:spcBef>
                <a:spcPts val="0"/>
              </a:spcBef>
              <a:spcAft>
                <a:spcPts val="600"/>
              </a:spcAft>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lvl1pPr>
              <a:defRPr/>
            </a:lvl1pPr>
          </a:lstStyle>
          <a:p>
            <a:fld id="{4907D986-8816-4272-A432-0437A28A9828}" type="datetime1">
              <a:rPr lang="en-US" smtClean="0"/>
            </a:fld>
            <a:endParaRPr lang="en-US" dirty="0"/>
          </a:p>
        </p:txBody>
      </p:sp>
      <p:sp>
        <p:nvSpPr>
          <p:cNvPr id="6" name="Footer Placeholder 5"/>
          <p:cNvSpPr>
            <a:spLocks noGrp="1"/>
          </p:cNvSpPr>
          <p:nvPr>
            <p:ph type="ftr" sz="quarter" idx="11"/>
          </p:nvPr>
        </p:nvSpPr>
        <p:spPr>
          <a:xfrm>
            <a:off x="1097279" y="6446838"/>
            <a:ext cx="6818262" cy="365125"/>
          </a:xfrm>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7" name="Date Placeholder 6"/>
          <p:cNvSpPr>
            <a:spLocks noGrp="1"/>
          </p:cNvSpPr>
          <p:nvPr>
            <p:ph type="dt" sz="half" idx="10"/>
          </p:nvPr>
        </p:nvSpPr>
        <p:spPr/>
        <p:txBody>
          <a:bodyPr/>
          <a:lstStyle/>
          <a:p>
            <a:fld id="{B612A279-0833-481D-8C56-F67FD0AC6C50}" type="datetime1">
              <a:rPr lang="en-US" smtClean="0"/>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showMasterSp="0">
  <p:cSld name="Vertical Title and Text">
    <p:spTree>
      <p:nvGrpSpPr>
        <p:cNvPr id="1" name=""/>
        <p:cNvGrpSpPr/>
        <p:nvPr/>
      </p:nvGrpSpPr>
      <p:grpSpPr>
        <a:xfrm>
          <a:off x="0" y="0"/>
          <a:ext cx="0" cy="0"/>
          <a:chOff x="0" y="0"/>
          <a:chExt cx="0" cy="0"/>
        </a:xfrm>
      </p:grpSpPr>
      <p:sp>
        <p:nvSpPr>
          <p:cNvPr id="9" name="Rectangle 8"/>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7" name="Date Placeholder 6"/>
          <p:cNvSpPr>
            <a:spLocks noGrp="1"/>
          </p:cNvSpPr>
          <p:nvPr>
            <p:ph type="dt" sz="half" idx="10"/>
          </p:nvPr>
        </p:nvSpPr>
        <p:spPr/>
        <p:txBody>
          <a:bodyPr/>
          <a:lstStyle/>
          <a:p>
            <a:fld id="{6587DA83-5663-4C9C-B9AA-0B40A3DAFF81}" type="datetime1">
              <a:rPr lang="en-US" smtClean="0"/>
            </a:fld>
            <a:endParaRPr lang="en-US" dirty="0"/>
          </a:p>
        </p:txBody>
      </p:sp>
      <p:sp>
        <p:nvSpPr>
          <p:cNvPr id="8" name="Footer Placeholder 7"/>
          <p:cNvSpPr>
            <a:spLocks noGrp="1"/>
          </p:cNvSpPr>
          <p:nvPr>
            <p:ph type="ftr" sz="quarter" idx="11"/>
          </p:nvPr>
        </p:nvSpPr>
        <p:spPr/>
        <p:txBody>
          <a:bodyPr/>
          <a:lstStyle/>
          <a:p>
            <a:endParaRPr lang="en-US" dirty="0"/>
          </a:p>
        </p:txBody>
      </p:sp>
      <p:sp>
        <p:nvSpPr>
          <p:cNvPr id="10" name="Slide Number Placeholder 9"/>
          <p:cNvSpPr>
            <a:spLocks noGrp="1"/>
          </p:cNvSpPr>
          <p:nvPr>
            <p:ph type="sldNum" sz="quarter" idx="12"/>
          </p:nvPr>
        </p:nvSpPr>
        <p:spPr/>
        <p:txBody>
          <a:bodyPr/>
          <a:lstStyle/>
          <a:p>
            <a:fld id="{3A98EE3D-8CD1-4C3F-BD1C-C98C9596463C}" type="slidenum">
              <a:rPr lang="en-US" smtClean="0"/>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2108201"/>
            <a:ext cx="10058400" cy="3760891"/>
          </a:xfrm>
          <a:prstGeom prst="rect">
            <a:avLst/>
          </a:prstGeom>
        </p:spPr>
        <p:txBody>
          <a:bodyPr vert="horz" lIns="0" tIns="45720" rIns="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2"/>
          </p:nvPr>
        </p:nvSpPr>
        <p:spPr>
          <a:xfrm>
            <a:off x="8218426" y="6446838"/>
            <a:ext cx="2584850" cy="365125"/>
          </a:xfrm>
          <a:prstGeom prst="rect">
            <a:avLst/>
          </a:prstGeom>
        </p:spPr>
        <p:txBody>
          <a:bodyPr vert="horz" lIns="91440" tIns="45720" rIns="91440" bIns="45720" rtlCol="0" anchor="ctr"/>
          <a:lstStyle>
            <a:lvl1pPr algn="r">
              <a:defRPr sz="800">
                <a:solidFill>
                  <a:srgbClr val="FFFFFF"/>
                </a:solidFill>
              </a:defRPr>
            </a:lvl1pPr>
          </a:lstStyle>
          <a:p>
            <a:fld id="{62D6E202-B606-4609-B914-27C9371A1F6D}" type="datetime1">
              <a:rPr lang="en-US" smtClean="0"/>
            </a:fld>
            <a:endParaRPr lang="en-US" dirty="0"/>
          </a:p>
        </p:txBody>
      </p:sp>
      <p:sp>
        <p:nvSpPr>
          <p:cNvPr id="5" name="Footer Placeholder 4"/>
          <p:cNvSpPr>
            <a:spLocks noGrp="1"/>
          </p:cNvSpPr>
          <p:nvPr>
            <p:ph type="ftr" sz="quarter" idx="3"/>
          </p:nvPr>
        </p:nvSpPr>
        <p:spPr>
          <a:xfrm>
            <a:off x="1097279" y="6446838"/>
            <a:ext cx="6818262" cy="365125"/>
          </a:xfrm>
          <a:prstGeom prst="rect">
            <a:avLst/>
          </a:prstGeom>
        </p:spPr>
        <p:txBody>
          <a:bodyPr vert="horz" lIns="91440" tIns="45720" rIns="91440" bIns="45720" rtlCol="0" anchor="ctr"/>
          <a:lstStyle>
            <a:lvl1pPr algn="l">
              <a:defRPr sz="8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10993582" y="6446838"/>
            <a:ext cx="780010" cy="365125"/>
          </a:xfrm>
          <a:prstGeom prst="rect">
            <a:avLst/>
          </a:prstGeom>
        </p:spPr>
        <p:txBody>
          <a:bodyPr vert="horz" lIns="91440" tIns="45720" rIns="91440" bIns="45720" rtlCol="0" anchor="ctr"/>
          <a:lstStyle>
            <a:lvl1pPr algn="l">
              <a:defRPr sz="800">
                <a:solidFill>
                  <a:srgbClr val="FFFFFF"/>
                </a:solidFill>
              </a:defRPr>
            </a:lvl1pPr>
          </a:lstStyle>
          <a:p>
            <a:fld id="{3A98EE3D-8CD1-4C3F-BD1C-C98C9596463C}" type="slidenum">
              <a:rPr lang="en-US" smtClean="0"/>
            </a:fld>
            <a:endParaRPr lang="en-US" dirty="0"/>
          </a:p>
        </p:txBody>
      </p:sp>
      <p:cxnSp>
        <p:nvCxnSpPr>
          <p:cNvPr id="10" name="Straight Connector 9"/>
          <p:cNvCxnSpPr/>
          <p:nvPr/>
        </p:nvCxnSpPr>
        <p:spPr>
          <a:xfrm>
            <a:off x="1193532" y="1897380"/>
            <a:ext cx="996696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defTabSz="914400" rtl="0" eaLnBrk="1" latinLnBrk="0" hangingPunct="1">
        <a:lnSpc>
          <a:spcPct val="90000"/>
        </a:lnSpc>
        <a:spcBef>
          <a:spcPct val="0"/>
        </a:spcBef>
        <a:buNone/>
        <a:defRPr sz="4700" i="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175" indent="-182880" algn="l" defTabSz="914400" rtl="0" eaLnBrk="1" latinLnBrk="0" hangingPunct="1">
        <a:lnSpc>
          <a:spcPct val="100000"/>
        </a:lnSpc>
        <a:spcBef>
          <a:spcPts val="200"/>
        </a:spcBef>
        <a:spcAft>
          <a:spcPts val="400"/>
        </a:spcAft>
        <a:buClrTx/>
        <a:buFont typeface="Calibri" panose="020F0502020204030204" pitchFamily="34" charset="0"/>
        <a:buChar char="◦"/>
        <a:defRPr sz="1700" kern="1200">
          <a:solidFill>
            <a:schemeClr val="tx1">
              <a:lumMod val="75000"/>
              <a:lumOff val="25000"/>
            </a:schemeClr>
          </a:solidFill>
          <a:latin typeface="+mn-lt"/>
          <a:ea typeface="+mn-ea"/>
          <a:cs typeface="+mn-cs"/>
        </a:defRPr>
      </a:lvl2pPr>
      <a:lvl3pPr marL="567055" indent="-182880" algn="l" defTabSz="914400" rtl="0" eaLnBrk="1" latinLnBrk="0" hangingPunct="1">
        <a:lnSpc>
          <a:spcPct val="100000"/>
        </a:lnSpc>
        <a:spcBef>
          <a:spcPts val="200"/>
        </a:spcBef>
        <a:spcAft>
          <a:spcPts val="400"/>
        </a:spcAft>
        <a:buClrTx/>
        <a:buFont typeface="Calibri" panose="020F0502020204030204" pitchFamily="34" charset="0"/>
        <a:buChar char="◦"/>
        <a:defRPr sz="1300" kern="1200">
          <a:solidFill>
            <a:schemeClr val="tx1">
              <a:lumMod val="75000"/>
              <a:lumOff val="25000"/>
            </a:schemeClr>
          </a:solidFill>
          <a:latin typeface="+mn-lt"/>
          <a:ea typeface="+mn-ea"/>
          <a:cs typeface="+mn-cs"/>
        </a:defRPr>
      </a:lvl3pPr>
      <a:lvl4pPr marL="749935" indent="-182880" algn="l" defTabSz="914400" rtl="0" eaLnBrk="1" latinLnBrk="0" hangingPunct="1">
        <a:lnSpc>
          <a:spcPct val="100000"/>
        </a:lnSpc>
        <a:spcBef>
          <a:spcPts val="200"/>
        </a:spcBef>
        <a:spcAft>
          <a:spcPts val="400"/>
        </a:spcAft>
        <a:buClrTx/>
        <a:buFont typeface="Calibri" panose="020F0502020204030204" pitchFamily="34" charset="0"/>
        <a:buChar char="◦"/>
        <a:defRPr sz="1300" kern="1200">
          <a:solidFill>
            <a:schemeClr val="tx1">
              <a:lumMod val="75000"/>
              <a:lumOff val="25000"/>
            </a:schemeClr>
          </a:solidFill>
          <a:latin typeface="+mn-lt"/>
          <a:ea typeface="+mn-ea"/>
          <a:cs typeface="+mn-cs"/>
        </a:defRPr>
      </a:lvl4pPr>
      <a:lvl5pPr marL="932815" indent="-182880" algn="l" defTabSz="914400" rtl="0" eaLnBrk="1" latinLnBrk="0" hangingPunct="1">
        <a:lnSpc>
          <a:spcPct val="100000"/>
        </a:lnSpc>
        <a:spcBef>
          <a:spcPts val="200"/>
        </a:spcBef>
        <a:spcAft>
          <a:spcPts val="400"/>
        </a:spcAft>
        <a:buClrTx/>
        <a:buFont typeface="Calibri" panose="020F0502020204030204" pitchFamily="34" charset="0"/>
        <a:buChar char="◦"/>
        <a:defRPr sz="1300" kern="1200">
          <a:solidFill>
            <a:schemeClr val="tx1">
              <a:lumMod val="75000"/>
              <a:lumOff val="25000"/>
            </a:schemeClr>
          </a:solidFill>
          <a:latin typeface="+mn-lt"/>
          <a:ea typeface="+mn-ea"/>
          <a:cs typeface="+mn-cs"/>
        </a:defRPr>
      </a:lvl5pPr>
      <a:lvl6pPr marL="109982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6pPr>
      <a:lvl7pPr marL="129984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7pPr>
      <a:lvl8pPr marL="149987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8pPr>
      <a:lvl9pPr marL="169989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jpeg"/><Relationship Id="rId1" Type="http://schemas.openxmlformats.org/officeDocument/2006/relationships/image" Target="../media/image2.jpeg"/></Relationships>
</file>

<file path=ppt/slides/_rels/slide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hyperlink" Target="https://fastercapital.com/content/How-Ann-Moore-Revolutionized-the-Retail-Industry-update.html" TargetMode="Externa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jpeg"/><Relationship Id="rId1" Type="http://schemas.openxmlformats.org/officeDocument/2006/relationships/image" Target="../media/image2.jpe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jpeg"/><Relationship Id="rId1" Type="http://schemas.openxmlformats.org/officeDocument/2006/relationships/image" Target="../media/image2.jpe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jpeg"/><Relationship Id="rId1" Type="http://schemas.openxmlformats.org/officeDocument/2006/relationships/image" Target="../media/image2.jpe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jpeg"/><Relationship Id="rId1" Type="http://schemas.openxmlformats.org/officeDocument/2006/relationships/image" Target="../media/image2.jpeg"/></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jpeg"/><Relationship Id="rId1" Type="http://schemas.openxmlformats.org/officeDocument/2006/relationships/image" Target="../media/image2.jpe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jpeg"/><Relationship Id="rId1" Type="http://schemas.openxmlformats.org/officeDocument/2006/relationships/image" Target="../media/image2.jpeg"/></Relationships>
</file>

<file path=ppt/slides/_rels/slide10.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1.xml"/><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chart" Target="../charts/chart1.xml"/></Relationships>
</file>

<file path=ppt/slides/_rels/slide11.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3.jpeg"/><Relationship Id="rId3" Type="http://schemas.openxmlformats.org/officeDocument/2006/relationships/image" Target="../media/image2.jpeg"/><Relationship Id="rId2" Type="http://schemas.openxmlformats.org/officeDocument/2006/relationships/tags" Target="../tags/tag2.xml"/><Relationship Id="rId1" Type="http://schemas.openxmlformats.org/officeDocument/2006/relationships/chart" Target="../charts/chart2.xml"/></Relationships>
</file>

<file path=ppt/slides/_rels/slide12.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3.xml"/><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chart" Target="../charts/chart3.xml"/></Relationships>
</file>

<file path=ppt/slides/_rels/slide1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tags" Target="../tags/tag4.xml"/></Relationships>
</file>

<file path=ppt/slides/_rels/slide14.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5.xml"/><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chart" Target="../charts/chart4.xml"/></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jpeg"/><Relationship Id="rId1" Type="http://schemas.openxmlformats.org/officeDocument/2006/relationships/image" Target="../media/image2.jpeg"/></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jpeg"/><Relationship Id="rId1" Type="http://schemas.openxmlformats.org/officeDocument/2006/relationships/image" Target="../media/image3.jpeg"/></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jpeg"/><Relationship Id="rId1" Type="http://schemas.openxmlformats.org/officeDocument/2006/relationships/image" Target="../media/image2.jpeg"/></Relationships>
</file>

<file path=ppt/slides/_rels/slide18.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image" Target="../media/image2.jpe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p:cNvSpPr>
            <a:spLocks noGrp="1" noRot="1" noChangeAspect="1" noMove="1" noResize="1" noEditPoints="1" noAdjustHandles="1" noChangeArrowheads="1" noChangeShapeType="1" noTextEdit="1"/>
          </p:cNvSpPr>
          <p:nvPr/>
        </p:nvSpPr>
        <p:spPr>
          <a:xfrm>
            <a:off x="0" y="1"/>
            <a:ext cx="12192001" cy="685799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4906108" y="2252865"/>
            <a:ext cx="6087414" cy="2172282"/>
          </a:xfrm>
        </p:spPr>
        <p:txBody>
          <a:bodyPr>
            <a:normAutofit fontScale="90000"/>
          </a:bodyPr>
          <a:lstStyle/>
          <a:p>
            <a:pPr algn="ctr">
              <a:lnSpc>
                <a:spcPct val="107000"/>
              </a:lnSpc>
              <a:spcAft>
                <a:spcPts val="800"/>
              </a:spcAft>
            </a:pPr>
            <a:br>
              <a:rPr lang="en-IN" sz="1800" b="1" kern="100" dirty="0">
                <a:solidFill>
                  <a:srgbClr val="00B0F0"/>
                </a:solidFill>
                <a:effectLst/>
                <a:latin typeface="Arial" panose="020B0604020202020204" pitchFamily="34" charset="0"/>
                <a:cs typeface="Arial" panose="020B0604020202020204" pitchFamily="34" charset="0"/>
              </a:rPr>
            </a:br>
            <a:br>
              <a:rPr lang="en-IN" sz="8000" kern="100" dirty="0">
                <a:solidFill>
                  <a:srgbClr val="00B0F0"/>
                </a:solidFill>
                <a:effectLst/>
                <a:latin typeface="Arial" panose="020B0604020202020204" pitchFamily="34" charset="0"/>
                <a:cs typeface="Arial" panose="020B0604020202020204" pitchFamily="34" charset="0"/>
              </a:rPr>
            </a:br>
            <a:br>
              <a:rPr lang="en-IN" sz="8000" kern="100" dirty="0">
                <a:solidFill>
                  <a:srgbClr val="00B0F0"/>
                </a:solidFill>
                <a:effectLst/>
                <a:latin typeface="Arial" panose="020B0604020202020204" pitchFamily="34" charset="0"/>
                <a:cs typeface="Arial" panose="020B0604020202020204" pitchFamily="34" charset="0"/>
              </a:rPr>
            </a:br>
            <a:br>
              <a:rPr lang="en-US" sz="8000" dirty="0">
                <a:solidFill>
                  <a:srgbClr val="00B0F0"/>
                </a:solidFill>
                <a:latin typeface="Arial" panose="020B0604020202020204" pitchFamily="34" charset="0"/>
                <a:cs typeface="Arial" panose="020B0604020202020204" pitchFamily="34" charset="0"/>
              </a:rPr>
            </a:br>
            <a:br>
              <a:rPr lang="en-US" sz="1800" kern="100" dirty="0">
                <a:effectLst/>
                <a:latin typeface="Calibri" panose="020F0502020204030204" pitchFamily="34" charset="0"/>
                <a:cs typeface="Times New Roman" panose="02020603050405020304" pitchFamily="18" charset="0"/>
              </a:rPr>
            </a:br>
            <a:r>
              <a:rPr lang="en-US" sz="3100" b="1" u="sng" kern="100" dirty="0">
                <a:effectLst/>
                <a:latin typeface="Calibri" panose="020F0502020204030204" pitchFamily="34" charset="0"/>
                <a:cs typeface="Times New Roman" panose="02020603050405020304" pitchFamily="18" charset="0"/>
              </a:rPr>
              <a:t>Case Study</a:t>
            </a:r>
            <a:br>
              <a:rPr lang="en-US" sz="1800" kern="100" dirty="0">
                <a:effectLst/>
                <a:latin typeface="Calibri" panose="020F0502020204030204" pitchFamily="34" charset="0"/>
                <a:cs typeface="Times New Roman" panose="02020603050405020304" pitchFamily="18" charset="0"/>
              </a:rPr>
            </a:br>
            <a:br>
              <a:rPr lang="en-US" sz="1800" kern="100" dirty="0">
                <a:effectLst/>
                <a:latin typeface="Calibri" panose="020F0502020204030204" pitchFamily="34" charset="0"/>
                <a:cs typeface="Times New Roman" panose="02020603050405020304" pitchFamily="18" charset="0"/>
              </a:rPr>
            </a:br>
            <a:r>
              <a:rPr lang="en-US" sz="2700" b="1" kern="100" dirty="0">
                <a:solidFill>
                  <a:schemeClr val="tx2"/>
                </a:solidFill>
                <a:effectLst/>
                <a:latin typeface="Calibri" panose="020F0502020204030204" pitchFamily="34" charset="0"/>
                <a:cs typeface="Times New Roman" panose="02020603050405020304" pitchFamily="18" charset="0"/>
              </a:rPr>
              <a:t>Improving Sales Performance at Superstore</a:t>
            </a:r>
            <a:br>
              <a:rPr lang="en-US" sz="2700" kern="100" dirty="0">
                <a:solidFill>
                  <a:srgbClr val="00B0F0"/>
                </a:solidFill>
                <a:effectLst/>
                <a:latin typeface="Calibri" panose="020F0502020204030204" pitchFamily="34" charset="0"/>
                <a:cs typeface="Times New Roman" panose="02020603050405020304" pitchFamily="18" charset="0"/>
              </a:rPr>
            </a:br>
            <a:endParaRPr lang="en-US" sz="2700" dirty="0"/>
          </a:p>
        </p:txBody>
      </p:sp>
      <p:sp>
        <p:nvSpPr>
          <p:cNvPr id="3" name="Subtitle 2"/>
          <p:cNvSpPr>
            <a:spLocks noGrp="1"/>
          </p:cNvSpPr>
          <p:nvPr>
            <p:ph type="subTitle" idx="1"/>
          </p:nvPr>
        </p:nvSpPr>
        <p:spPr>
          <a:xfrm>
            <a:off x="5427754" y="4682768"/>
            <a:ext cx="6269347" cy="1021498"/>
          </a:xfrm>
        </p:spPr>
        <p:txBody>
          <a:bodyPr>
            <a:normAutofit fontScale="92500" lnSpcReduction="20000"/>
          </a:bodyPr>
          <a:lstStyle/>
          <a:p>
            <a:r>
              <a:rPr lang="en-US" sz="2400" b="1" u="sng" kern="100" dirty="0">
                <a:solidFill>
                  <a:schemeClr val="tx2"/>
                </a:solidFill>
                <a:effectLst/>
                <a:latin typeface="Calibri" panose="020F0502020204030204" pitchFamily="34" charset="0"/>
                <a:cs typeface="Times New Roman" panose="02020603050405020304" pitchFamily="18" charset="0"/>
              </a:rPr>
              <a:t>Presented BY</a:t>
            </a:r>
            <a:br>
              <a:rPr lang="en-US" sz="2400" b="1" u="sng" kern="100" dirty="0">
                <a:solidFill>
                  <a:srgbClr val="00B0F0"/>
                </a:solidFill>
                <a:effectLst/>
                <a:latin typeface="Calibri" panose="020F0502020204030204" pitchFamily="34" charset="0"/>
                <a:cs typeface="Times New Roman" panose="02020603050405020304" pitchFamily="18" charset="0"/>
              </a:rPr>
            </a:br>
            <a:br>
              <a:rPr lang="en-US" sz="2400" kern="100" dirty="0">
                <a:solidFill>
                  <a:srgbClr val="00B0F0"/>
                </a:solidFill>
                <a:effectLst/>
                <a:latin typeface="Calibri" panose="020F0502020204030204" pitchFamily="34" charset="0"/>
                <a:cs typeface="Times New Roman" panose="02020603050405020304" pitchFamily="18" charset="0"/>
              </a:rPr>
            </a:br>
            <a:r>
              <a:rPr lang="en-US" sz="2400" kern="100" dirty="0">
                <a:solidFill>
                  <a:schemeClr val="accent1"/>
                </a:solidFill>
                <a:effectLst/>
                <a:latin typeface="Calibri" panose="020F0502020204030204" pitchFamily="34" charset="0"/>
                <a:cs typeface="Times New Roman" panose="02020603050405020304" pitchFamily="18" charset="0"/>
              </a:rPr>
              <a:t>JAYA SUHANE|24/02/2025</a:t>
            </a:r>
            <a:endParaRPr lang="en-US" sz="2400" dirty="0">
              <a:solidFill>
                <a:schemeClr val="accent1"/>
              </a:solidFill>
            </a:endParaRPr>
          </a:p>
        </p:txBody>
      </p:sp>
      <p:pic>
        <p:nvPicPr>
          <p:cNvPr id="5" name="Picture 4" descr="A picture containing building, sitting, bench, side&#10;&#10;Description automatically generated"/>
          <p:cNvPicPr>
            <a:picLocks noChangeAspect="1"/>
          </p:cNvPicPr>
          <p:nvPr/>
        </p:nvPicPr>
        <p:blipFill rotWithShape="1">
          <a:blip r:embed="rId1">
            <a:extLst>
              <a:ext uri="{28A0092B-C50C-407E-A947-70E740481C1C}">
                <a14:useLocalDpi xmlns:a14="http://schemas.microsoft.com/office/drawing/2010/main" val="0"/>
              </a:ext>
            </a:extLst>
          </a:blip>
          <a:srcRect/>
          <a:stretch>
            <a:fillRect/>
          </a:stretch>
        </p:blipFill>
        <p:spPr>
          <a:xfrm>
            <a:off x="-1" y="1"/>
            <a:ext cx="4635315" cy="6857999"/>
          </a:xfrm>
          <a:prstGeom prst="rect">
            <a:avLst/>
          </a:prstGeom>
        </p:spPr>
      </p:pic>
      <p:cxnSp>
        <p:nvCxnSpPr>
          <p:cNvPr id="24" name="Straight Connector 23"/>
          <p:cNvCxnSpPr>
            <a:cxnSpLocks noGrp="1" noRot="1" noChangeAspect="1" noMove="1" noResize="1" noEditPoints="1" noAdjustHandles="1" noChangeArrowheads="1" noChangeShapeType="1"/>
          </p:cNvCxnSpPr>
          <p:nvPr/>
        </p:nvCxnSpPr>
        <p:spPr>
          <a:xfrm>
            <a:off x="5427754" y="4498925"/>
            <a:ext cx="5636107"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pic>
        <p:nvPicPr>
          <p:cNvPr id="4"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5061162" y="144276"/>
            <a:ext cx="2234997" cy="467029"/>
          </a:xfrm>
          <a:prstGeom prst="rect">
            <a:avLst/>
          </a:prstGeom>
          <a:noFill/>
          <a:ln>
            <a:noFill/>
          </a:ln>
        </p:spPr>
      </p:pic>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96159" y="1258257"/>
            <a:ext cx="1464501" cy="99460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Content</a:t>
            </a:r>
            <a:endParaRPr lang="en-IN" dirty="0"/>
          </a:p>
        </p:txBody>
      </p:sp>
      <p:sp>
        <p:nvSpPr>
          <p:cNvPr id="3" name="Content Placeholder 2"/>
          <p:cNvSpPr>
            <a:spLocks noGrp="1"/>
          </p:cNvSpPr>
          <p:nvPr>
            <p:ph idx="1"/>
          </p:nvPr>
        </p:nvSpPr>
        <p:spPr/>
        <p:txBody>
          <a:bodyPr>
            <a:normAutofit fontScale="85000" lnSpcReduction="20000"/>
          </a:bodyPr>
          <a:lstStyle/>
          <a:p>
            <a:pPr>
              <a:buFont typeface="Wingdings" panose="05000000000000000000" charset="0"/>
              <a:buChar char="Ø"/>
            </a:pPr>
            <a:r>
              <a:rPr lang="en-US" altLang="en-IN" sz="2000" dirty="0">
                <a:solidFill>
                  <a:schemeClr val="tx2"/>
                </a:solidFill>
                <a:sym typeface="+mn-ea"/>
              </a:rPr>
              <a:t>Introduction</a:t>
            </a:r>
            <a:endParaRPr lang="en-US" altLang="en-IN" sz="2000" dirty="0">
              <a:solidFill>
                <a:schemeClr val="tx2"/>
              </a:solidFill>
              <a:highlight>
                <a:srgbClr val="0000FF"/>
              </a:highlight>
              <a:sym typeface="+mn-ea"/>
            </a:endParaRPr>
          </a:p>
          <a:p>
            <a:pPr>
              <a:buFont typeface="Wingdings" panose="05000000000000000000" charset="0"/>
              <a:buChar char="Ø"/>
            </a:pPr>
            <a:r>
              <a:rPr lang="en-US" altLang="en-IN" sz="2000" dirty="0">
                <a:solidFill>
                  <a:schemeClr val="tx2"/>
                </a:solidFill>
                <a:sym typeface="+mn-ea"/>
              </a:rPr>
              <a:t>Problem</a:t>
            </a:r>
            <a:endParaRPr lang="en-US" altLang="en-IN" sz="2000" dirty="0">
              <a:solidFill>
                <a:schemeClr val="tx2"/>
              </a:solidFill>
              <a:sym typeface="+mn-ea"/>
            </a:endParaRPr>
          </a:p>
          <a:p>
            <a:pPr algn="l">
              <a:buFont typeface="Wingdings" panose="05000000000000000000" charset="0"/>
              <a:buChar char="Ø"/>
            </a:pPr>
            <a:r>
              <a:rPr lang="en-US" altLang="en-IN" sz="2000" dirty="0">
                <a:solidFill>
                  <a:schemeClr val="tx2"/>
                </a:solidFill>
                <a:sym typeface="+mn-ea"/>
              </a:rPr>
              <a:t>Background</a:t>
            </a:r>
            <a:endParaRPr lang="en-US" altLang="en-IN" sz="2000" dirty="0">
              <a:solidFill>
                <a:schemeClr val="tx2"/>
              </a:solidFill>
              <a:sym typeface="+mn-ea"/>
            </a:endParaRPr>
          </a:p>
          <a:p>
            <a:pPr>
              <a:buFont typeface="Wingdings" panose="05000000000000000000" charset="0"/>
              <a:buChar char="Ø"/>
            </a:pPr>
            <a:r>
              <a:rPr lang="en-US" altLang="en-IN" sz="2000" dirty="0">
                <a:solidFill>
                  <a:schemeClr val="tx2"/>
                </a:solidFill>
                <a:sym typeface="+mn-ea"/>
              </a:rPr>
              <a:t>Solution</a:t>
            </a:r>
            <a:endParaRPr lang="en-US" altLang="en-IN" sz="2000" dirty="0">
              <a:solidFill>
                <a:schemeClr val="tx2"/>
              </a:solidFill>
              <a:sym typeface="+mn-ea"/>
            </a:endParaRPr>
          </a:p>
          <a:p>
            <a:pPr>
              <a:buFont typeface="Wingdings" panose="05000000000000000000" charset="0"/>
              <a:buChar char="Ø"/>
            </a:pPr>
            <a:r>
              <a:rPr lang="en-US" altLang="en-IN" sz="2000" dirty="0">
                <a:solidFill>
                  <a:schemeClr val="tx2"/>
                </a:solidFill>
                <a:sym typeface="+mn-ea"/>
              </a:rPr>
              <a:t>Methodology and Project Scope</a:t>
            </a:r>
            <a:endParaRPr lang="en-US" altLang="en-IN" sz="2000" dirty="0">
              <a:solidFill>
                <a:schemeClr val="tx2"/>
              </a:solidFill>
              <a:sym typeface="+mn-ea"/>
            </a:endParaRPr>
          </a:p>
          <a:p>
            <a:pPr>
              <a:buFont typeface="Wingdings" panose="05000000000000000000" charset="0"/>
              <a:buChar char="Ø"/>
            </a:pPr>
            <a:r>
              <a:rPr lang="en-US" altLang="en-IN" sz="2000" dirty="0">
                <a:solidFill>
                  <a:schemeClr val="tx2"/>
                </a:solidFill>
                <a:sym typeface="+mn-ea"/>
              </a:rPr>
              <a:t>Goals and KPI’s</a:t>
            </a:r>
            <a:endParaRPr lang="en-US" altLang="en-IN" sz="2000" dirty="0">
              <a:solidFill>
                <a:schemeClr val="tx2"/>
              </a:solidFill>
              <a:sym typeface="+mn-ea"/>
            </a:endParaRPr>
          </a:p>
          <a:p>
            <a:pPr>
              <a:buFont typeface="Wingdings" panose="05000000000000000000" charset="0"/>
              <a:buChar char="Ø"/>
            </a:pPr>
            <a:r>
              <a:rPr lang="en-US" altLang="en-IN" sz="2000" dirty="0">
                <a:solidFill>
                  <a:schemeClr val="tx2"/>
                </a:solidFill>
                <a:sym typeface="+mn-ea"/>
              </a:rPr>
              <a:t>Technical Process </a:t>
            </a:r>
            <a:endParaRPr lang="en-US" altLang="en-IN" sz="2000" dirty="0">
              <a:solidFill>
                <a:schemeClr val="tx2"/>
              </a:solidFill>
              <a:sym typeface="+mn-ea"/>
            </a:endParaRPr>
          </a:p>
          <a:p>
            <a:pPr>
              <a:buFont typeface="Wingdings" panose="05000000000000000000" charset="0"/>
              <a:buChar char="Ø"/>
            </a:pPr>
            <a:r>
              <a:rPr lang="en-US" altLang="en-IN" sz="2000" dirty="0">
                <a:solidFill>
                  <a:schemeClr val="tx2"/>
                </a:solidFill>
                <a:sym typeface="+mn-ea"/>
              </a:rPr>
              <a:t>Conclusion</a:t>
            </a:r>
            <a:endParaRPr lang="en-US" altLang="en-IN" sz="2000" dirty="0">
              <a:solidFill>
                <a:schemeClr val="tx2"/>
              </a:solidFill>
              <a:sym typeface="+mn-ea"/>
            </a:endParaRPr>
          </a:p>
          <a:p>
            <a:pPr>
              <a:buFont typeface="Wingdings" panose="05000000000000000000" charset="0"/>
              <a:buChar char="Ø"/>
            </a:pPr>
            <a:r>
              <a:rPr lang="en-US" altLang="en-IN" sz="2000" dirty="0">
                <a:solidFill>
                  <a:schemeClr val="tx2"/>
                </a:solidFill>
                <a:sym typeface="+mn-ea"/>
              </a:rPr>
              <a:t>Project Owner</a:t>
            </a:r>
            <a:endParaRPr lang="en-US" altLang="en-IN" sz="2000" dirty="0">
              <a:solidFill>
                <a:schemeClr val="tx2"/>
              </a:solidFill>
              <a:sym typeface="+mn-ea"/>
            </a:endParaRPr>
          </a:p>
          <a:p>
            <a:pPr marL="0" indent="0">
              <a:buNone/>
            </a:pPr>
            <a:endParaRPr lang="en-US" altLang="en-IN" dirty="0">
              <a:solidFill>
                <a:schemeClr val="bg1"/>
              </a:solidFill>
            </a:endParaRPr>
          </a:p>
          <a:p>
            <a:endParaRPr lang="en-IN" dirty="0"/>
          </a:p>
        </p:txBody>
      </p:sp>
      <p:pic>
        <p:nvPicPr>
          <p:cNvPr id="4" name="Picture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a:xfrm>
            <a:off x="1227706" y="286603"/>
            <a:ext cx="2234997" cy="467029"/>
          </a:xfrm>
          <a:prstGeom prst="rect">
            <a:avLst/>
          </a:prstGeom>
          <a:noFill/>
          <a:ln>
            <a:noFill/>
          </a:ln>
        </p:spPr>
      </p:pic>
      <p:pic>
        <p:nvPicPr>
          <p:cNvPr id="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27706" y="894343"/>
            <a:ext cx="1464501" cy="70230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Introduction</a:t>
            </a:r>
            <a:endParaRPr lang="en-IN" dirty="0"/>
          </a:p>
        </p:txBody>
      </p:sp>
      <p:sp>
        <p:nvSpPr>
          <p:cNvPr id="3" name="Content Placeholder 2"/>
          <p:cNvSpPr>
            <a:spLocks noGrp="1"/>
          </p:cNvSpPr>
          <p:nvPr>
            <p:ph idx="1"/>
          </p:nvPr>
        </p:nvSpPr>
        <p:spPr>
          <a:xfrm>
            <a:off x="1097280" y="2108201"/>
            <a:ext cx="10058400" cy="3386991"/>
          </a:xfrm>
        </p:spPr>
        <p:txBody>
          <a:bodyPr>
            <a:normAutofit/>
          </a:bodyPr>
          <a:lstStyle/>
          <a:p>
            <a:r>
              <a:rPr lang="en-US" sz="1400" b="0" i="0" u="none" strike="noStrike" dirty="0">
                <a:solidFill>
                  <a:srgbClr val="000000"/>
                </a:solidFill>
                <a:effectLst/>
                <a:latin typeface="Arial" panose="020B0604020202020204" pitchFamily="34" charset="0"/>
              </a:rPr>
              <a:t>Superstore, a prominent retail chain operating across the United States. </a:t>
            </a:r>
            <a:r>
              <a:rPr lang="en-US" sz="1400" b="0" i="0" dirty="0">
                <a:solidFill>
                  <a:srgbClr val="333333"/>
                </a:solidFill>
                <a:effectLst/>
                <a:latin typeface="Franklin Gothic Book" panose="020B0503020102020204" pitchFamily="34" charset="0"/>
                <a:cs typeface="Arial" panose="020B0604020202020204" pitchFamily="34" charset="0"/>
              </a:rPr>
              <a:t>The superstore concept has </a:t>
            </a:r>
            <a:r>
              <a:rPr lang="en-US" sz="1400" b="0" i="0" u="sng" dirty="0">
                <a:solidFill>
                  <a:srgbClr val="337AB7"/>
                </a:solidFill>
                <a:effectLst/>
                <a:latin typeface="Franklin Gothic Book" panose="020B0503020102020204" pitchFamily="34" charset="0"/>
                <a:cs typeface="Arial" panose="020B0604020202020204" pitchFamily="34" charset="0"/>
                <a:hlinkClick r:id="rId1" tooltip="How Ann Moore Revolutionized the Retail Industry update"/>
              </a:rPr>
              <a:t>revolutionized the retail industry</a:t>
            </a:r>
            <a:r>
              <a:rPr lang="en-US" sz="1400" b="0" i="0" dirty="0">
                <a:solidFill>
                  <a:srgbClr val="333333"/>
                </a:solidFill>
                <a:effectLst/>
                <a:latin typeface="Franklin Gothic Book" panose="020B0503020102020204" pitchFamily="34" charset="0"/>
                <a:cs typeface="Arial" panose="020B0604020202020204" pitchFamily="34" charset="0"/>
              </a:rPr>
              <a:t>, offering customers a one-stop-shop for all their needs. From groceries to electronics, furniture to clothing, these stores have it all. The evolution of the superstore concept has been a fascinating journey, starting with the introduction of hypermarkets in the 1960s.</a:t>
            </a:r>
            <a:endParaRPr lang="en-IN" sz="1400" dirty="0">
              <a:latin typeface="Franklin Gothic Book" panose="020B0503020102020204" pitchFamily="34" charset="0"/>
              <a:cs typeface="Arial" panose="020B0604020202020204" pitchFamily="34" charset="0"/>
            </a:endParaRPr>
          </a:p>
        </p:txBody>
      </p:sp>
      <p:pic>
        <p:nvPicPr>
          <p:cNvPr id="4"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1227706" y="286603"/>
            <a:ext cx="2234997" cy="467029"/>
          </a:xfrm>
          <a:prstGeom prst="rect">
            <a:avLst/>
          </a:prstGeom>
          <a:noFill/>
          <a:ln>
            <a:noFill/>
          </a:ln>
        </p:spPr>
      </p:pic>
      <p:pic>
        <p:nvPicPr>
          <p:cNvPr id="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27706" y="894343"/>
            <a:ext cx="1464501" cy="702305"/>
          </a:xfrm>
          <a:prstGeom prst="rect">
            <a:avLst/>
          </a:prstGeom>
          <a:noFill/>
          <a:extLst>
            <a:ext uri="{909E8E84-426E-40DD-AFC4-6F175D3DCCD1}">
              <a14:hiddenFill xmlns:a14="http://schemas.microsoft.com/office/drawing/2010/main">
                <a:solidFill>
                  <a:srgbClr val="FFFFFF"/>
                </a:solidFill>
              </a14:hiddenFill>
            </a:ext>
          </a:extLst>
        </p:spPr>
      </p:pic>
      <p:sp>
        <p:nvSpPr>
          <p:cNvPr id="6" name="AutoShape 2" descr="Understanding the Superstore Concept and Its Evolution - Superstore concept: Hypermarkets: The Evolution of the Superstore Concept"/>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IN"/>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r>
              <a:rPr lang="en-US" sz="3200" dirty="0"/>
              <a:t>Background And Problem</a:t>
            </a:r>
            <a:endParaRPr lang="en-IN" sz="3200" dirty="0"/>
          </a:p>
        </p:txBody>
      </p:sp>
      <p:sp>
        <p:nvSpPr>
          <p:cNvPr id="3" name="Content Placeholder 2"/>
          <p:cNvSpPr>
            <a:spLocks noGrp="1"/>
          </p:cNvSpPr>
          <p:nvPr>
            <p:ph idx="1"/>
          </p:nvPr>
        </p:nvSpPr>
        <p:spPr>
          <a:xfrm>
            <a:off x="1097280" y="1978269"/>
            <a:ext cx="10058400" cy="3890823"/>
          </a:xfrm>
        </p:spPr>
        <p:txBody>
          <a:bodyPr>
            <a:normAutofit lnSpcReduction="10000"/>
          </a:bodyPr>
          <a:lstStyle/>
          <a:p>
            <a:r>
              <a:rPr lang="en-US" b="1" u="sng" dirty="0"/>
              <a:t>Background</a:t>
            </a:r>
            <a:endParaRPr lang="en-US" b="1" u="sng" dirty="0"/>
          </a:p>
          <a:p>
            <a:r>
              <a:rPr lang="en-US" sz="1800" kern="100" dirty="0">
                <a:solidFill>
                  <a:srgbClr val="000000"/>
                </a:solidFill>
                <a:effectLst/>
                <a:latin typeface="Calibri" panose="020F0502020204030204" pitchFamily="34" charset="0"/>
                <a:cs typeface="Times New Roman" panose="02020603050405020304" pitchFamily="18" charset="0"/>
              </a:rPr>
              <a:t>Superstore, a leading retail chain in the U.S., is experiencing fluctuating sales and uneven profitability across regions and product categories. These inconsistencies impact inventory management, marketing strategies, and customer satisfaction. To address this, the company has launched a data analysis initiative to uncover key drivers of these variations. As a data analyst trainee, your task is to </a:t>
            </a:r>
            <a:r>
              <a:rPr lang="en-US" sz="1800" kern="100" dirty="0" err="1">
                <a:solidFill>
                  <a:srgbClr val="000000"/>
                </a:solidFill>
                <a:effectLst/>
                <a:latin typeface="Calibri" panose="020F0502020204030204" pitchFamily="34" charset="0"/>
                <a:cs typeface="Times New Roman" panose="02020603050405020304" pitchFamily="18" charset="0"/>
              </a:rPr>
              <a:t>analyse</a:t>
            </a:r>
            <a:r>
              <a:rPr lang="en-US" sz="1800" kern="100" dirty="0">
                <a:solidFill>
                  <a:srgbClr val="000000"/>
                </a:solidFill>
                <a:effectLst/>
                <a:latin typeface="Calibri" panose="020F0502020204030204" pitchFamily="34" charset="0"/>
                <a:cs typeface="Times New Roman" panose="02020603050405020304" pitchFamily="18" charset="0"/>
              </a:rPr>
              <a:t> sales data using Pivot Tables in Excel to identify trends, pinpoint inefficiencies, and provide strategic recommendations for improving profitability and operational efficiency.</a:t>
            </a:r>
            <a:endParaRPr lang="en-US" sz="1800" kern="100" dirty="0">
              <a:solidFill>
                <a:srgbClr val="000000"/>
              </a:solidFill>
              <a:effectLst/>
              <a:latin typeface="Calibri" panose="020F0502020204030204" pitchFamily="34" charset="0"/>
              <a:cs typeface="Times New Roman" panose="02020603050405020304" pitchFamily="18" charset="0"/>
            </a:endParaRPr>
          </a:p>
          <a:p>
            <a:r>
              <a:rPr lang="en-US" sz="1800" b="1" u="sng" kern="100" dirty="0">
                <a:solidFill>
                  <a:srgbClr val="000000"/>
                </a:solidFill>
                <a:latin typeface="Franklin Gothic Book" panose="020B0503020102020204" pitchFamily="34" charset="0"/>
                <a:cs typeface="Times New Roman" panose="02020603050405020304" pitchFamily="18" charset="0"/>
              </a:rPr>
              <a:t>Problem</a:t>
            </a:r>
            <a:endParaRPr lang="en-US" sz="1800" b="1" u="sng" kern="100" dirty="0">
              <a:solidFill>
                <a:srgbClr val="000000"/>
              </a:solidFill>
              <a:latin typeface="Franklin Gothic Book" panose="020B0503020102020204" pitchFamily="34" charset="0"/>
              <a:cs typeface="Times New Roman" panose="02020603050405020304" pitchFamily="18" charset="0"/>
            </a:endParaRPr>
          </a:p>
          <a:p>
            <a:r>
              <a:rPr lang="en-US" sz="1800" kern="100" dirty="0">
                <a:solidFill>
                  <a:srgbClr val="000000"/>
                </a:solidFill>
                <a:effectLst/>
                <a:latin typeface="Calibri" panose="020F0502020204030204" pitchFamily="34" charset="0"/>
                <a:cs typeface="Times New Roman" panose="02020603050405020304" pitchFamily="18" charset="0"/>
              </a:rPr>
              <a:t>Superstore faces inconsistent sales and profitability across regions, product categories, and customer segments. The company needs to identify key drivers of these variations and develop data-driven strategies to enhance sales performance and overall profitability.</a:t>
            </a:r>
            <a:endParaRPr lang="en-US" sz="1800" kern="100" dirty="0">
              <a:effectLst/>
              <a:latin typeface="Calibri" panose="020F0502020204030204" pitchFamily="34" charset="0"/>
              <a:cs typeface="Times New Roman" panose="02020603050405020304" pitchFamily="18" charset="0"/>
            </a:endParaRPr>
          </a:p>
          <a:p>
            <a:endParaRPr lang="en-US" sz="1800" b="1" u="sng" kern="100" dirty="0">
              <a:effectLst/>
              <a:latin typeface="Franklin Gothic Book" panose="020B0503020102020204" pitchFamily="34" charset="0"/>
              <a:cs typeface="Times New Roman" panose="02020603050405020304" pitchFamily="18" charset="0"/>
            </a:endParaRPr>
          </a:p>
          <a:p>
            <a:endParaRPr lang="en-IN" b="1" u="sng" dirty="0"/>
          </a:p>
        </p:txBody>
      </p:sp>
      <p:pic>
        <p:nvPicPr>
          <p:cNvPr id="4" name="Picture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a:xfrm>
            <a:off x="1227706" y="286603"/>
            <a:ext cx="2234997" cy="467029"/>
          </a:xfrm>
          <a:prstGeom prst="rect">
            <a:avLst/>
          </a:prstGeom>
          <a:noFill/>
          <a:ln>
            <a:noFill/>
          </a:ln>
        </p:spPr>
      </p:pic>
      <p:pic>
        <p:nvPicPr>
          <p:cNvPr id="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27706" y="894343"/>
            <a:ext cx="1464501" cy="70230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Solution</a:t>
            </a:r>
            <a:endParaRPr lang="en-IN" dirty="0"/>
          </a:p>
        </p:txBody>
      </p:sp>
      <p:sp>
        <p:nvSpPr>
          <p:cNvPr id="3" name="Content Placeholder 2"/>
          <p:cNvSpPr>
            <a:spLocks noGrp="1"/>
          </p:cNvSpPr>
          <p:nvPr>
            <p:ph idx="1"/>
          </p:nvPr>
        </p:nvSpPr>
        <p:spPr/>
        <p:txBody>
          <a:bodyPr/>
          <a:lstStyle/>
          <a:p>
            <a:pPr>
              <a:lnSpc>
                <a:spcPct val="107000"/>
              </a:lnSpc>
              <a:spcAft>
                <a:spcPts val="800"/>
              </a:spcAft>
            </a:pPr>
            <a:r>
              <a:rPr lang="en-US" sz="1800" kern="100" dirty="0">
                <a:solidFill>
                  <a:srgbClr val="000000"/>
                </a:solidFill>
                <a:effectLst/>
                <a:latin typeface="Calibri" panose="020F0502020204030204" pitchFamily="34" charset="0"/>
                <a:cs typeface="Times New Roman" panose="02020603050405020304" pitchFamily="18" charset="0"/>
              </a:rPr>
              <a:t>To effectively solve Superstore’s inconsistent sales and profitability issues, follow a structured, data-driven approach:</a:t>
            </a:r>
            <a:endParaRPr lang="en-US" sz="1800" kern="100" dirty="0">
              <a:effectLst/>
              <a:latin typeface="Calibri" panose="020F0502020204030204" pitchFamily="34" charset="0"/>
              <a:cs typeface="Times New Roman" panose="02020603050405020304" pitchFamily="18" charset="0"/>
            </a:endParaRPr>
          </a:p>
          <a:p>
            <a:pPr>
              <a:lnSpc>
                <a:spcPct val="107000"/>
              </a:lnSpc>
              <a:spcAft>
                <a:spcPts val="800"/>
              </a:spcAft>
            </a:pPr>
            <a:r>
              <a:rPr lang="en-US" sz="1800" kern="100" dirty="0">
                <a:solidFill>
                  <a:srgbClr val="000000"/>
                </a:solidFill>
                <a:effectLst/>
                <a:latin typeface="Calibri" panose="020F0502020204030204" pitchFamily="34" charset="0"/>
                <a:cs typeface="Times New Roman" panose="02020603050405020304" pitchFamily="18" charset="0"/>
              </a:rPr>
              <a:t>1. Data Collection &amp; Preparation</a:t>
            </a:r>
            <a:endParaRPr lang="en-US" sz="1800" kern="100" dirty="0">
              <a:effectLst/>
              <a:latin typeface="Calibri" panose="020F0502020204030204" pitchFamily="34" charset="0"/>
              <a:cs typeface="Times New Roman" panose="02020603050405020304" pitchFamily="18" charset="0"/>
            </a:endParaRPr>
          </a:p>
          <a:p>
            <a:r>
              <a:rPr lang="en-US" sz="1800" kern="100" dirty="0">
                <a:solidFill>
                  <a:srgbClr val="000000"/>
                </a:solidFill>
                <a:effectLst/>
                <a:latin typeface="Calibri" panose="020F0502020204030204" pitchFamily="34" charset="0"/>
                <a:cs typeface="Times New Roman" panose="02020603050405020304" pitchFamily="18" charset="0"/>
              </a:rPr>
              <a:t>2. Exploratory Data Analysis (EDA)</a:t>
            </a:r>
            <a:endParaRPr lang="en-US" sz="1800" kern="100" dirty="0">
              <a:solidFill>
                <a:srgbClr val="000000"/>
              </a:solidFill>
              <a:effectLst/>
              <a:latin typeface="Calibri" panose="020F0502020204030204" pitchFamily="34" charset="0"/>
              <a:cs typeface="Times New Roman" panose="02020603050405020304" pitchFamily="18" charset="0"/>
            </a:endParaRPr>
          </a:p>
          <a:p>
            <a:pPr marL="0" indent="0">
              <a:buNone/>
            </a:pPr>
            <a:r>
              <a:rPr lang="en-US" sz="1800" kern="100" dirty="0">
                <a:solidFill>
                  <a:srgbClr val="000000"/>
                </a:solidFill>
                <a:effectLst/>
                <a:latin typeface="Calibri" panose="020F0502020204030204" pitchFamily="34" charset="0"/>
                <a:cs typeface="Times New Roman" panose="02020603050405020304" pitchFamily="18" charset="0"/>
              </a:rPr>
              <a:t> 3. Key Insights &amp; Root Cause Analysis</a:t>
            </a:r>
            <a:endParaRPr lang="en-US" sz="1800" kern="100" dirty="0">
              <a:solidFill>
                <a:srgbClr val="000000"/>
              </a:solidFill>
              <a:effectLst/>
              <a:latin typeface="Calibri" panose="020F0502020204030204" pitchFamily="34" charset="0"/>
              <a:cs typeface="Times New Roman" panose="02020603050405020304" pitchFamily="18" charset="0"/>
            </a:endParaRPr>
          </a:p>
          <a:p>
            <a:pPr marL="0" indent="0">
              <a:buNone/>
            </a:pPr>
            <a:r>
              <a:rPr lang="en-US" altLang="en-IN" sz="1800" kern="100" dirty="0">
                <a:solidFill>
                  <a:srgbClr val="000000"/>
                </a:solidFill>
                <a:effectLst/>
                <a:latin typeface="Calibri" panose="020F0502020204030204" pitchFamily="34" charset="0"/>
                <a:cs typeface="Times New Roman" panose="02020603050405020304" pitchFamily="18" charset="0"/>
              </a:rPr>
              <a:t> </a:t>
            </a:r>
            <a:r>
              <a:rPr lang="en-IN" sz="1800" kern="100" dirty="0">
                <a:solidFill>
                  <a:srgbClr val="000000"/>
                </a:solidFill>
                <a:effectLst/>
                <a:latin typeface="Calibri" panose="020F0502020204030204" pitchFamily="34" charset="0"/>
                <a:cs typeface="Times New Roman" panose="02020603050405020304" pitchFamily="18" charset="0"/>
              </a:rPr>
              <a:t>4. Strategic Recommendations</a:t>
            </a:r>
            <a:endParaRPr lang="en-IN" sz="1800" kern="100" dirty="0">
              <a:solidFill>
                <a:srgbClr val="000000"/>
              </a:solidFill>
              <a:effectLst/>
              <a:latin typeface="Calibri" panose="020F0502020204030204" pitchFamily="34" charset="0"/>
              <a:cs typeface="Times New Roman" panose="02020603050405020304" pitchFamily="18" charset="0"/>
            </a:endParaRPr>
          </a:p>
          <a:p>
            <a:pPr marL="0" indent="0">
              <a:buNone/>
            </a:pPr>
            <a:r>
              <a:rPr lang="en-US" altLang="en-IN" sz="1800" kern="100" dirty="0">
                <a:solidFill>
                  <a:srgbClr val="000000"/>
                </a:solidFill>
                <a:effectLst/>
                <a:latin typeface="Calibri" panose="020F0502020204030204" pitchFamily="34" charset="0"/>
                <a:cs typeface="Times New Roman" panose="02020603050405020304" pitchFamily="18" charset="0"/>
              </a:rPr>
              <a:t> </a:t>
            </a:r>
            <a:r>
              <a:rPr lang="en-IN" sz="1800" kern="100" dirty="0">
                <a:solidFill>
                  <a:srgbClr val="000000"/>
                </a:solidFill>
                <a:effectLst/>
                <a:latin typeface="Calibri" panose="020F0502020204030204" pitchFamily="34" charset="0"/>
                <a:cs typeface="Times New Roman" panose="02020603050405020304" pitchFamily="18" charset="0"/>
              </a:rPr>
              <a:t>5. Performance Monitoring &amp; Continuous Improvement</a:t>
            </a:r>
            <a:endParaRPr lang="en-IN" sz="1800" kern="100" dirty="0">
              <a:effectLst/>
              <a:latin typeface="Calibri" panose="020F0502020204030204" pitchFamily="34" charset="0"/>
              <a:cs typeface="Times New Roman" panose="02020603050405020304" pitchFamily="18" charset="0"/>
            </a:endParaRPr>
          </a:p>
          <a:p>
            <a:pPr marL="0" indent="0">
              <a:buNone/>
            </a:pPr>
            <a:endParaRPr lang="en-IN" sz="1800" kern="100" dirty="0">
              <a:effectLst/>
              <a:latin typeface="Calibri" panose="020F0502020204030204" pitchFamily="34" charset="0"/>
              <a:cs typeface="Times New Roman" panose="02020603050405020304" pitchFamily="18" charset="0"/>
            </a:endParaRPr>
          </a:p>
          <a:p>
            <a:pPr marL="0" indent="0">
              <a:buNone/>
            </a:pPr>
            <a:endParaRPr lang="en-US" sz="1800" kern="100" dirty="0">
              <a:effectLst/>
              <a:latin typeface="Calibri" panose="020F0502020204030204" pitchFamily="34" charset="0"/>
              <a:cs typeface="Times New Roman" panose="02020603050405020304" pitchFamily="18" charset="0"/>
            </a:endParaRPr>
          </a:p>
          <a:p>
            <a:endParaRPr lang="en-US" sz="1800" kern="100" dirty="0">
              <a:effectLst/>
              <a:latin typeface="Calibri" panose="020F0502020204030204" pitchFamily="34" charset="0"/>
              <a:cs typeface="Times New Roman" panose="02020603050405020304" pitchFamily="18" charset="0"/>
            </a:endParaRPr>
          </a:p>
          <a:p>
            <a:endParaRPr lang="en-IN" dirty="0"/>
          </a:p>
        </p:txBody>
      </p:sp>
      <p:pic>
        <p:nvPicPr>
          <p:cNvPr id="4" name="Picture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a:xfrm>
            <a:off x="1227706" y="286603"/>
            <a:ext cx="2234997" cy="467029"/>
          </a:xfrm>
          <a:prstGeom prst="rect">
            <a:avLst/>
          </a:prstGeom>
          <a:noFill/>
          <a:ln>
            <a:noFill/>
          </a:ln>
        </p:spPr>
      </p:pic>
      <p:pic>
        <p:nvPicPr>
          <p:cNvPr id="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27706" y="894343"/>
            <a:ext cx="1464501" cy="70230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r>
              <a:rPr lang="en-US" sz="2800" dirty="0"/>
              <a:t>Methodology </a:t>
            </a:r>
            <a:endParaRPr lang="en-IN" sz="2800" dirty="0"/>
          </a:p>
        </p:txBody>
      </p:sp>
      <p:sp>
        <p:nvSpPr>
          <p:cNvPr id="3" name="Content Placeholder 2"/>
          <p:cNvSpPr>
            <a:spLocks noGrp="1"/>
          </p:cNvSpPr>
          <p:nvPr>
            <p:ph idx="1"/>
          </p:nvPr>
        </p:nvSpPr>
        <p:spPr/>
        <p:txBody>
          <a:bodyPr/>
          <a:lstStyle/>
          <a:p>
            <a:pPr>
              <a:lnSpc>
                <a:spcPct val="107000"/>
              </a:lnSpc>
              <a:spcAft>
                <a:spcPts val="800"/>
              </a:spcAft>
            </a:pPr>
            <a:r>
              <a:rPr lang="en-US" sz="1800" kern="100" dirty="0">
                <a:solidFill>
                  <a:srgbClr val="000000"/>
                </a:solidFill>
                <a:effectLst/>
                <a:latin typeface="Calibri" panose="020F0502020204030204" pitchFamily="34" charset="0"/>
                <a:cs typeface="Times New Roman" panose="02020603050405020304" pitchFamily="18" charset="0"/>
              </a:rPr>
              <a:t> Methodology &amp; Tools</a:t>
            </a:r>
            <a:endParaRPr lang="en-US" sz="1800" kern="100" dirty="0">
              <a:effectLst/>
              <a:latin typeface="Calibri" panose="020F0502020204030204" pitchFamily="34" charset="0"/>
              <a:cs typeface="Times New Roman" panose="02020603050405020304" pitchFamily="18" charset="0"/>
            </a:endParaRPr>
          </a:p>
          <a:p>
            <a:pPr marL="342900" lvl="0" indent="-342900">
              <a:lnSpc>
                <a:spcPct val="107000"/>
              </a:lnSpc>
              <a:spcAft>
                <a:spcPts val="800"/>
              </a:spcAft>
              <a:buFont typeface="Symbol" panose="05050102010706020507" pitchFamily="18" charset="2"/>
              <a:buChar char=""/>
            </a:pPr>
            <a:r>
              <a:rPr lang="en-US" sz="1800" kern="100" dirty="0">
                <a:solidFill>
                  <a:srgbClr val="000000"/>
                </a:solidFill>
                <a:effectLst/>
                <a:latin typeface="Calibri" panose="020F0502020204030204" pitchFamily="34" charset="0"/>
                <a:cs typeface="Times New Roman" panose="02020603050405020304" pitchFamily="18" charset="0"/>
              </a:rPr>
              <a:t>Data Cleaning &amp; Preprocessing: Handle missing values, remove duplicates, and standardize data.</a:t>
            </a:r>
            <a:endParaRPr lang="en-US" sz="1800" kern="100" dirty="0">
              <a:effectLst/>
              <a:latin typeface="Calibri" panose="020F0502020204030204" pitchFamily="34" charset="0"/>
              <a:cs typeface="Times New Roman" panose="02020603050405020304" pitchFamily="18" charset="0"/>
            </a:endParaRPr>
          </a:p>
          <a:p>
            <a:pPr marL="342900" lvl="0" indent="-342900">
              <a:lnSpc>
                <a:spcPct val="107000"/>
              </a:lnSpc>
              <a:spcAft>
                <a:spcPts val="800"/>
              </a:spcAft>
              <a:buFont typeface="Symbol" panose="05050102010706020507" pitchFamily="18" charset="2"/>
              <a:buChar char=""/>
            </a:pPr>
            <a:r>
              <a:rPr lang="en-US" sz="1800" kern="100" dirty="0">
                <a:solidFill>
                  <a:srgbClr val="000000"/>
                </a:solidFill>
                <a:effectLst/>
                <a:latin typeface="Calibri" panose="020F0502020204030204" pitchFamily="34" charset="0"/>
                <a:cs typeface="Times New Roman" panose="02020603050405020304" pitchFamily="18" charset="0"/>
              </a:rPr>
              <a:t>Exploratory Data Analysis (EDA): Use Pivot Tables in Excel to uncover trends and patterns.</a:t>
            </a:r>
            <a:endParaRPr lang="en-US" sz="1800" kern="100" dirty="0">
              <a:effectLst/>
              <a:latin typeface="Calibri" panose="020F0502020204030204" pitchFamily="34" charset="0"/>
              <a:cs typeface="Times New Roman" panose="02020603050405020304" pitchFamily="18" charset="0"/>
            </a:endParaRPr>
          </a:p>
          <a:p>
            <a:pPr marL="342900" lvl="0" indent="-342900">
              <a:lnSpc>
                <a:spcPct val="107000"/>
              </a:lnSpc>
              <a:spcAft>
                <a:spcPts val="800"/>
              </a:spcAft>
              <a:buFont typeface="Symbol" panose="05050102010706020507" pitchFamily="18" charset="2"/>
              <a:buChar char=""/>
            </a:pPr>
            <a:r>
              <a:rPr lang="en-US" sz="1800" kern="100" dirty="0">
                <a:solidFill>
                  <a:srgbClr val="000000"/>
                </a:solidFill>
                <a:effectLst/>
                <a:latin typeface="Calibri" panose="020F0502020204030204" pitchFamily="34" charset="0"/>
                <a:cs typeface="Times New Roman" panose="02020603050405020304" pitchFamily="18" charset="0"/>
              </a:rPr>
              <a:t>Visualization &amp; Insights: Create dashboards and reports to present key findings.</a:t>
            </a:r>
            <a:endParaRPr lang="en-US" sz="1800" kern="100" dirty="0">
              <a:effectLst/>
              <a:latin typeface="Calibri" panose="020F0502020204030204" pitchFamily="34" charset="0"/>
              <a:cs typeface="Times New Roman" panose="02020603050405020304" pitchFamily="18" charset="0"/>
            </a:endParaRPr>
          </a:p>
          <a:p>
            <a:pPr marL="342900" lvl="0" indent="-342900">
              <a:lnSpc>
                <a:spcPct val="107000"/>
              </a:lnSpc>
              <a:spcAft>
                <a:spcPts val="800"/>
              </a:spcAft>
              <a:buFont typeface="Symbol" panose="05050102010706020507" pitchFamily="18" charset="2"/>
              <a:buChar char=""/>
            </a:pPr>
            <a:r>
              <a:rPr lang="en-US" sz="1800" kern="100" dirty="0">
                <a:solidFill>
                  <a:srgbClr val="000000"/>
                </a:solidFill>
                <a:effectLst/>
                <a:latin typeface="Calibri" panose="020F0502020204030204" pitchFamily="34" charset="0"/>
                <a:cs typeface="Times New Roman" panose="02020603050405020304" pitchFamily="18" charset="0"/>
              </a:rPr>
              <a:t>Strategic Recommendations: Develop actionable strategies to improve sales and profitability.</a:t>
            </a:r>
            <a:endParaRPr lang="en-US" sz="1800" kern="100" dirty="0">
              <a:effectLst/>
              <a:latin typeface="Calibri" panose="020F0502020204030204" pitchFamily="34" charset="0"/>
              <a:cs typeface="Times New Roman" panose="02020603050405020304" pitchFamily="18" charset="0"/>
            </a:endParaRPr>
          </a:p>
          <a:p>
            <a:endParaRPr lang="en-IN" dirty="0"/>
          </a:p>
        </p:txBody>
      </p:sp>
      <p:pic>
        <p:nvPicPr>
          <p:cNvPr id="4" name="Picture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a:xfrm>
            <a:off x="1227706" y="286603"/>
            <a:ext cx="2234997" cy="467029"/>
          </a:xfrm>
          <a:prstGeom prst="rect">
            <a:avLst/>
          </a:prstGeom>
          <a:noFill/>
          <a:ln>
            <a:noFill/>
          </a:ln>
        </p:spPr>
      </p:pic>
      <p:pic>
        <p:nvPicPr>
          <p:cNvPr id="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27706" y="894343"/>
            <a:ext cx="1464501" cy="70230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Project Scope</a:t>
            </a:r>
            <a:endParaRPr lang="en-IN" dirty="0"/>
          </a:p>
        </p:txBody>
      </p:sp>
      <p:sp>
        <p:nvSpPr>
          <p:cNvPr id="3" name="Content Placeholder 2"/>
          <p:cNvSpPr>
            <a:spLocks noGrp="1"/>
          </p:cNvSpPr>
          <p:nvPr>
            <p:ph idx="1"/>
          </p:nvPr>
        </p:nvSpPr>
        <p:spPr>
          <a:xfrm>
            <a:off x="1227706" y="1878071"/>
            <a:ext cx="9927974" cy="4276544"/>
          </a:xfrm>
        </p:spPr>
        <p:txBody>
          <a:bodyPr>
            <a:normAutofit fontScale="25000" lnSpcReduction="20000"/>
          </a:bodyPr>
          <a:lstStyle/>
          <a:p>
            <a:pPr>
              <a:lnSpc>
                <a:spcPct val="107000"/>
              </a:lnSpc>
              <a:spcAft>
                <a:spcPts val="800"/>
              </a:spcAft>
            </a:pPr>
            <a:r>
              <a:rPr lang="en-US" sz="5600" kern="100" dirty="0">
                <a:solidFill>
                  <a:srgbClr val="000000"/>
                </a:solidFill>
                <a:effectLst/>
                <a:latin typeface="Calibri" panose="020F0502020204030204" pitchFamily="34" charset="0"/>
                <a:cs typeface="Times New Roman" panose="02020603050405020304" pitchFamily="18" charset="0"/>
              </a:rPr>
              <a:t>1. Project Objective</a:t>
            </a:r>
            <a:endParaRPr lang="en-US" sz="5600" kern="100" dirty="0">
              <a:solidFill>
                <a:srgbClr val="000000"/>
              </a:solidFill>
              <a:effectLst/>
              <a:latin typeface="Calibri" panose="020F0502020204030204" pitchFamily="34" charset="0"/>
              <a:cs typeface="Times New Roman" panose="02020603050405020304" pitchFamily="18" charset="0"/>
            </a:endParaRPr>
          </a:p>
          <a:p>
            <a:pPr>
              <a:lnSpc>
                <a:spcPct val="107000"/>
              </a:lnSpc>
              <a:spcAft>
                <a:spcPts val="800"/>
              </a:spcAft>
            </a:pPr>
            <a:r>
              <a:rPr lang="en-US" sz="5600" kern="100" dirty="0">
                <a:solidFill>
                  <a:srgbClr val="000000"/>
                </a:solidFill>
                <a:effectLst/>
                <a:latin typeface="Calibri" panose="020F0502020204030204" pitchFamily="34" charset="0"/>
                <a:cs typeface="Times New Roman" panose="02020603050405020304" pitchFamily="18" charset="0"/>
              </a:rPr>
              <a:t>To analyze Superstore’s sales and profitability across regions, product categories, and customer segments, identify key drivers of inconsistencies, and develop data-driven strategies to enhance sales performance and overall profitability.</a:t>
            </a:r>
            <a:endParaRPr lang="en-US" sz="5600" kern="100" dirty="0">
              <a:solidFill>
                <a:srgbClr val="000000"/>
              </a:solidFill>
              <a:effectLst/>
              <a:latin typeface="Calibri" panose="020F0502020204030204" pitchFamily="34" charset="0"/>
              <a:cs typeface="Times New Roman" panose="02020603050405020304" pitchFamily="18" charset="0"/>
            </a:endParaRPr>
          </a:p>
          <a:p>
            <a:pPr>
              <a:lnSpc>
                <a:spcPct val="107000"/>
              </a:lnSpc>
              <a:spcAft>
                <a:spcPts val="800"/>
              </a:spcAft>
            </a:pPr>
            <a:r>
              <a:rPr lang="en-US" sz="5600" kern="100" dirty="0">
                <a:solidFill>
                  <a:srgbClr val="000000"/>
                </a:solidFill>
                <a:latin typeface="Calibri" panose="020F0502020204030204" pitchFamily="34" charset="0"/>
                <a:cs typeface="Times New Roman" panose="02020603050405020304" pitchFamily="18" charset="0"/>
              </a:rPr>
              <a:t>2</a:t>
            </a:r>
            <a:r>
              <a:rPr lang="en-US" sz="5600" kern="100" dirty="0">
                <a:solidFill>
                  <a:srgbClr val="000000"/>
                </a:solidFill>
                <a:effectLst/>
                <a:latin typeface="Calibri" panose="020F0502020204030204" pitchFamily="34" charset="0"/>
                <a:cs typeface="Times New Roman" panose="02020603050405020304" pitchFamily="18" charset="0"/>
              </a:rPr>
              <a:t>. Key Focus Areas</a:t>
            </a:r>
            <a:endParaRPr lang="en-US" sz="5600" kern="100" dirty="0">
              <a:effectLst/>
              <a:latin typeface="Calibri" panose="020F0502020204030204" pitchFamily="34" charset="0"/>
              <a:cs typeface="Times New Roman" panose="02020603050405020304" pitchFamily="18" charset="0"/>
            </a:endParaRPr>
          </a:p>
          <a:p>
            <a:pPr marL="342900" lvl="0" indent="-342900">
              <a:lnSpc>
                <a:spcPct val="107000"/>
              </a:lnSpc>
              <a:spcAft>
                <a:spcPts val="800"/>
              </a:spcAft>
              <a:buFont typeface="Symbol" panose="05050102010706020507" pitchFamily="18" charset="2"/>
              <a:buChar char=""/>
            </a:pPr>
            <a:r>
              <a:rPr lang="en-US" sz="5600" kern="100" dirty="0">
                <a:solidFill>
                  <a:srgbClr val="000000"/>
                </a:solidFill>
                <a:effectLst/>
                <a:latin typeface="Calibri" panose="020F0502020204030204" pitchFamily="34" charset="0"/>
                <a:cs typeface="Times New Roman" panose="02020603050405020304" pitchFamily="18" charset="0"/>
              </a:rPr>
              <a:t>Regional Performance: Evaluate sales and profit variations across different geographical locations.</a:t>
            </a:r>
            <a:endParaRPr lang="en-US" sz="5600" kern="100" dirty="0">
              <a:solidFill>
                <a:srgbClr val="000000"/>
              </a:solidFill>
              <a:effectLst/>
              <a:latin typeface="Calibri" panose="020F0502020204030204" pitchFamily="34" charset="0"/>
              <a:cs typeface="Times New Roman" panose="02020603050405020304" pitchFamily="18" charset="0"/>
            </a:endParaRPr>
          </a:p>
          <a:p>
            <a:pPr marL="342900" lvl="0" indent="-342900">
              <a:lnSpc>
                <a:spcPct val="107000"/>
              </a:lnSpc>
              <a:spcAft>
                <a:spcPts val="800"/>
              </a:spcAft>
              <a:buFont typeface="Symbol" panose="05050102010706020507" pitchFamily="18" charset="2"/>
              <a:buChar char=""/>
            </a:pPr>
            <a:r>
              <a:rPr lang="en-US" sz="5600" kern="100" dirty="0">
                <a:solidFill>
                  <a:srgbClr val="000000"/>
                </a:solidFill>
                <a:effectLst/>
                <a:latin typeface="Calibri" panose="020F0502020204030204" pitchFamily="34" charset="0"/>
                <a:cs typeface="Times New Roman" panose="02020603050405020304" pitchFamily="18" charset="0"/>
              </a:rPr>
              <a:t>Product Category Analysis: Identify high- and low-performing product categories.</a:t>
            </a:r>
            <a:endParaRPr lang="en-US" sz="5600" kern="100" dirty="0">
              <a:effectLst/>
              <a:latin typeface="Calibri" panose="020F0502020204030204" pitchFamily="34" charset="0"/>
              <a:cs typeface="Times New Roman" panose="02020603050405020304" pitchFamily="18" charset="0"/>
            </a:endParaRPr>
          </a:p>
          <a:p>
            <a:pPr marL="342900" lvl="0" indent="-342900">
              <a:lnSpc>
                <a:spcPct val="107000"/>
              </a:lnSpc>
              <a:spcAft>
                <a:spcPts val="800"/>
              </a:spcAft>
              <a:buFont typeface="Symbol" panose="05050102010706020507" pitchFamily="18" charset="2"/>
              <a:buChar char=""/>
            </a:pPr>
            <a:r>
              <a:rPr lang="en-US" sz="5600" kern="100" dirty="0">
                <a:solidFill>
                  <a:srgbClr val="000000"/>
                </a:solidFill>
                <a:effectLst/>
                <a:latin typeface="Calibri" panose="020F0502020204030204" pitchFamily="34" charset="0"/>
                <a:cs typeface="Times New Roman" panose="02020603050405020304" pitchFamily="18" charset="0"/>
              </a:rPr>
              <a:t>Customer Segmentation: Assess profitability based on different customer segments and purchasing </a:t>
            </a:r>
            <a:r>
              <a:rPr lang="en-US" sz="5600" kern="100" dirty="0" err="1">
                <a:solidFill>
                  <a:srgbClr val="000000"/>
                </a:solidFill>
                <a:effectLst/>
                <a:latin typeface="Calibri" panose="020F0502020204030204" pitchFamily="34" charset="0"/>
                <a:cs typeface="Times New Roman" panose="02020603050405020304" pitchFamily="18" charset="0"/>
              </a:rPr>
              <a:t>behaviours</a:t>
            </a:r>
            <a:r>
              <a:rPr lang="en-US" sz="5600" kern="100" dirty="0">
                <a:solidFill>
                  <a:srgbClr val="000000"/>
                </a:solidFill>
                <a:effectLst/>
                <a:latin typeface="Calibri" panose="020F0502020204030204" pitchFamily="34" charset="0"/>
                <a:cs typeface="Times New Roman" panose="02020603050405020304" pitchFamily="18" charset="0"/>
              </a:rPr>
              <a:t>.</a:t>
            </a:r>
            <a:endParaRPr lang="en-US" sz="5600" kern="100" dirty="0">
              <a:effectLst/>
              <a:latin typeface="Calibri" panose="020F0502020204030204" pitchFamily="34" charset="0"/>
              <a:cs typeface="Times New Roman" panose="02020603050405020304" pitchFamily="18" charset="0"/>
            </a:endParaRPr>
          </a:p>
          <a:p>
            <a:pPr marL="342900" lvl="0" indent="-342900">
              <a:lnSpc>
                <a:spcPct val="107000"/>
              </a:lnSpc>
              <a:spcAft>
                <a:spcPts val="800"/>
              </a:spcAft>
              <a:buFont typeface="Symbol" panose="05050102010706020507" pitchFamily="18" charset="2"/>
              <a:buChar char=""/>
            </a:pPr>
            <a:r>
              <a:rPr lang="en-US" sz="5600" kern="100" dirty="0">
                <a:solidFill>
                  <a:srgbClr val="000000"/>
                </a:solidFill>
                <a:effectLst/>
                <a:latin typeface="Calibri" panose="020F0502020204030204" pitchFamily="34" charset="0"/>
                <a:cs typeface="Times New Roman" panose="02020603050405020304" pitchFamily="18" charset="0"/>
              </a:rPr>
              <a:t>Pricing &amp; Discount Impact: Analyze how pricing strategies and discounts affect profitability.</a:t>
            </a:r>
            <a:endParaRPr lang="en-US" sz="5600" kern="100" dirty="0">
              <a:effectLst/>
              <a:latin typeface="Calibri" panose="020F0502020204030204" pitchFamily="34" charset="0"/>
              <a:cs typeface="Times New Roman" panose="02020603050405020304" pitchFamily="18" charset="0"/>
            </a:endParaRPr>
          </a:p>
          <a:p>
            <a:pPr marL="342900" lvl="0" indent="-342900">
              <a:lnSpc>
                <a:spcPct val="107000"/>
              </a:lnSpc>
              <a:spcAft>
                <a:spcPts val="800"/>
              </a:spcAft>
              <a:buFont typeface="Symbol" panose="05050102010706020507" pitchFamily="18" charset="2"/>
              <a:buChar char=""/>
            </a:pPr>
            <a:r>
              <a:rPr lang="en-US" sz="5600" kern="100" dirty="0">
                <a:solidFill>
                  <a:srgbClr val="000000"/>
                </a:solidFill>
                <a:effectLst/>
                <a:latin typeface="Calibri" panose="020F0502020204030204" pitchFamily="34" charset="0"/>
                <a:cs typeface="Times New Roman" panose="02020603050405020304" pitchFamily="18" charset="0"/>
              </a:rPr>
              <a:t>Inventory Efficiency: Identify stock imbalances and improve demand forecasting.</a:t>
            </a:r>
            <a:endParaRPr lang="en-US" sz="5600" kern="100" dirty="0">
              <a:effectLst/>
              <a:latin typeface="Calibri" panose="020F0502020204030204" pitchFamily="34" charset="0"/>
              <a:cs typeface="Times New Roman" panose="02020603050405020304" pitchFamily="18" charset="0"/>
            </a:endParaRPr>
          </a:p>
          <a:p>
            <a:endParaRPr lang="en-IN" dirty="0"/>
          </a:p>
        </p:txBody>
      </p:sp>
      <p:pic>
        <p:nvPicPr>
          <p:cNvPr id="4" name="Picture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a:xfrm>
            <a:off x="1227706" y="286603"/>
            <a:ext cx="2234997" cy="467029"/>
          </a:xfrm>
          <a:prstGeom prst="rect">
            <a:avLst/>
          </a:prstGeom>
          <a:noFill/>
          <a:ln>
            <a:noFill/>
          </a:ln>
        </p:spPr>
      </p:pic>
      <p:pic>
        <p:nvPicPr>
          <p:cNvPr id="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27706" y="894343"/>
            <a:ext cx="1464501" cy="70230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Project Scope</a:t>
            </a:r>
            <a:endParaRPr lang="en-IN" dirty="0"/>
          </a:p>
        </p:txBody>
      </p:sp>
      <p:sp>
        <p:nvSpPr>
          <p:cNvPr id="3" name="Content Placeholder 2"/>
          <p:cNvSpPr>
            <a:spLocks noGrp="1"/>
          </p:cNvSpPr>
          <p:nvPr>
            <p:ph idx="1"/>
          </p:nvPr>
        </p:nvSpPr>
        <p:spPr/>
        <p:txBody>
          <a:bodyPr/>
          <a:lstStyle/>
          <a:p>
            <a:pPr>
              <a:lnSpc>
                <a:spcPct val="107000"/>
              </a:lnSpc>
              <a:spcAft>
                <a:spcPts val="800"/>
              </a:spcAft>
            </a:pPr>
            <a:r>
              <a:rPr lang="en-US" sz="1800" kern="100" dirty="0">
                <a:solidFill>
                  <a:srgbClr val="000000"/>
                </a:solidFill>
                <a:effectLst/>
                <a:latin typeface="Calibri" panose="020F0502020204030204" pitchFamily="34" charset="0"/>
                <a:cs typeface="Times New Roman" panose="02020603050405020304" pitchFamily="18" charset="0"/>
              </a:rPr>
              <a:t>3. Data Requirements</a:t>
            </a:r>
            <a:endParaRPr lang="en-US" sz="1800" kern="100" dirty="0">
              <a:effectLst/>
              <a:latin typeface="Calibri" panose="020F0502020204030204" pitchFamily="34" charset="0"/>
              <a:cs typeface="Times New Roman" panose="02020603050405020304" pitchFamily="18" charset="0"/>
            </a:endParaRPr>
          </a:p>
          <a:p>
            <a:pPr marL="342900" lvl="0" indent="-342900">
              <a:lnSpc>
                <a:spcPct val="107000"/>
              </a:lnSpc>
              <a:spcAft>
                <a:spcPts val="800"/>
              </a:spcAft>
              <a:buFont typeface="Symbol" panose="05050102010706020507" pitchFamily="18" charset="2"/>
              <a:buChar char=""/>
            </a:pPr>
            <a:r>
              <a:rPr lang="en-US" sz="1800" kern="100" dirty="0">
                <a:solidFill>
                  <a:srgbClr val="000000"/>
                </a:solidFill>
                <a:effectLst/>
                <a:latin typeface="Calibri" panose="020F0502020204030204" pitchFamily="34" charset="0"/>
                <a:cs typeface="Times New Roman" panose="02020603050405020304" pitchFamily="18" charset="0"/>
              </a:rPr>
              <a:t>Sales data (transactions, revenue, units sold)</a:t>
            </a:r>
            <a:endParaRPr lang="en-US" sz="1800" kern="100" dirty="0">
              <a:effectLst/>
              <a:latin typeface="Calibri" panose="020F0502020204030204" pitchFamily="34" charset="0"/>
              <a:cs typeface="Times New Roman" panose="02020603050405020304" pitchFamily="18" charset="0"/>
            </a:endParaRPr>
          </a:p>
          <a:p>
            <a:pPr marL="342900" lvl="0" indent="-342900">
              <a:lnSpc>
                <a:spcPct val="107000"/>
              </a:lnSpc>
              <a:spcAft>
                <a:spcPts val="800"/>
              </a:spcAft>
              <a:buFont typeface="Symbol" panose="05050102010706020507" pitchFamily="18" charset="2"/>
              <a:buChar char=""/>
            </a:pPr>
            <a:r>
              <a:rPr lang="en-US" sz="1800" kern="100" dirty="0">
                <a:solidFill>
                  <a:srgbClr val="000000"/>
                </a:solidFill>
                <a:effectLst/>
                <a:latin typeface="Calibri" panose="020F0502020204030204" pitchFamily="34" charset="0"/>
                <a:cs typeface="Times New Roman" panose="02020603050405020304" pitchFamily="18" charset="0"/>
              </a:rPr>
              <a:t>Profit data (profit margins, cost structure)</a:t>
            </a:r>
            <a:endParaRPr lang="en-US" sz="1800" kern="100" dirty="0">
              <a:effectLst/>
              <a:latin typeface="Calibri" panose="020F0502020204030204" pitchFamily="34" charset="0"/>
              <a:cs typeface="Times New Roman" panose="02020603050405020304" pitchFamily="18" charset="0"/>
            </a:endParaRPr>
          </a:p>
          <a:p>
            <a:pPr marL="342900" lvl="0" indent="-342900">
              <a:lnSpc>
                <a:spcPct val="107000"/>
              </a:lnSpc>
              <a:spcAft>
                <a:spcPts val="800"/>
              </a:spcAft>
              <a:buFont typeface="Symbol" panose="05050102010706020507" pitchFamily="18" charset="2"/>
              <a:buChar char=""/>
            </a:pPr>
            <a:r>
              <a:rPr lang="en-US" sz="1800" kern="100" dirty="0">
                <a:solidFill>
                  <a:srgbClr val="000000"/>
                </a:solidFill>
                <a:effectLst/>
                <a:latin typeface="Calibri" panose="020F0502020204030204" pitchFamily="34" charset="0"/>
                <a:cs typeface="Times New Roman" panose="02020603050405020304" pitchFamily="18" charset="0"/>
              </a:rPr>
              <a:t>Customer data (demographics, purchase history)</a:t>
            </a:r>
            <a:endParaRPr lang="en-US" sz="1800" kern="100" dirty="0">
              <a:effectLst/>
              <a:latin typeface="Calibri" panose="020F0502020204030204" pitchFamily="34" charset="0"/>
              <a:cs typeface="Times New Roman" panose="02020603050405020304" pitchFamily="18" charset="0"/>
            </a:endParaRPr>
          </a:p>
          <a:p>
            <a:pPr marL="342900" lvl="0" indent="-342900">
              <a:lnSpc>
                <a:spcPct val="107000"/>
              </a:lnSpc>
              <a:spcAft>
                <a:spcPts val="800"/>
              </a:spcAft>
              <a:buFont typeface="Symbol" panose="05050102010706020507" pitchFamily="18" charset="2"/>
              <a:buChar char=""/>
            </a:pPr>
            <a:r>
              <a:rPr lang="en-US" sz="1800" kern="100" dirty="0">
                <a:solidFill>
                  <a:srgbClr val="000000"/>
                </a:solidFill>
                <a:effectLst/>
                <a:latin typeface="Calibri" panose="020F0502020204030204" pitchFamily="34" charset="0"/>
                <a:cs typeface="Times New Roman" panose="02020603050405020304" pitchFamily="18" charset="0"/>
              </a:rPr>
              <a:t>Regional data (location-wise sales and profitability)</a:t>
            </a:r>
            <a:endParaRPr lang="en-US" sz="1800" kern="100" dirty="0">
              <a:effectLst/>
              <a:latin typeface="Calibri" panose="020F0502020204030204" pitchFamily="34" charset="0"/>
              <a:cs typeface="Times New Roman" panose="02020603050405020304" pitchFamily="18" charset="0"/>
            </a:endParaRPr>
          </a:p>
          <a:p>
            <a:pPr marL="342900" lvl="0" indent="-342900">
              <a:lnSpc>
                <a:spcPct val="107000"/>
              </a:lnSpc>
              <a:spcAft>
                <a:spcPts val="800"/>
              </a:spcAft>
              <a:buFont typeface="Symbol" panose="05050102010706020507" pitchFamily="18" charset="2"/>
              <a:buChar char=""/>
            </a:pPr>
            <a:r>
              <a:rPr lang="en-US" sz="1800" kern="100" dirty="0">
                <a:solidFill>
                  <a:srgbClr val="000000"/>
                </a:solidFill>
                <a:effectLst/>
                <a:latin typeface="Calibri" panose="020F0502020204030204" pitchFamily="34" charset="0"/>
                <a:cs typeface="Times New Roman" panose="02020603050405020304" pitchFamily="18" charset="0"/>
              </a:rPr>
              <a:t>Product data (category, SKU performance)</a:t>
            </a:r>
            <a:endParaRPr lang="en-US" sz="1800" kern="100" dirty="0">
              <a:effectLst/>
              <a:latin typeface="Calibri" panose="020F0502020204030204" pitchFamily="34" charset="0"/>
              <a:cs typeface="Times New Roman" panose="02020603050405020304" pitchFamily="18" charset="0"/>
            </a:endParaRPr>
          </a:p>
          <a:p>
            <a:endParaRPr lang="en-IN" dirty="0"/>
          </a:p>
        </p:txBody>
      </p:sp>
      <p:pic>
        <p:nvPicPr>
          <p:cNvPr id="4" name="Picture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a:xfrm>
            <a:off x="1227706" y="286603"/>
            <a:ext cx="2234997" cy="467029"/>
          </a:xfrm>
          <a:prstGeom prst="rect">
            <a:avLst/>
          </a:prstGeom>
          <a:noFill/>
          <a:ln>
            <a:noFill/>
          </a:ln>
        </p:spPr>
      </p:pic>
      <p:pic>
        <p:nvPicPr>
          <p:cNvPr id="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27706" y="894343"/>
            <a:ext cx="1464501" cy="70230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Goals</a:t>
            </a:r>
            <a:endParaRPr lang="en-IN" dirty="0"/>
          </a:p>
        </p:txBody>
      </p:sp>
      <p:pic>
        <p:nvPicPr>
          <p:cNvPr id="4" name="Picture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a:xfrm>
            <a:off x="1227706" y="286603"/>
            <a:ext cx="2234997" cy="467029"/>
          </a:xfrm>
          <a:prstGeom prst="rect">
            <a:avLst/>
          </a:prstGeom>
          <a:noFill/>
          <a:ln>
            <a:noFill/>
          </a:ln>
        </p:spPr>
      </p:pic>
      <p:pic>
        <p:nvPicPr>
          <p:cNvPr id="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27706" y="894343"/>
            <a:ext cx="1464501" cy="702305"/>
          </a:xfrm>
          <a:prstGeom prst="rect">
            <a:avLst/>
          </a:prstGeom>
          <a:noFill/>
          <a:extLst>
            <a:ext uri="{909E8E84-426E-40DD-AFC4-6F175D3DCCD1}">
              <a14:hiddenFill xmlns:a14="http://schemas.microsoft.com/office/drawing/2010/main">
                <a:solidFill>
                  <a:srgbClr val="FFFFFF"/>
                </a:solidFill>
              </a14:hiddenFill>
            </a:ext>
          </a:extLst>
        </p:spPr>
      </p:pic>
      <p:sp>
        <p:nvSpPr>
          <p:cNvPr id="7" name="Content Placeholder 6"/>
          <p:cNvSpPr>
            <a:spLocks noGrp="1"/>
          </p:cNvSpPr>
          <p:nvPr>
            <p:ph idx="1"/>
          </p:nvPr>
        </p:nvSpPr>
        <p:spPr/>
        <p:txBody>
          <a:bodyPr>
            <a:noAutofit/>
          </a:bodyPr>
          <a:lstStyle/>
          <a:p>
            <a:pPr>
              <a:lnSpc>
                <a:spcPct val="107000"/>
              </a:lnSpc>
              <a:spcAft>
                <a:spcPts val="800"/>
              </a:spcAft>
            </a:pPr>
            <a:r>
              <a:rPr lang="en-US" sz="1700" kern="100" dirty="0">
                <a:solidFill>
                  <a:srgbClr val="000000"/>
                </a:solidFill>
                <a:effectLst/>
                <a:latin typeface="Calibri" panose="020F0502020204030204" pitchFamily="34" charset="0"/>
                <a:cs typeface="Times New Roman" panose="02020603050405020304" pitchFamily="18" charset="0"/>
              </a:rPr>
              <a:t>The primary goal is to analyze and understand the key factors driving inconsistencies in sales and profitability across regions, product categories, and customer segments. By leveraging data-driven insights, the company aims to:</a:t>
            </a:r>
            <a:endParaRPr lang="en-US" sz="1700" kern="100" dirty="0">
              <a:effectLst/>
              <a:latin typeface="Calibri" panose="020F0502020204030204" pitchFamily="34" charset="0"/>
              <a:cs typeface="Times New Roman" panose="02020603050405020304" pitchFamily="18" charset="0"/>
            </a:endParaRPr>
          </a:p>
          <a:p>
            <a:pPr marL="342900" lvl="0" indent="-342900">
              <a:lnSpc>
                <a:spcPct val="107000"/>
              </a:lnSpc>
              <a:spcAft>
                <a:spcPts val="800"/>
              </a:spcAft>
              <a:buFont typeface="Times New Roman" panose="02020603050405020304" pitchFamily="18" charset="0"/>
              <a:buAutoNum type="arabicPeriod"/>
            </a:pPr>
            <a:r>
              <a:rPr lang="en-US" sz="1700" kern="100" dirty="0">
                <a:solidFill>
                  <a:srgbClr val="000000"/>
                </a:solidFill>
                <a:effectLst/>
                <a:latin typeface="Calibri" panose="020F0502020204030204" pitchFamily="34" charset="0"/>
                <a:cs typeface="Times New Roman" panose="02020603050405020304" pitchFamily="18" charset="0"/>
              </a:rPr>
              <a:t>Identify Sales &amp; Profitability Trends – Determine which regions, product categories, and customer segments are performing well and which are underperforming.</a:t>
            </a:r>
            <a:endParaRPr lang="en-US" sz="1700" kern="100" dirty="0">
              <a:effectLst/>
              <a:latin typeface="Calibri" panose="020F0502020204030204" pitchFamily="34" charset="0"/>
              <a:cs typeface="Times New Roman" panose="02020603050405020304" pitchFamily="18" charset="0"/>
            </a:endParaRPr>
          </a:p>
          <a:p>
            <a:pPr marL="342900" lvl="0" indent="-342900">
              <a:lnSpc>
                <a:spcPct val="107000"/>
              </a:lnSpc>
              <a:spcAft>
                <a:spcPts val="800"/>
              </a:spcAft>
              <a:buFont typeface="Times New Roman" panose="02020603050405020304" pitchFamily="18" charset="0"/>
              <a:buAutoNum type="arabicPeriod"/>
            </a:pPr>
            <a:r>
              <a:rPr lang="en-US" sz="1700" kern="100" dirty="0">
                <a:solidFill>
                  <a:srgbClr val="000000"/>
                </a:solidFill>
                <a:effectLst/>
                <a:latin typeface="Calibri" panose="020F0502020204030204" pitchFamily="34" charset="0"/>
                <a:cs typeface="Times New Roman" panose="02020603050405020304" pitchFamily="18" charset="0"/>
              </a:rPr>
              <a:t>Uncover Root Causes of Variations – Analyze factors such as pricing, discounts, customer </a:t>
            </a:r>
            <a:r>
              <a:rPr lang="en-US" sz="1700" kern="100" dirty="0" err="1">
                <a:solidFill>
                  <a:srgbClr val="000000"/>
                </a:solidFill>
                <a:effectLst/>
                <a:latin typeface="Calibri" panose="020F0502020204030204" pitchFamily="34" charset="0"/>
                <a:cs typeface="Times New Roman" panose="02020603050405020304" pitchFamily="18" charset="0"/>
              </a:rPr>
              <a:t>behaviour</a:t>
            </a:r>
            <a:r>
              <a:rPr lang="en-US" sz="1700" kern="100" dirty="0">
                <a:solidFill>
                  <a:srgbClr val="000000"/>
                </a:solidFill>
                <a:effectLst/>
                <a:latin typeface="Calibri" panose="020F0502020204030204" pitchFamily="34" charset="0"/>
                <a:cs typeface="Times New Roman" panose="02020603050405020304" pitchFamily="18" charset="0"/>
              </a:rPr>
              <a:t>, and regional demand that impact sales and profitability.</a:t>
            </a:r>
            <a:endParaRPr lang="en-US" sz="1700" kern="100" dirty="0">
              <a:effectLst/>
              <a:latin typeface="Calibri" panose="020F0502020204030204" pitchFamily="34" charset="0"/>
              <a:cs typeface="Times New Roman" panose="02020603050405020304" pitchFamily="18" charset="0"/>
            </a:endParaRPr>
          </a:p>
          <a:p>
            <a:pPr marL="342900" lvl="0" indent="-342900">
              <a:lnSpc>
                <a:spcPct val="107000"/>
              </a:lnSpc>
              <a:spcAft>
                <a:spcPts val="800"/>
              </a:spcAft>
              <a:buFont typeface="Times New Roman" panose="02020603050405020304" pitchFamily="18" charset="0"/>
              <a:buAutoNum type="arabicPeriod"/>
            </a:pPr>
            <a:r>
              <a:rPr lang="en-US" sz="1700" kern="100" dirty="0">
                <a:solidFill>
                  <a:srgbClr val="000000"/>
                </a:solidFill>
                <a:effectLst/>
                <a:latin typeface="Calibri" panose="020F0502020204030204" pitchFamily="34" charset="0"/>
                <a:cs typeface="Times New Roman" panose="02020603050405020304" pitchFamily="18" charset="0"/>
              </a:rPr>
              <a:t>Optimize Business Strategies – Develop data-driven recommendations to improve marketing, inventory management, pricing strategies, and customer targeting.</a:t>
            </a:r>
            <a:endParaRPr lang="en-US" sz="1700" kern="100" dirty="0">
              <a:effectLst/>
              <a:latin typeface="Calibri" panose="020F0502020204030204" pitchFamily="34" charset="0"/>
              <a:cs typeface="Times New Roman" panose="02020603050405020304" pitchFamily="18" charset="0"/>
            </a:endParaRPr>
          </a:p>
          <a:p>
            <a:pPr marL="342900" lvl="0" indent="-342900">
              <a:lnSpc>
                <a:spcPct val="107000"/>
              </a:lnSpc>
              <a:spcAft>
                <a:spcPts val="800"/>
              </a:spcAft>
              <a:buFont typeface="Times New Roman" panose="02020603050405020304" pitchFamily="18" charset="0"/>
              <a:buAutoNum type="arabicPeriod"/>
            </a:pPr>
            <a:r>
              <a:rPr lang="en-US" sz="1700" kern="100" dirty="0">
                <a:solidFill>
                  <a:srgbClr val="000000"/>
                </a:solidFill>
                <a:effectLst/>
                <a:latin typeface="Calibri" panose="020F0502020204030204" pitchFamily="34" charset="0"/>
                <a:cs typeface="Times New Roman" panose="02020603050405020304" pitchFamily="18" charset="0"/>
              </a:rPr>
              <a:t>Enhance Overall Profitability – Implement strategic actions that maximize revenue, reduce inefficiencies, and improve customer satisfaction.</a:t>
            </a:r>
            <a:endParaRPr lang="en-US" sz="1700" kern="100" dirty="0">
              <a:effectLst/>
              <a:latin typeface="Calibri" panose="020F0502020204030204" pitchFamily="34" charset="0"/>
              <a:cs typeface="Times New Roman" panose="02020603050405020304" pitchFamily="18" charset="0"/>
            </a:endParaRPr>
          </a:p>
          <a:p>
            <a:endParaRPr lang="en-US" sz="1500" kern="100" dirty="0">
              <a:effectLst/>
              <a:latin typeface="Calibri" panose="020F0502020204030204" pitchFamily="34" charset="0"/>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KPI’s</a:t>
            </a:r>
            <a:endParaRPr lang="en-IN" dirty="0"/>
          </a:p>
        </p:txBody>
      </p:sp>
      <p:sp>
        <p:nvSpPr>
          <p:cNvPr id="3" name="Content Placeholder 2"/>
          <p:cNvSpPr>
            <a:spLocks noGrp="1"/>
          </p:cNvSpPr>
          <p:nvPr>
            <p:ph idx="1"/>
          </p:nvPr>
        </p:nvSpPr>
        <p:spPr/>
        <p:txBody>
          <a:bodyPr/>
          <a:lstStyle/>
          <a:p>
            <a:r>
              <a:rPr lang="en-US" altLang="en-US" sz="1600">
                <a:latin typeface="Calibri" panose="020F0502020204030204" pitchFamily="34" charset="0"/>
                <a:cs typeface="Calibri" panose="020F0502020204030204" pitchFamily="34" charset="0"/>
              </a:rPr>
              <a:t>To measure and address inconsistencies in sales and profitability, Superstore should track the following KPIs:</a:t>
            </a:r>
            <a:endParaRPr lang="en-US" altLang="en-US" sz="1600">
              <a:latin typeface="Calibri" panose="020F0502020204030204" pitchFamily="34" charset="0"/>
              <a:cs typeface="Calibri" panose="020F0502020204030204" pitchFamily="34" charset="0"/>
            </a:endParaRPr>
          </a:p>
          <a:p>
            <a:r>
              <a:rPr lang="en-US" altLang="en-US" sz="1600">
                <a:latin typeface="Calibri" panose="020F0502020204030204" pitchFamily="34" charset="0"/>
                <a:cs typeface="Calibri" panose="020F0502020204030204" pitchFamily="34" charset="0"/>
              </a:rPr>
              <a:t>1. Sales Performance Metrics</a:t>
            </a:r>
            <a:endParaRPr lang="en-US" altLang="en-US" sz="1600">
              <a:latin typeface="Calibri" panose="020F0502020204030204" pitchFamily="34" charset="0"/>
              <a:cs typeface="Calibri" panose="020F0502020204030204" pitchFamily="34" charset="0"/>
            </a:endParaRPr>
          </a:p>
          <a:p>
            <a:r>
              <a:rPr lang="en-US" altLang="en-US" sz="1600">
                <a:latin typeface="Calibri" panose="020F0502020204030204" pitchFamily="34" charset="0"/>
                <a:cs typeface="Calibri" panose="020F0502020204030204" pitchFamily="34" charset="0"/>
              </a:rPr>
              <a:t>Total Sales Reven</a:t>
            </a:r>
            <a:r>
              <a:rPr lang="en-US" altLang="en-US" sz="1600" i="1">
                <a:latin typeface="Calibri" panose="020F0502020204030204" pitchFamily="34" charset="0"/>
                <a:cs typeface="Calibri" panose="020F0502020204030204" pitchFamily="34" charset="0"/>
              </a:rPr>
              <a:t>ue – Measures overa</a:t>
            </a:r>
            <a:r>
              <a:rPr lang="en-US" altLang="en-US" sz="1600">
                <a:latin typeface="Calibri" panose="020F0502020204030204" pitchFamily="34" charset="0"/>
                <a:cs typeface="Calibri" panose="020F0502020204030204" pitchFamily="34" charset="0"/>
              </a:rPr>
              <a:t>ll sales performance across customer segments.</a:t>
            </a:r>
            <a:endParaRPr lang="en-US" altLang="en-US" sz="1600">
              <a:latin typeface="Calibri" panose="020F0502020204030204" pitchFamily="34" charset="0"/>
              <a:cs typeface="Calibri" panose="020F0502020204030204" pitchFamily="34" charset="0"/>
            </a:endParaRPr>
          </a:p>
        </p:txBody>
      </p:sp>
      <p:pic>
        <p:nvPicPr>
          <p:cNvPr id="4"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1227706" y="286603"/>
            <a:ext cx="2234997" cy="467029"/>
          </a:xfrm>
          <a:prstGeom prst="rect">
            <a:avLst/>
          </a:prstGeom>
          <a:noFill/>
          <a:ln>
            <a:noFill/>
          </a:ln>
        </p:spPr>
      </p:pic>
      <p:pic>
        <p:nvPicPr>
          <p:cNvPr id="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27706" y="894343"/>
            <a:ext cx="1464501" cy="702305"/>
          </a:xfrm>
          <a:prstGeom prst="rect">
            <a:avLst/>
          </a:prstGeom>
          <a:noFill/>
          <a:extLst>
            <a:ext uri="{909E8E84-426E-40DD-AFC4-6F175D3DCCD1}">
              <a14:hiddenFill xmlns:a14="http://schemas.microsoft.com/office/drawing/2010/main">
                <a:solidFill>
                  <a:srgbClr val="FFFFFF"/>
                </a:solidFill>
              </a14:hiddenFill>
            </a:ext>
          </a:extLst>
        </p:spPr>
      </p:pic>
      <p:sp>
        <p:nvSpPr>
          <p:cNvPr id="12" name="Text Box 11"/>
          <p:cNvSpPr txBox="1"/>
          <p:nvPr/>
        </p:nvSpPr>
        <p:spPr>
          <a:xfrm>
            <a:off x="1228090" y="2498090"/>
            <a:ext cx="10866120" cy="3834765"/>
          </a:xfrm>
          <a:prstGeom prst="rect">
            <a:avLst/>
          </a:prstGeom>
          <a:ln w="12700" cmpd="sng">
            <a:solidFill>
              <a:schemeClr val="accent1">
                <a:shade val="50000"/>
              </a:schemeClr>
            </a:solidFill>
            <a:prstDash val="solid"/>
            <a:bevel/>
          </a:ln>
        </p:spPr>
        <p:txBody>
          <a:bodyPr>
            <a:noAutofit/>
          </a:bodyPr>
          <a:p>
            <a:pPr defTabSz="266700">
              <a:lnSpc>
                <a:spcPct val="107000"/>
              </a:lnSpc>
              <a:spcAft>
                <a:spcPts val="800"/>
              </a:spcAft>
            </a:pPr>
          </a:p>
          <a:p>
            <a:pPr defTabSz="266700">
              <a:lnSpc>
                <a:spcPct val="107000"/>
              </a:lnSpc>
              <a:spcAft>
                <a:spcPts val="800"/>
              </a:spcAft>
            </a:pPr>
          </a:p>
          <a:p>
            <a:pPr defTabSz="266700">
              <a:lnSpc>
                <a:spcPct val="107000"/>
              </a:lnSpc>
              <a:spcAft>
                <a:spcPts val="800"/>
              </a:spcAft>
            </a:pPr>
          </a:p>
        </p:txBody>
      </p:sp>
      <p:sp>
        <p:nvSpPr>
          <p:cNvPr id="14" name="Text Box 13"/>
          <p:cNvSpPr txBox="1"/>
          <p:nvPr/>
        </p:nvSpPr>
        <p:spPr>
          <a:xfrm>
            <a:off x="1498600" y="4519930"/>
            <a:ext cx="7137400" cy="203200"/>
          </a:xfrm>
          <a:prstGeom prst="rect">
            <a:avLst/>
          </a:prstGeom>
        </p:spPr>
        <p:txBody>
          <a:bodyPr>
            <a:noAutofit/>
          </a:bodyPr>
          <a:p/>
          <a:p>
            <a:pPr defTabSz="266700">
              <a:lnSpc>
                <a:spcPct val="107000"/>
              </a:lnSpc>
              <a:spcAft>
                <a:spcPts val="800"/>
              </a:spcAft>
            </a:pPr>
            <a:endParaRPr sz="1200" b="1">
              <a:solidFill>
                <a:srgbClr val="C00000"/>
              </a:solidFill>
              <a:latin typeface="Calibri" panose="020F0502020204030204"/>
              <a:ea typeface="Calibri" panose="020F0502020204030204"/>
            </a:endParaRPr>
          </a:p>
          <a:p>
            <a:pPr defTabSz="266700">
              <a:lnSpc>
                <a:spcPct val="107000"/>
              </a:lnSpc>
              <a:spcAft>
                <a:spcPts val="800"/>
              </a:spcAft>
            </a:pPr>
            <a:endParaRPr sz="1200" b="1">
              <a:solidFill>
                <a:srgbClr val="C00000"/>
              </a:solidFill>
              <a:latin typeface="Calibri" panose="020F0502020204030204"/>
              <a:ea typeface="Calibri" panose="020F0502020204030204"/>
            </a:endParaRPr>
          </a:p>
          <a:p>
            <a:pPr defTabSz="266700">
              <a:lnSpc>
                <a:spcPct val="107000"/>
              </a:lnSpc>
              <a:spcAft>
                <a:spcPts val="800"/>
              </a:spcAft>
            </a:pPr>
            <a:endParaRPr sz="1200" b="1">
              <a:solidFill>
                <a:srgbClr val="C00000"/>
              </a:solidFill>
              <a:latin typeface="Calibri" panose="020F0502020204030204"/>
              <a:ea typeface="Calibri" panose="020F0502020204030204"/>
            </a:endParaRPr>
          </a:p>
          <a:p>
            <a:pPr defTabSz="266700">
              <a:lnSpc>
                <a:spcPct val="107000"/>
              </a:lnSpc>
              <a:spcAft>
                <a:spcPts val="800"/>
              </a:spcAft>
            </a:pPr>
            <a:r>
              <a:rPr sz="1600" b="1">
                <a:solidFill>
                  <a:srgbClr val="C00000"/>
                </a:solidFill>
                <a:latin typeface="Calibri" panose="020F0502020204030204"/>
                <a:ea typeface="Calibri" panose="020F0502020204030204"/>
              </a:rPr>
              <a:t>Total Sales by Customer Segment:241130.7679</a:t>
            </a:r>
            <a:endParaRPr sz="1600"/>
          </a:p>
        </p:txBody>
      </p:sp>
      <p:graphicFrame>
        <p:nvGraphicFramePr>
          <p:cNvPr id="3092" name="Chart 1"/>
          <p:cNvGraphicFramePr/>
          <p:nvPr/>
        </p:nvGraphicFramePr>
        <p:xfrm>
          <a:off x="1426210" y="3429000"/>
          <a:ext cx="6762750" cy="2294255"/>
        </p:xfrm>
        <a:graphic>
          <a:graphicData uri="http://schemas.openxmlformats.org/drawingml/2006/chart">
            <c:chart xmlns:c="http://schemas.openxmlformats.org/drawingml/2006/chart" xmlns:r="http://schemas.openxmlformats.org/officeDocument/2006/relationships" r:id="rId1"/>
          </a:graphicData>
        </a:graphic>
      </p:graphicFrame>
      <p:graphicFrame>
        <p:nvGraphicFramePr>
          <p:cNvPr id="17" name="Table 16"/>
          <p:cNvGraphicFramePr/>
          <p:nvPr>
            <p:custDataLst>
              <p:tags r:id="rId4"/>
            </p:custDataLst>
          </p:nvPr>
        </p:nvGraphicFramePr>
        <p:xfrm>
          <a:off x="8506460" y="3380740"/>
          <a:ext cx="2321560" cy="2343150"/>
        </p:xfrm>
        <a:graphic>
          <a:graphicData uri="http://schemas.openxmlformats.org/drawingml/2006/table">
            <a:tbl>
              <a:tblPr/>
              <a:tblGrid>
                <a:gridCol w="1127760"/>
                <a:gridCol w="1193800"/>
              </a:tblGrid>
              <a:tr h="461010">
                <a:tc>
                  <a:txBody>
                    <a:bodyPr/>
                    <a:p>
                      <a:pPr algn="l" fontAlgn="b"/>
                      <a:r>
                        <a:rPr sz="1100" b="1" i="0">
                          <a:solidFill>
                            <a:srgbClr val="FF0000"/>
                          </a:solidFill>
                          <a:latin typeface="Calibri" panose="020F0502020204030204"/>
                          <a:ea typeface="Calibri" panose="020F0502020204030204"/>
                        </a:rPr>
                        <a:t>Segment</a:t>
                      </a:r>
                      <a:endParaRPr sz="1100" b="1" i="0">
                        <a:solidFill>
                          <a:srgbClr val="FF0000"/>
                        </a:solidFill>
                        <a:latin typeface="Calibri" panose="020F0502020204030204"/>
                        <a:ea typeface="Calibri" panose="020F0502020204030204"/>
                      </a:endParaRPr>
                    </a:p>
                  </a:txBody>
                  <a:tcPr marL="7937" marR="7937" marT="7937" marB="0" anchor="b" anchorCtr="0">
                    <a:lnL>
                      <a:noFill/>
                    </a:lnL>
                    <a:lnR>
                      <a:noFill/>
                    </a:lnR>
                    <a:lnT>
                      <a:noFill/>
                    </a:lnT>
                    <a:lnB w="6350" cap="flat" cmpd="sng">
                      <a:solidFill>
                        <a:srgbClr val="8EA9DB"/>
                      </a:solidFill>
                      <a:prstDash val="solid"/>
                      <a:headEnd type="none" w="med" len="med"/>
                      <a:tailEnd type="none" w="med" len="med"/>
                    </a:lnB>
                    <a:solidFill>
                      <a:srgbClr val="D9E1F2"/>
                    </a:solidFill>
                  </a:tcPr>
                </a:tc>
                <a:tc>
                  <a:txBody>
                    <a:bodyPr/>
                    <a:p>
                      <a:pPr algn="l" fontAlgn="b"/>
                      <a:r>
                        <a:rPr sz="1100" b="1" i="0">
                          <a:solidFill>
                            <a:srgbClr val="FF0000"/>
                          </a:solidFill>
                          <a:latin typeface="Calibri" panose="020F0502020204030204"/>
                          <a:ea typeface="Calibri" panose="020F0502020204030204"/>
                        </a:rPr>
                        <a:t>Sum of Sales</a:t>
                      </a:r>
                      <a:endParaRPr sz="1100" b="1" i="0">
                        <a:solidFill>
                          <a:srgbClr val="FF0000"/>
                        </a:solidFill>
                        <a:latin typeface="Calibri" panose="020F0502020204030204"/>
                        <a:ea typeface="Calibri" panose="020F0502020204030204"/>
                      </a:endParaRPr>
                    </a:p>
                  </a:txBody>
                  <a:tcPr marL="7937" marR="7937" marT="7937" marB="0" anchor="b" anchorCtr="0">
                    <a:lnL>
                      <a:noFill/>
                    </a:lnL>
                    <a:lnR>
                      <a:noFill/>
                    </a:lnR>
                    <a:lnT>
                      <a:noFill/>
                    </a:lnT>
                    <a:lnB w="6350" cap="flat" cmpd="sng">
                      <a:solidFill>
                        <a:srgbClr val="8EA9DB"/>
                      </a:solidFill>
                      <a:prstDash val="solid"/>
                      <a:headEnd type="none" w="med" len="med"/>
                      <a:tailEnd type="none" w="med" len="med"/>
                    </a:lnB>
                    <a:solidFill>
                      <a:srgbClr val="D9E1F2"/>
                    </a:solidFill>
                  </a:tcPr>
                </a:tc>
              </a:tr>
              <a:tr h="461010">
                <a:tc>
                  <a:txBody>
                    <a:bodyPr/>
                    <a:p>
                      <a:pPr algn="l" fontAlgn="b"/>
                      <a:r>
                        <a:rPr sz="1100" b="0" i="0">
                          <a:solidFill>
                            <a:srgbClr val="000000"/>
                          </a:solidFill>
                          <a:latin typeface="Calibri" panose="020F0502020204030204"/>
                          <a:ea typeface="Calibri" panose="020F0502020204030204"/>
                        </a:rPr>
                        <a:t>Consumer</a:t>
                      </a:r>
                      <a:endParaRPr sz="1100" b="0" i="0">
                        <a:solidFill>
                          <a:srgbClr val="000000"/>
                        </a:solidFill>
                        <a:latin typeface="Calibri" panose="020F0502020204030204"/>
                        <a:ea typeface="Calibri" panose="020F0502020204030204"/>
                      </a:endParaRPr>
                    </a:p>
                  </a:txBody>
                  <a:tcPr marL="7937" marR="7937" marT="7937" marB="0" anchor="b" anchorCtr="0">
                    <a:lnL>
                      <a:noFill/>
                    </a:lnL>
                    <a:lnR>
                      <a:noFill/>
                    </a:lnR>
                    <a:lnT w="6350" cap="flat" cmpd="sng">
                      <a:solidFill>
                        <a:srgbClr val="8EA9DB"/>
                      </a:solidFill>
                      <a:prstDash val="solid"/>
                      <a:headEnd type="none" w="med" len="med"/>
                      <a:tailEnd type="none" w="med" len="med"/>
                    </a:lnT>
                    <a:lnB>
                      <a:noFill/>
                    </a:lnB>
                    <a:noFill/>
                  </a:tcPr>
                </a:tc>
                <a:tc>
                  <a:txBody>
                    <a:bodyPr/>
                    <a:p>
                      <a:pPr algn="r" fontAlgn="b"/>
                      <a:r>
                        <a:rPr sz="1100" b="0" i="0">
                          <a:solidFill>
                            <a:srgbClr val="000000"/>
                          </a:solidFill>
                          <a:latin typeface="Calibri" panose="020F0502020204030204"/>
                          <a:ea typeface="Calibri" panose="020F0502020204030204"/>
                        </a:rPr>
                        <a:t>118554.3034</a:t>
                      </a:r>
                      <a:endParaRPr sz="1100" b="0" i="0">
                        <a:solidFill>
                          <a:srgbClr val="000000"/>
                        </a:solidFill>
                        <a:latin typeface="Calibri" panose="020F0502020204030204"/>
                        <a:ea typeface="Calibri" panose="020F0502020204030204"/>
                      </a:endParaRPr>
                    </a:p>
                  </a:txBody>
                  <a:tcPr marL="7937" marR="7937" marT="7937" marB="0" anchor="b" anchorCtr="0">
                    <a:lnL>
                      <a:noFill/>
                    </a:lnL>
                    <a:lnR>
                      <a:noFill/>
                    </a:lnR>
                    <a:lnT w="6350" cap="flat" cmpd="sng">
                      <a:solidFill>
                        <a:srgbClr val="8EA9DB"/>
                      </a:solidFill>
                      <a:prstDash val="solid"/>
                      <a:headEnd type="none" w="med" len="med"/>
                      <a:tailEnd type="none" w="med" len="med"/>
                    </a:lnT>
                    <a:lnB>
                      <a:noFill/>
                    </a:lnB>
                    <a:noFill/>
                  </a:tcPr>
                </a:tc>
              </a:tr>
              <a:tr h="461010">
                <a:tc>
                  <a:txBody>
                    <a:bodyPr/>
                    <a:p>
                      <a:pPr algn="l" fontAlgn="b"/>
                      <a:r>
                        <a:rPr sz="1100" b="0" i="0">
                          <a:solidFill>
                            <a:srgbClr val="000000"/>
                          </a:solidFill>
                          <a:latin typeface="Calibri" panose="020F0502020204030204"/>
                          <a:ea typeface="Calibri" panose="020F0502020204030204"/>
                        </a:rPr>
                        <a:t>Corporate</a:t>
                      </a:r>
                      <a:endParaRPr sz="1100" b="0" i="0">
                        <a:solidFill>
                          <a:srgbClr val="000000"/>
                        </a:solidFill>
                        <a:latin typeface="Calibri" panose="020F0502020204030204"/>
                        <a:ea typeface="Calibri" panose="020F0502020204030204"/>
                      </a:endParaRPr>
                    </a:p>
                  </a:txBody>
                  <a:tcPr marL="7937" marR="7937" marT="7937" marB="0" anchor="b" anchorCtr="0">
                    <a:lnL>
                      <a:noFill/>
                    </a:lnL>
                    <a:lnR>
                      <a:noFill/>
                    </a:lnR>
                    <a:lnT>
                      <a:noFill/>
                    </a:lnT>
                    <a:lnB>
                      <a:noFill/>
                    </a:lnB>
                    <a:noFill/>
                  </a:tcPr>
                </a:tc>
                <a:tc>
                  <a:txBody>
                    <a:bodyPr/>
                    <a:p>
                      <a:pPr algn="r" fontAlgn="b"/>
                      <a:r>
                        <a:rPr sz="1100" b="0" i="0">
                          <a:solidFill>
                            <a:srgbClr val="000000"/>
                          </a:solidFill>
                          <a:latin typeface="Calibri" panose="020F0502020204030204"/>
                          <a:ea typeface="Calibri" panose="020F0502020204030204"/>
                        </a:rPr>
                        <a:t>70821.3018</a:t>
                      </a:r>
                      <a:endParaRPr sz="1100" b="0" i="0">
                        <a:solidFill>
                          <a:srgbClr val="000000"/>
                        </a:solidFill>
                        <a:latin typeface="Calibri" panose="020F0502020204030204"/>
                        <a:ea typeface="Calibri" panose="020F0502020204030204"/>
                      </a:endParaRPr>
                    </a:p>
                  </a:txBody>
                  <a:tcPr marL="7937" marR="7937" marT="7937" marB="0" anchor="b" anchorCtr="0">
                    <a:lnL>
                      <a:noFill/>
                    </a:lnL>
                    <a:lnR>
                      <a:noFill/>
                    </a:lnR>
                    <a:lnT>
                      <a:noFill/>
                    </a:lnT>
                    <a:lnB>
                      <a:noFill/>
                    </a:lnB>
                    <a:noFill/>
                  </a:tcPr>
                </a:tc>
              </a:tr>
              <a:tr h="499110">
                <a:tc>
                  <a:txBody>
                    <a:bodyPr/>
                    <a:p>
                      <a:pPr algn="l" fontAlgn="b"/>
                      <a:r>
                        <a:rPr sz="1100" b="0" i="0">
                          <a:solidFill>
                            <a:srgbClr val="000000"/>
                          </a:solidFill>
                          <a:latin typeface="Calibri" panose="020F0502020204030204"/>
                          <a:ea typeface="Calibri" panose="020F0502020204030204"/>
                        </a:rPr>
                        <a:t>Home Office</a:t>
                      </a:r>
                      <a:endParaRPr sz="1100" b="0" i="0">
                        <a:solidFill>
                          <a:srgbClr val="000000"/>
                        </a:solidFill>
                        <a:latin typeface="Calibri" panose="020F0502020204030204"/>
                        <a:ea typeface="Calibri" panose="020F0502020204030204"/>
                      </a:endParaRPr>
                    </a:p>
                  </a:txBody>
                  <a:tcPr marL="7937" marR="7937" marT="7937" marB="0" anchor="b" anchorCtr="0">
                    <a:lnL>
                      <a:noFill/>
                    </a:lnL>
                    <a:lnR>
                      <a:noFill/>
                    </a:lnR>
                    <a:lnT>
                      <a:noFill/>
                    </a:lnT>
                    <a:lnB w="6350" cap="flat" cmpd="sng">
                      <a:solidFill>
                        <a:srgbClr val="8EA9DB"/>
                      </a:solidFill>
                      <a:prstDash val="solid"/>
                      <a:headEnd type="none" w="med" len="med"/>
                      <a:tailEnd type="none" w="med" len="med"/>
                    </a:lnB>
                    <a:noFill/>
                  </a:tcPr>
                </a:tc>
                <a:tc>
                  <a:txBody>
                    <a:bodyPr/>
                    <a:p>
                      <a:pPr algn="r" fontAlgn="b"/>
                      <a:r>
                        <a:rPr sz="1100" b="0" i="0">
                          <a:solidFill>
                            <a:srgbClr val="000000"/>
                          </a:solidFill>
                          <a:latin typeface="Calibri" panose="020F0502020204030204"/>
                          <a:ea typeface="Calibri" panose="020F0502020204030204"/>
                        </a:rPr>
                        <a:t>51755.1627</a:t>
                      </a:r>
                      <a:endParaRPr sz="1100" b="0" i="0">
                        <a:solidFill>
                          <a:srgbClr val="000000"/>
                        </a:solidFill>
                        <a:latin typeface="Calibri" panose="020F0502020204030204"/>
                        <a:ea typeface="Calibri" panose="020F0502020204030204"/>
                      </a:endParaRPr>
                    </a:p>
                  </a:txBody>
                  <a:tcPr marL="7937" marR="7937" marT="7937" marB="0" anchor="b" anchorCtr="0">
                    <a:lnL>
                      <a:noFill/>
                    </a:lnL>
                    <a:lnR>
                      <a:noFill/>
                    </a:lnR>
                    <a:lnT>
                      <a:noFill/>
                    </a:lnT>
                    <a:lnB w="6350" cap="flat" cmpd="sng">
                      <a:solidFill>
                        <a:srgbClr val="8EA9DB"/>
                      </a:solidFill>
                      <a:prstDash val="solid"/>
                      <a:headEnd type="none" w="med" len="med"/>
                      <a:tailEnd type="none" w="med" len="med"/>
                    </a:lnB>
                    <a:noFill/>
                  </a:tcPr>
                </a:tc>
              </a:tr>
              <a:tr h="461010">
                <a:tc>
                  <a:txBody>
                    <a:bodyPr/>
                    <a:p>
                      <a:pPr algn="l" fontAlgn="b"/>
                      <a:r>
                        <a:rPr sz="1100" b="1" i="0">
                          <a:solidFill>
                            <a:srgbClr val="FF0000"/>
                          </a:solidFill>
                          <a:latin typeface="Calibri" panose="020F0502020204030204"/>
                          <a:ea typeface="Calibri" panose="020F0502020204030204"/>
                        </a:rPr>
                        <a:t>Grand Total</a:t>
                      </a:r>
                      <a:endParaRPr sz="1100" b="1" i="0">
                        <a:solidFill>
                          <a:srgbClr val="FF0000"/>
                        </a:solidFill>
                        <a:latin typeface="Calibri" panose="020F0502020204030204"/>
                        <a:ea typeface="Calibri" panose="020F0502020204030204"/>
                      </a:endParaRPr>
                    </a:p>
                  </a:txBody>
                  <a:tcPr marL="7937" marR="7937" marT="7937" marB="0" anchor="b" anchorCtr="0">
                    <a:lnL>
                      <a:noFill/>
                    </a:lnL>
                    <a:lnR>
                      <a:noFill/>
                    </a:lnR>
                    <a:lnT w="6350" cap="flat" cmpd="sng">
                      <a:solidFill>
                        <a:srgbClr val="8EA9DB"/>
                      </a:solidFill>
                      <a:prstDash val="solid"/>
                      <a:headEnd type="none" w="med" len="med"/>
                      <a:tailEnd type="none" w="med" len="med"/>
                    </a:lnT>
                    <a:lnB>
                      <a:noFill/>
                    </a:lnB>
                    <a:solidFill>
                      <a:srgbClr val="D9E1F2"/>
                    </a:solidFill>
                  </a:tcPr>
                </a:tc>
                <a:tc>
                  <a:txBody>
                    <a:bodyPr/>
                    <a:p>
                      <a:pPr algn="r" fontAlgn="b"/>
                      <a:r>
                        <a:rPr sz="1100" b="1" i="0">
                          <a:solidFill>
                            <a:srgbClr val="FF0000"/>
                          </a:solidFill>
                          <a:latin typeface="Calibri" panose="020F0502020204030204"/>
                          <a:ea typeface="Calibri" panose="020F0502020204030204"/>
                        </a:rPr>
                        <a:t>241130.7679</a:t>
                      </a:r>
                      <a:endParaRPr sz="1100" b="1" i="0">
                        <a:solidFill>
                          <a:srgbClr val="FF0000"/>
                        </a:solidFill>
                        <a:latin typeface="Calibri" panose="020F0502020204030204"/>
                        <a:ea typeface="Calibri" panose="020F0502020204030204"/>
                      </a:endParaRPr>
                    </a:p>
                  </a:txBody>
                  <a:tcPr marL="7937" marR="7937" marT="7937" marB="0" anchor="b" anchorCtr="0">
                    <a:lnL>
                      <a:noFill/>
                    </a:lnL>
                    <a:lnR>
                      <a:noFill/>
                    </a:lnR>
                    <a:lnT w="6350" cap="flat" cmpd="sng">
                      <a:solidFill>
                        <a:srgbClr val="8EA9DB"/>
                      </a:solidFill>
                      <a:prstDash val="solid"/>
                      <a:headEnd type="none" w="med" len="med"/>
                      <a:tailEnd type="none" w="med" len="med"/>
                    </a:lnT>
                    <a:lnB>
                      <a:noFill/>
                    </a:lnB>
                    <a:solidFill>
                      <a:srgbClr val="D9E1F2"/>
                    </a:solidFill>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				</a:t>
            </a:r>
            <a:r>
              <a:rPr lang="en-US" dirty="0">
                <a:sym typeface="+mn-ea"/>
              </a:rPr>
              <a:t>KPI’s</a:t>
            </a:r>
            <a:endParaRPr lang="en-US"/>
          </a:p>
        </p:txBody>
      </p:sp>
      <p:sp>
        <p:nvSpPr>
          <p:cNvPr id="3" name="Content Placeholder 2"/>
          <p:cNvSpPr>
            <a:spLocks noGrp="1"/>
          </p:cNvSpPr>
          <p:nvPr>
            <p:ph idx="1"/>
          </p:nvPr>
        </p:nvSpPr>
        <p:spPr>
          <a:xfrm>
            <a:off x="1097280" y="1906270"/>
            <a:ext cx="10058400" cy="3963035"/>
          </a:xfrm>
        </p:spPr>
        <p:txBody>
          <a:bodyPr/>
          <a:p>
            <a:pPr marL="0" indent="0">
              <a:buNone/>
            </a:pPr>
            <a:r>
              <a:rPr lang="en-US" altLang="en-US"/>
              <a:t>Total Sales By Shipping Mode</a:t>
            </a:r>
            <a:endParaRPr lang="en-US" altLang="en-US"/>
          </a:p>
        </p:txBody>
      </p:sp>
      <p:graphicFrame>
        <p:nvGraphicFramePr>
          <p:cNvPr id="5" name="Table 4"/>
          <p:cNvGraphicFramePr/>
          <p:nvPr>
            <p:custDataLst>
              <p:tags r:id="rId2"/>
            </p:custDataLst>
          </p:nvPr>
        </p:nvGraphicFramePr>
        <p:xfrm>
          <a:off x="1188720" y="2624455"/>
          <a:ext cx="4445000" cy="2743200"/>
        </p:xfrm>
        <a:graphic>
          <a:graphicData uri="http://schemas.openxmlformats.org/drawingml/2006/table">
            <a:tbl>
              <a:tblPr/>
              <a:tblGrid>
                <a:gridCol w="2322195"/>
                <a:gridCol w="610870"/>
                <a:gridCol w="1511935"/>
              </a:tblGrid>
              <a:tr h="364490">
                <a:tc>
                  <a:txBody>
                    <a:bodyPr/>
                    <a:p>
                      <a:pPr marL="60960" indent="0" algn="l" fontAlgn="b">
                        <a:lnSpc>
                          <a:spcPct val="107000"/>
                        </a:lnSpc>
                        <a:spcBef>
                          <a:spcPct val="0"/>
                        </a:spcBef>
                        <a:spcAft>
                          <a:spcPts val="800"/>
                        </a:spcAft>
                      </a:pPr>
                      <a:r>
                        <a:rPr sz="1100" b="1" i="0">
                          <a:solidFill>
                            <a:srgbClr val="000000"/>
                          </a:solidFill>
                          <a:latin typeface="Calibri" panose="020F0502020204030204"/>
                          <a:ea typeface="SimSun" panose="02010600030101010101" pitchFamily="2" charset="-122"/>
                        </a:rPr>
                        <a:t>Ship Mode</a:t>
                      </a:r>
                      <a:endParaRPr sz="1100" b="1" i="0">
                        <a:solidFill>
                          <a:srgbClr val="000000"/>
                        </a:solidFill>
                        <a:latin typeface="Calibri" panose="020F0502020204030204"/>
                        <a:ea typeface="SimSun" panose="02010600030101010101" pitchFamily="2" charset="-122"/>
                      </a:endParaRPr>
                    </a:p>
                  </a:txBody>
                  <a:tcPr marL="68580" marR="68580" marT="0" marB="0" anchor="b" anchorCtr="0">
                    <a:lnL>
                      <a:noFill/>
                    </a:lnL>
                    <a:lnR>
                      <a:noFill/>
                    </a:lnR>
                    <a:lnT>
                      <a:noFill/>
                    </a:lnT>
                    <a:lnB w="6350" cap="flat" cmpd="sng">
                      <a:solidFill>
                        <a:srgbClr val="8EA9DB"/>
                      </a:solidFill>
                      <a:prstDash val="solid"/>
                      <a:headEnd type="none" w="med" len="med"/>
                      <a:tailEnd type="none" w="med" len="med"/>
                    </a:lnB>
                    <a:solidFill>
                      <a:srgbClr val="D9E1F2"/>
                    </a:solidFill>
                  </a:tcPr>
                </a:tc>
                <a:tc gridSpan="2">
                  <a:txBody>
                    <a:bodyPr/>
                    <a:p>
                      <a:pPr marL="60960" indent="0" algn="l" fontAlgn="b">
                        <a:lnSpc>
                          <a:spcPct val="107000"/>
                        </a:lnSpc>
                        <a:spcBef>
                          <a:spcPct val="0"/>
                        </a:spcBef>
                        <a:spcAft>
                          <a:spcPts val="800"/>
                        </a:spcAft>
                      </a:pPr>
                      <a:r>
                        <a:rPr sz="1100" b="1" i="0">
                          <a:solidFill>
                            <a:srgbClr val="000000"/>
                          </a:solidFill>
                          <a:latin typeface="Calibri" panose="020F0502020204030204"/>
                          <a:ea typeface="SimSun" panose="02010600030101010101" pitchFamily="2" charset="-122"/>
                        </a:rPr>
                        <a:t>Sum of Sales</a:t>
                      </a:r>
                      <a:endParaRPr sz="1100" b="1" i="0">
                        <a:solidFill>
                          <a:srgbClr val="000000"/>
                        </a:solidFill>
                        <a:latin typeface="Calibri" panose="020F0502020204030204"/>
                        <a:ea typeface="SimSun" panose="02010600030101010101" pitchFamily="2" charset="-122"/>
                      </a:endParaRPr>
                    </a:p>
                  </a:txBody>
                  <a:tcPr marL="68580" marR="68580" marT="0" marB="0" anchor="b" anchorCtr="0">
                    <a:lnL>
                      <a:noFill/>
                    </a:lnL>
                    <a:lnR>
                      <a:noFill/>
                    </a:lnR>
                    <a:lnT>
                      <a:noFill/>
                    </a:lnT>
                    <a:lnB w="6350" cap="flat" cmpd="sng">
                      <a:solidFill>
                        <a:srgbClr val="8EA9DB"/>
                      </a:solidFill>
                      <a:prstDash val="solid"/>
                      <a:headEnd type="none" w="med" len="med"/>
                      <a:tailEnd type="none" w="med" len="med"/>
                    </a:lnB>
                    <a:solidFill>
                      <a:srgbClr val="D9E1F2"/>
                    </a:solidFill>
                  </a:tcPr>
                </a:tc>
                <a:tc hMerge="1">
                  <a:tcPr>
                    <a:lnR>
                      <a:noFill/>
                    </a:lnR>
                    <a:lnT>
                      <a:noFill/>
                    </a:lnT>
                    <a:lnB w="6350" cap="flat" cmpd="sng">
                      <a:solidFill>
                        <a:srgbClr val="8EA9DB"/>
                      </a:solidFill>
                      <a:prstDash val="solid"/>
                      <a:headEnd type="none" w="med" len="med"/>
                      <a:tailEnd type="none" w="med" len="med"/>
                    </a:lnB>
                  </a:tcPr>
                </a:tc>
              </a:tr>
              <a:tr h="363855">
                <a:tc>
                  <a:txBody>
                    <a:bodyPr/>
                    <a:p>
                      <a:pPr marL="60960" indent="0" algn="l" fontAlgn="b">
                        <a:lnSpc>
                          <a:spcPct val="107000"/>
                        </a:lnSpc>
                        <a:spcBef>
                          <a:spcPct val="0"/>
                        </a:spcBef>
                        <a:spcAft>
                          <a:spcPts val="800"/>
                        </a:spcAft>
                      </a:pPr>
                      <a:r>
                        <a:rPr sz="1100" i="0">
                          <a:solidFill>
                            <a:srgbClr val="000000"/>
                          </a:solidFill>
                          <a:latin typeface="Calibri" panose="020F0502020204030204"/>
                          <a:ea typeface="SimSun" panose="02010600030101010101" pitchFamily="2" charset="-122"/>
                        </a:rPr>
                        <a:t>First Class</a:t>
                      </a:r>
                      <a:endParaRPr sz="1100" i="0">
                        <a:solidFill>
                          <a:srgbClr val="000000"/>
                        </a:solidFill>
                        <a:latin typeface="Calibri" panose="020F0502020204030204"/>
                        <a:ea typeface="SimSun" panose="02010600030101010101" pitchFamily="2" charset="-122"/>
                      </a:endParaRPr>
                    </a:p>
                  </a:txBody>
                  <a:tcPr marL="68580" marR="68580" marT="0" marB="0" anchor="b" anchorCtr="0">
                    <a:lnL>
                      <a:noFill/>
                    </a:lnL>
                    <a:lnR>
                      <a:noFill/>
                    </a:lnR>
                    <a:lnT w="6350" cap="flat" cmpd="sng">
                      <a:solidFill>
                        <a:srgbClr val="8EA9DB"/>
                      </a:solidFill>
                      <a:prstDash val="solid"/>
                      <a:headEnd type="none" w="med" len="med"/>
                      <a:tailEnd type="none" w="med" len="med"/>
                    </a:lnT>
                    <a:lnB>
                      <a:noFill/>
                    </a:lnB>
                    <a:noFill/>
                  </a:tcPr>
                </a:tc>
                <a:tc gridSpan="2">
                  <a:txBody>
                    <a:bodyPr/>
                    <a:p>
                      <a:pPr marL="60960" indent="0" algn="r" fontAlgn="b">
                        <a:lnSpc>
                          <a:spcPct val="107000"/>
                        </a:lnSpc>
                        <a:spcBef>
                          <a:spcPct val="0"/>
                        </a:spcBef>
                        <a:spcAft>
                          <a:spcPts val="800"/>
                        </a:spcAft>
                      </a:pPr>
                      <a:r>
                        <a:rPr sz="1100" i="0">
                          <a:solidFill>
                            <a:srgbClr val="000000"/>
                          </a:solidFill>
                          <a:latin typeface="Calibri" panose="020F0502020204030204"/>
                          <a:ea typeface="SimSun" panose="02010600030101010101" pitchFamily="2" charset="-122"/>
                        </a:rPr>
                        <a:t>36982.738</a:t>
                      </a:r>
                      <a:endParaRPr sz="1100" i="0">
                        <a:solidFill>
                          <a:srgbClr val="000000"/>
                        </a:solidFill>
                        <a:latin typeface="Calibri" panose="020F0502020204030204"/>
                        <a:ea typeface="SimSun" panose="02010600030101010101" pitchFamily="2" charset="-122"/>
                      </a:endParaRPr>
                    </a:p>
                  </a:txBody>
                  <a:tcPr marL="68580" marR="68580" marT="0" marB="0" anchor="b" anchorCtr="0">
                    <a:lnL>
                      <a:noFill/>
                    </a:lnL>
                    <a:lnR>
                      <a:noFill/>
                    </a:lnR>
                    <a:lnT w="6350" cap="flat" cmpd="sng">
                      <a:solidFill>
                        <a:srgbClr val="8EA9DB"/>
                      </a:solidFill>
                      <a:prstDash val="solid"/>
                      <a:headEnd type="none" w="med" len="med"/>
                      <a:tailEnd type="none" w="med" len="med"/>
                    </a:lnT>
                    <a:lnB>
                      <a:noFill/>
                    </a:lnB>
                    <a:noFill/>
                  </a:tcPr>
                </a:tc>
                <a:tc hMerge="1">
                  <a:tcPr>
                    <a:lnR>
                      <a:noFill/>
                    </a:lnR>
                    <a:lnT w="6350" cap="flat" cmpd="sng">
                      <a:solidFill>
                        <a:srgbClr val="8EA9DB"/>
                      </a:solidFill>
                      <a:prstDash val="solid"/>
                      <a:headEnd type="none" w="med" len="med"/>
                      <a:tailEnd type="none" w="med" len="med"/>
                    </a:lnT>
                    <a:lnB>
                      <a:noFill/>
                    </a:lnB>
                  </a:tcPr>
                </a:tc>
              </a:tr>
              <a:tr h="364490">
                <a:tc>
                  <a:txBody>
                    <a:bodyPr/>
                    <a:p>
                      <a:pPr marL="60960" indent="0" algn="l" fontAlgn="b">
                        <a:lnSpc>
                          <a:spcPct val="107000"/>
                        </a:lnSpc>
                        <a:spcBef>
                          <a:spcPct val="0"/>
                        </a:spcBef>
                        <a:spcAft>
                          <a:spcPts val="800"/>
                        </a:spcAft>
                      </a:pPr>
                      <a:r>
                        <a:rPr sz="1100" i="0">
                          <a:solidFill>
                            <a:srgbClr val="000000"/>
                          </a:solidFill>
                          <a:latin typeface="Calibri" panose="020F0502020204030204"/>
                          <a:ea typeface="SimSun" panose="02010600030101010101" pitchFamily="2" charset="-122"/>
                        </a:rPr>
                        <a:t>Same Day</a:t>
                      </a:r>
                      <a:endParaRPr sz="1100" i="0">
                        <a:solidFill>
                          <a:srgbClr val="000000"/>
                        </a:solidFill>
                        <a:latin typeface="Calibri" panose="020F0502020204030204"/>
                        <a:ea typeface="SimSun" panose="02010600030101010101" pitchFamily="2" charset="-122"/>
                      </a:endParaRPr>
                    </a:p>
                  </a:txBody>
                  <a:tcPr marL="68580" marR="68580" marT="0" marB="0" anchor="b" anchorCtr="0">
                    <a:lnL>
                      <a:noFill/>
                    </a:lnL>
                    <a:lnR>
                      <a:noFill/>
                    </a:lnR>
                    <a:lnT>
                      <a:noFill/>
                    </a:lnT>
                    <a:lnB>
                      <a:noFill/>
                    </a:lnB>
                    <a:noFill/>
                  </a:tcPr>
                </a:tc>
                <a:tc gridSpan="2">
                  <a:txBody>
                    <a:bodyPr/>
                    <a:p>
                      <a:pPr marL="60960" indent="0" algn="r" fontAlgn="b">
                        <a:lnSpc>
                          <a:spcPct val="107000"/>
                        </a:lnSpc>
                        <a:spcBef>
                          <a:spcPct val="0"/>
                        </a:spcBef>
                        <a:spcAft>
                          <a:spcPts val="800"/>
                        </a:spcAft>
                      </a:pPr>
                      <a:r>
                        <a:rPr sz="1100" i="0">
                          <a:solidFill>
                            <a:srgbClr val="000000"/>
                          </a:solidFill>
                          <a:latin typeface="Calibri" panose="020F0502020204030204"/>
                          <a:ea typeface="SimSun" panose="02010600030101010101" pitchFamily="2" charset="-122"/>
                        </a:rPr>
                        <a:t>13988.912</a:t>
                      </a:r>
                      <a:endParaRPr sz="1100" i="0">
                        <a:solidFill>
                          <a:srgbClr val="000000"/>
                        </a:solidFill>
                        <a:latin typeface="Calibri" panose="020F0502020204030204"/>
                        <a:ea typeface="SimSun" panose="02010600030101010101" pitchFamily="2" charset="-122"/>
                      </a:endParaRPr>
                    </a:p>
                  </a:txBody>
                  <a:tcPr marL="68580" marR="68580" marT="0" marB="0" anchor="b" anchorCtr="0">
                    <a:lnL>
                      <a:noFill/>
                    </a:lnL>
                    <a:lnR>
                      <a:noFill/>
                    </a:lnR>
                    <a:lnT>
                      <a:noFill/>
                    </a:lnT>
                    <a:lnB>
                      <a:noFill/>
                    </a:lnB>
                    <a:noFill/>
                  </a:tcPr>
                </a:tc>
                <a:tc hMerge="1">
                  <a:tcPr>
                    <a:lnR>
                      <a:noFill/>
                    </a:lnR>
                    <a:lnT>
                      <a:noFill/>
                    </a:lnT>
                    <a:lnB>
                      <a:noFill/>
                    </a:lnB>
                  </a:tcPr>
                </a:tc>
              </a:tr>
              <a:tr h="363855">
                <a:tc>
                  <a:txBody>
                    <a:bodyPr/>
                    <a:p>
                      <a:pPr marL="60960" indent="0" algn="l" fontAlgn="b">
                        <a:lnSpc>
                          <a:spcPct val="107000"/>
                        </a:lnSpc>
                        <a:spcBef>
                          <a:spcPct val="0"/>
                        </a:spcBef>
                        <a:spcAft>
                          <a:spcPts val="800"/>
                        </a:spcAft>
                      </a:pPr>
                      <a:r>
                        <a:rPr sz="1100" i="0">
                          <a:solidFill>
                            <a:srgbClr val="000000"/>
                          </a:solidFill>
                          <a:latin typeface="Calibri" panose="020F0502020204030204"/>
                          <a:ea typeface="SimSun" panose="02010600030101010101" pitchFamily="2" charset="-122"/>
                        </a:rPr>
                        <a:t>Second Class</a:t>
                      </a:r>
                      <a:endParaRPr sz="1100" i="0">
                        <a:solidFill>
                          <a:srgbClr val="000000"/>
                        </a:solidFill>
                        <a:latin typeface="Calibri" panose="020F0502020204030204"/>
                        <a:ea typeface="SimSun" panose="02010600030101010101" pitchFamily="2" charset="-122"/>
                      </a:endParaRPr>
                    </a:p>
                  </a:txBody>
                  <a:tcPr marL="68580" marR="68580" marT="0" marB="0" anchor="b" anchorCtr="0">
                    <a:lnL>
                      <a:noFill/>
                    </a:lnL>
                    <a:lnR>
                      <a:noFill/>
                    </a:lnR>
                    <a:lnT>
                      <a:noFill/>
                    </a:lnT>
                    <a:lnB>
                      <a:noFill/>
                    </a:lnB>
                    <a:noFill/>
                  </a:tcPr>
                </a:tc>
                <a:tc gridSpan="2">
                  <a:txBody>
                    <a:bodyPr/>
                    <a:p>
                      <a:pPr marL="60960" indent="0" algn="r" fontAlgn="b">
                        <a:lnSpc>
                          <a:spcPct val="107000"/>
                        </a:lnSpc>
                        <a:spcBef>
                          <a:spcPct val="0"/>
                        </a:spcBef>
                        <a:spcAft>
                          <a:spcPts val="800"/>
                        </a:spcAft>
                      </a:pPr>
                      <a:r>
                        <a:rPr sz="1100" i="0">
                          <a:solidFill>
                            <a:srgbClr val="000000"/>
                          </a:solidFill>
                          <a:latin typeface="Calibri" panose="020F0502020204030204"/>
                          <a:ea typeface="SimSun" panose="02010600030101010101" pitchFamily="2" charset="-122"/>
                        </a:rPr>
                        <a:t>49014.0856</a:t>
                      </a:r>
                      <a:endParaRPr sz="1100" i="0">
                        <a:solidFill>
                          <a:srgbClr val="000000"/>
                        </a:solidFill>
                        <a:latin typeface="Calibri" panose="020F0502020204030204"/>
                        <a:ea typeface="SimSun" panose="02010600030101010101" pitchFamily="2" charset="-122"/>
                      </a:endParaRPr>
                    </a:p>
                  </a:txBody>
                  <a:tcPr marL="68580" marR="68580" marT="0" marB="0" anchor="b" anchorCtr="0">
                    <a:lnL>
                      <a:noFill/>
                    </a:lnL>
                    <a:lnR>
                      <a:noFill/>
                    </a:lnR>
                    <a:lnT>
                      <a:noFill/>
                    </a:lnT>
                    <a:lnB>
                      <a:noFill/>
                    </a:lnB>
                    <a:noFill/>
                  </a:tcPr>
                </a:tc>
                <a:tc hMerge="1">
                  <a:tcPr>
                    <a:lnR>
                      <a:noFill/>
                    </a:lnR>
                    <a:lnT>
                      <a:noFill/>
                    </a:lnT>
                    <a:lnB>
                      <a:noFill/>
                    </a:lnB>
                  </a:tcPr>
                </a:tc>
              </a:tr>
              <a:tr h="364490">
                <a:tc>
                  <a:txBody>
                    <a:bodyPr/>
                    <a:p>
                      <a:pPr marL="60960" indent="0" algn="l" fontAlgn="b">
                        <a:lnSpc>
                          <a:spcPct val="107000"/>
                        </a:lnSpc>
                        <a:spcBef>
                          <a:spcPct val="0"/>
                        </a:spcBef>
                        <a:spcAft>
                          <a:spcPts val="800"/>
                        </a:spcAft>
                      </a:pPr>
                      <a:r>
                        <a:rPr sz="1100" i="0">
                          <a:solidFill>
                            <a:srgbClr val="000000"/>
                          </a:solidFill>
                          <a:latin typeface="Calibri" panose="020F0502020204030204"/>
                          <a:ea typeface="SimSun" panose="02010600030101010101" pitchFamily="2" charset="-122"/>
                        </a:rPr>
                        <a:t>Standard Class</a:t>
                      </a:r>
                      <a:endParaRPr sz="1100" i="0">
                        <a:solidFill>
                          <a:srgbClr val="000000"/>
                        </a:solidFill>
                        <a:latin typeface="Calibri" panose="020F0502020204030204"/>
                        <a:ea typeface="SimSun" panose="02010600030101010101" pitchFamily="2" charset="-122"/>
                      </a:endParaRPr>
                    </a:p>
                  </a:txBody>
                  <a:tcPr marL="68580" marR="68580" marT="0" marB="0" anchor="b" anchorCtr="0">
                    <a:lnL>
                      <a:noFill/>
                    </a:lnL>
                    <a:lnR>
                      <a:noFill/>
                    </a:lnR>
                    <a:lnT>
                      <a:noFill/>
                    </a:lnT>
                    <a:lnB w="6350" cap="flat" cmpd="sng">
                      <a:solidFill>
                        <a:srgbClr val="8EA9DB"/>
                      </a:solidFill>
                      <a:prstDash val="solid"/>
                      <a:headEnd type="none" w="med" len="med"/>
                      <a:tailEnd type="none" w="med" len="med"/>
                    </a:lnB>
                    <a:noFill/>
                  </a:tcPr>
                </a:tc>
                <a:tc gridSpan="2">
                  <a:txBody>
                    <a:bodyPr/>
                    <a:p>
                      <a:pPr marL="60960" indent="0" algn="r" fontAlgn="b">
                        <a:lnSpc>
                          <a:spcPct val="107000"/>
                        </a:lnSpc>
                        <a:spcBef>
                          <a:spcPct val="0"/>
                        </a:spcBef>
                        <a:spcAft>
                          <a:spcPts val="800"/>
                        </a:spcAft>
                      </a:pPr>
                      <a:r>
                        <a:rPr sz="1100" i="0">
                          <a:solidFill>
                            <a:srgbClr val="000000"/>
                          </a:solidFill>
                          <a:latin typeface="Calibri" panose="020F0502020204030204"/>
                          <a:ea typeface="SimSun" panose="02010600030101010101" pitchFamily="2" charset="-122"/>
                        </a:rPr>
                        <a:t>141145.0323</a:t>
                      </a:r>
                      <a:endParaRPr sz="1100" i="0">
                        <a:solidFill>
                          <a:srgbClr val="000000"/>
                        </a:solidFill>
                        <a:latin typeface="Calibri" panose="020F0502020204030204"/>
                        <a:ea typeface="SimSun" panose="02010600030101010101" pitchFamily="2" charset="-122"/>
                      </a:endParaRPr>
                    </a:p>
                  </a:txBody>
                  <a:tcPr marL="68580" marR="68580" marT="0" marB="0" anchor="b" anchorCtr="0">
                    <a:lnL>
                      <a:noFill/>
                    </a:lnL>
                    <a:lnR>
                      <a:noFill/>
                    </a:lnR>
                    <a:lnT>
                      <a:noFill/>
                    </a:lnT>
                    <a:lnB w="6350" cap="flat" cmpd="sng">
                      <a:solidFill>
                        <a:srgbClr val="8EA9DB"/>
                      </a:solidFill>
                      <a:prstDash val="solid"/>
                      <a:headEnd type="none" w="med" len="med"/>
                      <a:tailEnd type="none" w="med" len="med"/>
                    </a:lnB>
                    <a:noFill/>
                  </a:tcPr>
                </a:tc>
                <a:tc hMerge="1">
                  <a:tcPr>
                    <a:lnR>
                      <a:noFill/>
                    </a:lnR>
                    <a:lnT>
                      <a:noFill/>
                    </a:lnT>
                    <a:lnB w="6350" cap="flat" cmpd="sng">
                      <a:solidFill>
                        <a:srgbClr val="8EA9DB"/>
                      </a:solidFill>
                      <a:prstDash val="solid"/>
                      <a:headEnd type="none" w="med" len="med"/>
                      <a:tailEnd type="none" w="med" len="med"/>
                    </a:lnB>
                  </a:tcPr>
                </a:tc>
              </a:tr>
              <a:tr h="363855">
                <a:tc>
                  <a:txBody>
                    <a:bodyPr/>
                    <a:p>
                      <a:pPr marL="60960" indent="0" algn="l" fontAlgn="b">
                        <a:lnSpc>
                          <a:spcPct val="107000"/>
                        </a:lnSpc>
                        <a:spcBef>
                          <a:spcPct val="0"/>
                        </a:spcBef>
                        <a:spcAft>
                          <a:spcPts val="800"/>
                        </a:spcAft>
                      </a:pPr>
                      <a:r>
                        <a:rPr sz="1100" b="1" i="0">
                          <a:solidFill>
                            <a:srgbClr val="000000"/>
                          </a:solidFill>
                          <a:latin typeface="Calibri" panose="020F0502020204030204"/>
                          <a:ea typeface="SimSun" panose="02010600030101010101" pitchFamily="2" charset="-122"/>
                        </a:rPr>
                        <a:t>Grand Total</a:t>
                      </a:r>
                      <a:endParaRPr sz="1100" b="1" i="0">
                        <a:solidFill>
                          <a:srgbClr val="000000"/>
                        </a:solidFill>
                        <a:latin typeface="Calibri" panose="020F0502020204030204"/>
                        <a:ea typeface="SimSun" panose="02010600030101010101" pitchFamily="2" charset="-122"/>
                      </a:endParaRPr>
                    </a:p>
                  </a:txBody>
                  <a:tcPr marL="68580" marR="68580" marT="0" marB="0" anchor="b" anchorCtr="0">
                    <a:lnL>
                      <a:noFill/>
                    </a:lnL>
                    <a:lnR>
                      <a:noFill/>
                    </a:lnR>
                    <a:lnT w="6350" cap="flat" cmpd="sng">
                      <a:solidFill>
                        <a:srgbClr val="8EA9DB"/>
                      </a:solidFill>
                      <a:prstDash val="solid"/>
                      <a:headEnd type="none" w="med" len="med"/>
                      <a:tailEnd type="none" w="med" len="med"/>
                    </a:lnT>
                    <a:lnB>
                      <a:noFill/>
                    </a:lnB>
                    <a:solidFill>
                      <a:srgbClr val="D9E1F2"/>
                    </a:solidFill>
                  </a:tcPr>
                </a:tc>
                <a:tc gridSpan="2">
                  <a:txBody>
                    <a:bodyPr/>
                    <a:p>
                      <a:pPr marL="60960" indent="0" algn="r" fontAlgn="b">
                        <a:lnSpc>
                          <a:spcPct val="107000"/>
                        </a:lnSpc>
                        <a:spcBef>
                          <a:spcPct val="0"/>
                        </a:spcBef>
                        <a:spcAft>
                          <a:spcPts val="800"/>
                        </a:spcAft>
                      </a:pPr>
                      <a:r>
                        <a:rPr sz="1100" b="1" i="0">
                          <a:solidFill>
                            <a:srgbClr val="000000"/>
                          </a:solidFill>
                          <a:latin typeface="Calibri" panose="020F0502020204030204"/>
                          <a:ea typeface="SimSun" panose="02010600030101010101" pitchFamily="2" charset="-122"/>
                        </a:rPr>
                        <a:t>241130.7679</a:t>
                      </a:r>
                      <a:endParaRPr sz="1100" b="1" i="0">
                        <a:solidFill>
                          <a:srgbClr val="000000"/>
                        </a:solidFill>
                        <a:latin typeface="Calibri" panose="020F0502020204030204"/>
                        <a:ea typeface="SimSun" panose="02010600030101010101" pitchFamily="2" charset="-122"/>
                      </a:endParaRPr>
                    </a:p>
                  </a:txBody>
                  <a:tcPr marL="68580" marR="68580" marT="0" marB="0" anchor="b" anchorCtr="0">
                    <a:lnL>
                      <a:noFill/>
                    </a:lnL>
                    <a:lnR>
                      <a:noFill/>
                    </a:lnR>
                    <a:lnT w="6350" cap="flat" cmpd="sng">
                      <a:solidFill>
                        <a:srgbClr val="8EA9DB"/>
                      </a:solidFill>
                      <a:prstDash val="solid"/>
                      <a:headEnd type="none" w="med" len="med"/>
                      <a:tailEnd type="none" w="med" len="med"/>
                    </a:lnT>
                    <a:lnB>
                      <a:noFill/>
                    </a:lnB>
                    <a:solidFill>
                      <a:srgbClr val="D9E1F2"/>
                    </a:solidFill>
                  </a:tcPr>
                </a:tc>
                <a:tc hMerge="1">
                  <a:tcPr>
                    <a:lnR>
                      <a:noFill/>
                    </a:lnR>
                    <a:lnT w="6350" cap="flat" cmpd="sng">
                      <a:solidFill>
                        <a:srgbClr val="8EA9DB"/>
                      </a:solidFill>
                      <a:prstDash val="solid"/>
                      <a:headEnd type="none" w="med" len="med"/>
                      <a:tailEnd type="none" w="med" len="med"/>
                    </a:lnT>
                    <a:lnB>
                      <a:noFill/>
                    </a:lnB>
                  </a:tcPr>
                </a:tc>
              </a:tr>
              <a:tr h="558165">
                <a:tc gridSpan="2">
                  <a:txBody>
                    <a:bodyPr/>
                    <a:p>
                      <a:pPr marL="60960" indent="0" algn="just" fontAlgn="b">
                        <a:lnSpc>
                          <a:spcPct val="107000"/>
                        </a:lnSpc>
                        <a:spcBef>
                          <a:spcPct val="0"/>
                        </a:spcBef>
                        <a:spcAft>
                          <a:spcPts val="800"/>
                        </a:spcAft>
                      </a:pPr>
                      <a:r>
                        <a:rPr sz="1200" b="1" i="0">
                          <a:solidFill>
                            <a:srgbClr val="FF0000"/>
                          </a:solidFill>
                          <a:latin typeface="Calibri" panose="020F0502020204030204"/>
                          <a:ea typeface="SimSun" panose="02010600030101010101" pitchFamily="2" charset="-122"/>
                        </a:rPr>
                        <a:t>Total Sales by shipping mode:241130.7679</a:t>
                      </a:r>
                      <a:endParaRPr sz="1200" b="1" i="0">
                        <a:solidFill>
                          <a:srgbClr val="FF0000"/>
                        </a:solidFill>
                        <a:latin typeface="Calibri" panose="020F0502020204030204"/>
                        <a:ea typeface="SimSun" panose="02010600030101010101" pitchFamily="2" charset="-122"/>
                      </a:endParaRPr>
                    </a:p>
                  </a:txBody>
                  <a:tcPr marL="68580" marR="68580" marT="0" marB="0" anchor="b" anchorCtr="0">
                    <a:lnL>
                      <a:noFill/>
                    </a:lnL>
                    <a:lnR>
                      <a:noFill/>
                    </a:lnR>
                    <a:lnT>
                      <a:noFill/>
                    </a:lnT>
                    <a:lnB>
                      <a:noFill/>
                    </a:lnB>
                    <a:noFill/>
                  </a:tcPr>
                </a:tc>
                <a:tc hMerge="1">
                  <a:tcPr>
                    <a:lnR>
                      <a:noFill/>
                    </a:lnR>
                    <a:lnT>
                      <a:noFill/>
                    </a:lnT>
                    <a:lnB>
                      <a:noFill/>
                    </a:lnB>
                  </a:tcPr>
                </a:tc>
                <a:tc>
                  <a:txBody>
                    <a:bodyPr/>
                    <a:p/>
                  </a:txBody>
                  <a:tcPr marL="60960" marR="0" marT="0" marB="0" anchor="ctr" anchorCtr="0">
                    <a:lnL>
                      <a:noFill/>
                    </a:lnL>
                    <a:lnR>
                      <a:noFill/>
                    </a:lnR>
                    <a:lnT>
                      <a:noFill/>
                    </a:lnT>
                    <a:lnB>
                      <a:noFill/>
                    </a:lnB>
                    <a:noFill/>
                  </a:tcPr>
                </a:tc>
              </a:tr>
            </a:tbl>
          </a:graphicData>
        </a:graphic>
      </p:graphicFrame>
      <p:pic>
        <p:nvPicPr>
          <p:cNvPr id="6"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a:xfrm>
            <a:off x="1227706" y="286603"/>
            <a:ext cx="2234997" cy="467029"/>
          </a:xfrm>
          <a:prstGeom prst="rect">
            <a:avLst/>
          </a:prstGeom>
          <a:noFill/>
          <a:ln>
            <a:noFill/>
          </a:ln>
        </p:spPr>
      </p:pic>
      <p:pic>
        <p:nvPicPr>
          <p:cNvPr id="7"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27706" y="894343"/>
            <a:ext cx="1464501" cy="702305"/>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8" name="Chart 7"/>
          <p:cNvGraphicFramePr/>
          <p:nvPr/>
        </p:nvGraphicFramePr>
        <p:xfrm>
          <a:off x="5762625" y="2624455"/>
          <a:ext cx="4826000" cy="2743200"/>
        </p:xfrm>
        <a:graphic>
          <a:graphicData uri="http://schemas.openxmlformats.org/drawingml/2006/chart">
            <c:chart xmlns:c="http://schemas.openxmlformats.org/drawingml/2006/chart" xmlns:r="http://schemas.openxmlformats.org/officeDocument/2006/relationships" r:id="rId1"/>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					</a:t>
            </a:r>
            <a:r>
              <a:rPr lang="en-US" dirty="0">
                <a:sym typeface="+mn-ea"/>
              </a:rPr>
              <a:t>KPI’s</a:t>
            </a:r>
            <a:endParaRPr lang="en-US"/>
          </a:p>
        </p:txBody>
      </p:sp>
      <p:sp>
        <p:nvSpPr>
          <p:cNvPr id="3" name="Content Placeholder 2"/>
          <p:cNvSpPr>
            <a:spLocks noGrp="1"/>
          </p:cNvSpPr>
          <p:nvPr>
            <p:ph idx="1"/>
          </p:nvPr>
        </p:nvSpPr>
        <p:spPr/>
        <p:txBody>
          <a:bodyPr/>
          <a:p>
            <a:r>
              <a:rPr lang="en-US" altLang="en-US"/>
              <a:t>Total Sales by State</a:t>
            </a:r>
            <a:endParaRPr lang="en-US" altLang="en-US"/>
          </a:p>
          <a:p>
            <a:endParaRPr lang="en-US" altLang="en-US"/>
          </a:p>
          <a:p>
            <a:endParaRPr lang="en-US" altLang="en-US"/>
          </a:p>
          <a:p>
            <a:r>
              <a:rPr lang="en-US" altLang="en-US"/>
              <a:t> Sales by Month</a:t>
            </a:r>
            <a:endParaRPr lang="en-US" altLang="en-US"/>
          </a:p>
          <a:p>
            <a:endParaRPr lang="en-US" altLang="en-US"/>
          </a:p>
        </p:txBody>
      </p:sp>
      <p:pic>
        <p:nvPicPr>
          <p:cNvPr id="6"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1227706" y="286603"/>
            <a:ext cx="2234997" cy="467029"/>
          </a:xfrm>
          <a:prstGeom prst="rect">
            <a:avLst/>
          </a:prstGeom>
          <a:noFill/>
          <a:ln>
            <a:noFill/>
          </a:ln>
        </p:spPr>
      </p:pic>
      <p:pic>
        <p:nvPicPr>
          <p:cNvPr id="7"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27706" y="894343"/>
            <a:ext cx="1464501" cy="702305"/>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4" name="Table 3"/>
          <p:cNvGraphicFramePr/>
          <p:nvPr>
            <p:custDataLst>
              <p:tags r:id="rId4"/>
            </p:custDataLst>
          </p:nvPr>
        </p:nvGraphicFramePr>
        <p:xfrm>
          <a:off x="1381125" y="2668905"/>
          <a:ext cx="9774555" cy="810260"/>
        </p:xfrm>
        <a:graphic>
          <a:graphicData uri="http://schemas.openxmlformats.org/drawingml/2006/table">
            <a:tbl>
              <a:tblPr/>
              <a:tblGrid>
                <a:gridCol w="3110230"/>
                <a:gridCol w="2665095"/>
                <a:gridCol w="3999230"/>
              </a:tblGrid>
              <a:tr h="405130">
                <a:tc>
                  <a:txBody>
                    <a:bodyPr/>
                    <a:p>
                      <a:pPr marL="60960" indent="0" algn="l" fontAlgn="b">
                        <a:lnSpc>
                          <a:spcPct val="107000"/>
                        </a:lnSpc>
                        <a:spcBef>
                          <a:spcPct val="0"/>
                        </a:spcBef>
                        <a:spcAft>
                          <a:spcPts val="800"/>
                        </a:spcAft>
                      </a:pPr>
                      <a:r>
                        <a:rPr sz="1600" i="0">
                          <a:solidFill>
                            <a:srgbClr val="92D050"/>
                          </a:solidFill>
                          <a:latin typeface="Calibri" panose="020F0502020204030204"/>
                          <a:ea typeface="SimSun" panose="02010600030101010101" pitchFamily="2" charset="-122"/>
                        </a:rPr>
                        <a:t>California</a:t>
                      </a:r>
                      <a:endParaRPr sz="1600" i="0">
                        <a:solidFill>
                          <a:srgbClr val="92D050"/>
                        </a:solidFill>
                        <a:latin typeface="Calibri" panose="020F0502020204030204"/>
                        <a:ea typeface="SimSun" panose="02010600030101010101" pitchFamily="2" charset="-122"/>
                      </a:endParaRPr>
                    </a:p>
                  </a:txBody>
                  <a:tcPr marL="68580" marR="68580" marT="0" marB="0" anchor="b" anchorCtr="0">
                    <a:lnL>
                      <a:noFill/>
                    </a:lnL>
                    <a:lnR>
                      <a:noFill/>
                    </a:lnR>
                    <a:lnT>
                      <a:noFill/>
                    </a:lnT>
                    <a:lnB>
                      <a:noFill/>
                    </a:lnB>
                    <a:solidFill>
                      <a:srgbClr val="FF0000"/>
                    </a:solidFill>
                  </a:tcPr>
                </a:tc>
                <a:tc>
                  <a:txBody>
                    <a:bodyPr/>
                    <a:p>
                      <a:pPr marL="60960" indent="0" algn="r" fontAlgn="b">
                        <a:lnSpc>
                          <a:spcPct val="107000"/>
                        </a:lnSpc>
                        <a:spcBef>
                          <a:spcPct val="0"/>
                        </a:spcBef>
                        <a:spcAft>
                          <a:spcPts val="800"/>
                        </a:spcAft>
                      </a:pPr>
                      <a:r>
                        <a:rPr sz="1600" i="0">
                          <a:solidFill>
                            <a:srgbClr val="92D050"/>
                          </a:solidFill>
                          <a:latin typeface="Calibri" panose="020F0502020204030204"/>
                          <a:ea typeface="SimSun" panose="02010600030101010101" pitchFamily="2" charset="-122"/>
                        </a:rPr>
                        <a:t>40979.104</a:t>
                      </a:r>
                      <a:endParaRPr sz="1600" i="0">
                        <a:solidFill>
                          <a:srgbClr val="92D050"/>
                        </a:solidFill>
                        <a:latin typeface="Calibri" panose="020F0502020204030204"/>
                        <a:ea typeface="SimSun" panose="02010600030101010101" pitchFamily="2" charset="-122"/>
                      </a:endParaRPr>
                    </a:p>
                  </a:txBody>
                  <a:tcPr marL="68580" marR="68580" marT="0" marB="0" anchor="b" anchorCtr="0">
                    <a:lnL>
                      <a:noFill/>
                    </a:lnL>
                    <a:lnR>
                      <a:noFill/>
                    </a:lnR>
                    <a:lnT>
                      <a:noFill/>
                    </a:lnT>
                    <a:lnB>
                      <a:noFill/>
                    </a:lnB>
                    <a:solidFill>
                      <a:srgbClr val="FF0000"/>
                    </a:solidFill>
                  </a:tcPr>
                </a:tc>
                <a:tc>
                  <a:txBody>
                    <a:bodyPr/>
                    <a:p>
                      <a:pPr marL="60960" indent="0" algn="ctr" fontAlgn="b">
                        <a:lnSpc>
                          <a:spcPct val="107000"/>
                        </a:lnSpc>
                        <a:spcBef>
                          <a:spcPct val="0"/>
                        </a:spcBef>
                        <a:spcAft>
                          <a:spcPts val="800"/>
                        </a:spcAft>
                      </a:pPr>
                      <a:r>
                        <a:rPr sz="1600" i="0">
                          <a:solidFill>
                            <a:srgbClr val="000000"/>
                          </a:solidFill>
                          <a:latin typeface="Calibri" panose="020F0502020204030204"/>
                          <a:ea typeface="SimSun" panose="02010600030101010101" pitchFamily="2" charset="-122"/>
                        </a:rPr>
                        <a:t>Maximum Sale</a:t>
                      </a:r>
                      <a:endParaRPr sz="1600" i="0">
                        <a:solidFill>
                          <a:srgbClr val="000000"/>
                        </a:solidFill>
                        <a:latin typeface="Calibri" panose="020F0502020204030204"/>
                        <a:ea typeface="SimSun" panose="02010600030101010101" pitchFamily="2" charset="-122"/>
                      </a:endParaRPr>
                    </a:p>
                  </a:txBody>
                  <a:tcPr marL="68580" marR="68580" marT="0" marB="0" anchor="b" anchorCtr="0">
                    <a:lnL>
                      <a:noFill/>
                    </a:lnL>
                    <a:lnR>
                      <a:noFill/>
                    </a:lnR>
                    <a:lnT>
                      <a:noFill/>
                    </a:lnT>
                    <a:lnB>
                      <a:noFill/>
                    </a:lnB>
                    <a:solidFill>
                      <a:srgbClr val="FFFF00"/>
                    </a:solidFill>
                  </a:tcPr>
                </a:tc>
              </a:tr>
              <a:tr h="405130">
                <a:tc>
                  <a:txBody>
                    <a:bodyPr/>
                    <a:p>
                      <a:pPr marL="60960" indent="0" algn="l" fontAlgn="b">
                        <a:lnSpc>
                          <a:spcPct val="107000"/>
                        </a:lnSpc>
                        <a:spcBef>
                          <a:spcPct val="0"/>
                        </a:spcBef>
                        <a:spcAft>
                          <a:spcPts val="800"/>
                        </a:spcAft>
                      </a:pPr>
                      <a:r>
                        <a:rPr sz="1600" i="0">
                          <a:solidFill>
                            <a:srgbClr val="000000"/>
                          </a:solidFill>
                          <a:latin typeface="Calibri" panose="020F0502020204030204"/>
                          <a:ea typeface="SimSun" panose="02010600030101010101" pitchFamily="2" charset="-122"/>
                        </a:rPr>
                        <a:t>Maryland</a:t>
                      </a:r>
                      <a:endParaRPr sz="1600" i="0">
                        <a:solidFill>
                          <a:srgbClr val="000000"/>
                        </a:solidFill>
                        <a:latin typeface="Calibri" panose="020F0502020204030204"/>
                        <a:ea typeface="SimSun" panose="02010600030101010101" pitchFamily="2" charset="-122"/>
                      </a:endParaRPr>
                    </a:p>
                  </a:txBody>
                  <a:tcPr marL="68580" marR="68580" marT="0" marB="0" anchor="b" anchorCtr="0">
                    <a:lnL>
                      <a:noFill/>
                    </a:lnL>
                    <a:lnR>
                      <a:noFill/>
                    </a:lnR>
                    <a:lnT>
                      <a:noFill/>
                    </a:lnT>
                    <a:lnB>
                      <a:noFill/>
                    </a:lnB>
                    <a:solidFill>
                      <a:srgbClr val="FF0000"/>
                    </a:solidFill>
                  </a:tcPr>
                </a:tc>
                <a:tc>
                  <a:txBody>
                    <a:bodyPr/>
                    <a:p>
                      <a:pPr marL="60960" indent="0" algn="r" fontAlgn="b">
                        <a:lnSpc>
                          <a:spcPct val="107000"/>
                        </a:lnSpc>
                        <a:spcBef>
                          <a:spcPct val="0"/>
                        </a:spcBef>
                        <a:spcAft>
                          <a:spcPts val="800"/>
                        </a:spcAft>
                      </a:pPr>
                      <a:r>
                        <a:rPr sz="1600" i="0">
                          <a:solidFill>
                            <a:srgbClr val="000000"/>
                          </a:solidFill>
                          <a:latin typeface="Calibri" panose="020F0502020204030204"/>
                          <a:ea typeface="SimSun" panose="02010600030101010101" pitchFamily="2" charset="-122"/>
                        </a:rPr>
                        <a:t>37.66</a:t>
                      </a:r>
                      <a:endParaRPr sz="1600" i="0">
                        <a:solidFill>
                          <a:srgbClr val="000000"/>
                        </a:solidFill>
                        <a:latin typeface="Calibri" panose="020F0502020204030204"/>
                        <a:ea typeface="SimSun" panose="02010600030101010101" pitchFamily="2" charset="-122"/>
                      </a:endParaRPr>
                    </a:p>
                  </a:txBody>
                  <a:tcPr marL="68580" marR="68580" marT="0" marB="0" anchor="b" anchorCtr="0">
                    <a:lnL>
                      <a:noFill/>
                    </a:lnL>
                    <a:lnR>
                      <a:noFill/>
                    </a:lnR>
                    <a:lnT>
                      <a:noFill/>
                    </a:lnT>
                    <a:lnB>
                      <a:noFill/>
                    </a:lnB>
                    <a:solidFill>
                      <a:srgbClr val="FF0000"/>
                    </a:solidFill>
                  </a:tcPr>
                </a:tc>
                <a:tc>
                  <a:txBody>
                    <a:bodyPr/>
                    <a:p>
                      <a:pPr marL="60960" indent="0" algn="ctr" fontAlgn="b">
                        <a:lnSpc>
                          <a:spcPct val="107000"/>
                        </a:lnSpc>
                        <a:spcBef>
                          <a:spcPct val="0"/>
                        </a:spcBef>
                        <a:spcAft>
                          <a:spcPts val="800"/>
                        </a:spcAft>
                      </a:pPr>
                      <a:r>
                        <a:rPr sz="1600" i="0">
                          <a:solidFill>
                            <a:srgbClr val="000000"/>
                          </a:solidFill>
                          <a:latin typeface="Calibri" panose="020F0502020204030204"/>
                          <a:ea typeface="SimSun" panose="02010600030101010101" pitchFamily="2" charset="-122"/>
                        </a:rPr>
                        <a:t>Minimum Sale</a:t>
                      </a:r>
                      <a:endParaRPr sz="1600" i="0">
                        <a:solidFill>
                          <a:srgbClr val="000000"/>
                        </a:solidFill>
                        <a:latin typeface="Calibri" panose="020F0502020204030204"/>
                        <a:ea typeface="SimSun" panose="02010600030101010101" pitchFamily="2" charset="-122"/>
                      </a:endParaRPr>
                    </a:p>
                  </a:txBody>
                  <a:tcPr marL="68580" marR="68580" marT="0" marB="0" anchor="b" anchorCtr="0">
                    <a:lnL>
                      <a:noFill/>
                    </a:lnL>
                    <a:lnR>
                      <a:noFill/>
                    </a:lnR>
                    <a:lnT>
                      <a:noFill/>
                    </a:lnT>
                    <a:lnB>
                      <a:noFill/>
                    </a:lnB>
                    <a:solidFill>
                      <a:srgbClr val="FFFF00"/>
                    </a:solidFill>
                  </a:tcPr>
                </a:tc>
              </a:tr>
            </a:tbl>
          </a:graphicData>
        </a:graphic>
      </p:graphicFrame>
      <p:sp>
        <p:nvSpPr>
          <p:cNvPr id="5" name="Text Box 4"/>
          <p:cNvSpPr txBox="1"/>
          <p:nvPr/>
        </p:nvSpPr>
        <p:spPr>
          <a:xfrm>
            <a:off x="1381125" y="3189288"/>
            <a:ext cx="5080000" cy="288925"/>
          </a:xfrm>
          <a:prstGeom prst="rect">
            <a:avLst/>
          </a:prstGeom>
        </p:spPr>
        <p:txBody>
          <a:bodyPr>
            <a:spAutoFit/>
          </a:bodyPr>
          <a:p>
            <a:pPr defTabSz="266700">
              <a:lnSpc>
                <a:spcPct val="107000"/>
              </a:lnSpc>
              <a:spcAft>
                <a:spcPts val="800"/>
              </a:spcAft>
            </a:pPr>
            <a:r>
              <a:rPr sz="1200" b="1">
                <a:solidFill>
                  <a:srgbClr val="000000"/>
                </a:solidFill>
                <a:latin typeface="Calibri" panose="020F0502020204030204"/>
                <a:ea typeface="Calibri" panose="020F0502020204030204"/>
              </a:rPr>
              <a:t> </a:t>
            </a:r>
            <a:endParaRPr sz="1200" b="1">
              <a:solidFill>
                <a:srgbClr val="000000"/>
              </a:solidFill>
              <a:latin typeface="Calibri" panose="020F0502020204030204"/>
              <a:ea typeface="Calibri" panose="020F0502020204030204"/>
            </a:endParaRPr>
          </a:p>
        </p:txBody>
      </p:sp>
      <p:graphicFrame>
        <p:nvGraphicFramePr>
          <p:cNvPr id="17411" name="Chart 1"/>
          <p:cNvGraphicFramePr/>
          <p:nvPr/>
        </p:nvGraphicFramePr>
        <p:xfrm>
          <a:off x="1381125" y="3945890"/>
          <a:ext cx="9664700" cy="2286635"/>
        </p:xfrm>
        <a:graphic>
          <a:graphicData uri="http://schemas.openxmlformats.org/drawingml/2006/chart">
            <c:chart xmlns:c="http://schemas.openxmlformats.org/drawingml/2006/chart" xmlns:r="http://schemas.openxmlformats.org/officeDocument/2006/relationships" r:id="rId1"/>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				</a:t>
            </a:r>
            <a:r>
              <a:rPr lang="en-US" dirty="0">
                <a:sym typeface="+mn-ea"/>
              </a:rPr>
              <a:t>KPI’s</a:t>
            </a:r>
            <a:endParaRPr lang="en-US"/>
          </a:p>
        </p:txBody>
      </p:sp>
      <p:sp>
        <p:nvSpPr>
          <p:cNvPr id="3" name="Content Placeholder 2"/>
          <p:cNvSpPr>
            <a:spLocks noGrp="1"/>
          </p:cNvSpPr>
          <p:nvPr>
            <p:ph idx="1"/>
          </p:nvPr>
        </p:nvSpPr>
        <p:spPr/>
        <p:txBody>
          <a:bodyPr/>
          <a:p>
            <a:r>
              <a:rPr lang="en-US" altLang="en-US"/>
              <a:t>2.Profitability Metrics</a:t>
            </a:r>
            <a:endParaRPr lang="en-US" altLang="en-US"/>
          </a:p>
          <a:p>
            <a:r>
              <a:rPr lang="en-US" altLang="en-US"/>
              <a:t>Profit BY Region And Product Category</a:t>
            </a:r>
            <a:endParaRPr lang="en-US" altLang="en-US"/>
          </a:p>
          <a:p>
            <a:endParaRPr lang="en-US" altLang="en-US"/>
          </a:p>
          <a:p>
            <a:endParaRPr lang="en-US" altLang="en-US"/>
          </a:p>
          <a:p>
            <a:endParaRPr lang="en-US" altLang="en-US"/>
          </a:p>
          <a:p>
            <a:endParaRPr lang="en-US" altLang="en-US"/>
          </a:p>
          <a:p>
            <a:r>
              <a:rPr lang="en-US" altLang="en-US"/>
              <a:t>Total Profit By Region And Total Profit By Categories:-18746.1792</a:t>
            </a:r>
            <a:endParaRPr lang="en-US" altLang="en-US"/>
          </a:p>
        </p:txBody>
      </p:sp>
      <p:graphicFrame>
        <p:nvGraphicFramePr>
          <p:cNvPr id="4" name="Table 3"/>
          <p:cNvGraphicFramePr/>
          <p:nvPr>
            <p:custDataLst>
              <p:tags r:id="rId1"/>
            </p:custDataLst>
          </p:nvPr>
        </p:nvGraphicFramePr>
        <p:xfrm>
          <a:off x="1485900" y="3042920"/>
          <a:ext cx="9476105" cy="1818005"/>
        </p:xfrm>
        <a:graphic>
          <a:graphicData uri="http://schemas.openxmlformats.org/drawingml/2006/table">
            <a:tbl>
              <a:tblPr/>
              <a:tblGrid>
                <a:gridCol w="1833245"/>
                <a:gridCol w="2298700"/>
                <a:gridCol w="2051050"/>
                <a:gridCol w="1646555"/>
                <a:gridCol w="1646555"/>
              </a:tblGrid>
              <a:tr h="259715">
                <a:tc>
                  <a:txBody>
                    <a:bodyPr/>
                    <a:p>
                      <a:pPr algn="l" fontAlgn="b"/>
                      <a:r>
                        <a:rPr sz="1100" b="1" i="0">
                          <a:solidFill>
                            <a:srgbClr val="000000"/>
                          </a:solidFill>
                          <a:latin typeface="Calibri" panose="020F0502020204030204"/>
                          <a:ea typeface="Calibri" panose="020F0502020204030204"/>
                        </a:rPr>
                        <a:t>Sum of Profit</a:t>
                      </a:r>
                      <a:endParaRPr sz="1100" b="1" i="0">
                        <a:solidFill>
                          <a:srgbClr val="000000"/>
                        </a:solidFill>
                        <a:latin typeface="Calibri" panose="020F0502020204030204"/>
                        <a:ea typeface="Calibri" panose="020F0502020204030204"/>
                      </a:endParaRPr>
                    </a:p>
                  </a:txBody>
                  <a:tcPr marL="7937" marR="7937" marT="7937" marB="0" anchor="b" anchorCtr="0">
                    <a:lnL>
                      <a:noFill/>
                    </a:lnL>
                    <a:lnR>
                      <a:noFill/>
                    </a:lnR>
                    <a:lnT>
                      <a:noFill/>
                    </a:lnT>
                    <a:lnB w="6350" cap="flat" cmpd="sng">
                      <a:solidFill>
                        <a:srgbClr val="8EA9DB"/>
                      </a:solidFill>
                      <a:prstDash val="solid"/>
                      <a:headEnd type="none" w="med" len="med"/>
                      <a:tailEnd type="none" w="med" len="med"/>
                    </a:lnB>
                    <a:solidFill>
                      <a:srgbClr val="D9E1F2"/>
                    </a:solidFill>
                  </a:tcPr>
                </a:tc>
                <a:tc>
                  <a:txBody>
                    <a:bodyPr/>
                    <a:p>
                      <a:pPr algn="l" fontAlgn="b"/>
                      <a:r>
                        <a:rPr sz="1100" b="1" i="0">
                          <a:solidFill>
                            <a:srgbClr val="000000"/>
                          </a:solidFill>
                          <a:latin typeface="Calibri" panose="020F0502020204030204"/>
                          <a:ea typeface="Calibri" panose="020F0502020204030204"/>
                        </a:rPr>
                        <a:t>Column Labels</a:t>
                      </a:r>
                      <a:endParaRPr sz="1100" b="1" i="0">
                        <a:solidFill>
                          <a:srgbClr val="000000"/>
                        </a:solidFill>
                        <a:latin typeface="Calibri" panose="020F0502020204030204"/>
                        <a:ea typeface="Calibri" panose="020F0502020204030204"/>
                      </a:endParaRPr>
                    </a:p>
                  </a:txBody>
                  <a:tcPr marL="7937" marR="7937" marT="7937" marB="0" anchor="b" anchorCtr="0">
                    <a:lnL>
                      <a:noFill/>
                    </a:lnL>
                    <a:lnR>
                      <a:noFill/>
                    </a:lnR>
                    <a:lnT>
                      <a:noFill/>
                    </a:lnT>
                    <a:lnB w="6350" cap="flat" cmpd="sng">
                      <a:solidFill>
                        <a:srgbClr val="8EA9DB"/>
                      </a:solidFill>
                      <a:prstDash val="solid"/>
                      <a:headEnd type="none" w="med" len="med"/>
                      <a:tailEnd type="none" w="med" len="med"/>
                    </a:lnB>
                    <a:solidFill>
                      <a:srgbClr val="D9E1F2"/>
                    </a:solidFill>
                  </a:tcPr>
                </a:tc>
                <a:tc>
                  <a:txBody>
                    <a:bodyPr/>
                    <a:p>
                      <a:pPr algn="l" fontAlgn="b"/>
                      <a:endParaRPr sz="1100" b="1" i="0">
                        <a:solidFill>
                          <a:srgbClr val="000000"/>
                        </a:solidFill>
                        <a:latin typeface="Calibri" panose="020F0502020204030204"/>
                        <a:ea typeface="Calibri" panose="020F0502020204030204"/>
                      </a:endParaRPr>
                    </a:p>
                  </a:txBody>
                  <a:tcPr marL="7937" marR="7937" marT="7937" marB="0" anchor="b" anchorCtr="0">
                    <a:lnL>
                      <a:noFill/>
                    </a:lnL>
                    <a:lnR>
                      <a:noFill/>
                    </a:lnR>
                    <a:lnT>
                      <a:noFill/>
                    </a:lnT>
                    <a:lnB w="6350" cap="flat" cmpd="sng">
                      <a:solidFill>
                        <a:srgbClr val="8EA9DB"/>
                      </a:solidFill>
                      <a:prstDash val="solid"/>
                      <a:headEnd type="none" w="med" len="med"/>
                      <a:tailEnd type="none" w="med" len="med"/>
                    </a:lnB>
                    <a:solidFill>
                      <a:srgbClr val="D9E1F2"/>
                    </a:solidFill>
                  </a:tcPr>
                </a:tc>
                <a:tc>
                  <a:txBody>
                    <a:bodyPr/>
                    <a:p>
                      <a:pPr algn="l" fontAlgn="b"/>
                      <a:endParaRPr sz="1100" b="1" i="0">
                        <a:solidFill>
                          <a:srgbClr val="000000"/>
                        </a:solidFill>
                        <a:latin typeface="Calibri" panose="020F0502020204030204"/>
                        <a:ea typeface="Calibri" panose="020F0502020204030204"/>
                      </a:endParaRPr>
                    </a:p>
                  </a:txBody>
                  <a:tcPr marL="7937" marR="7937" marT="7937" marB="0" anchor="b" anchorCtr="0">
                    <a:lnL>
                      <a:noFill/>
                    </a:lnL>
                    <a:lnR>
                      <a:noFill/>
                    </a:lnR>
                    <a:lnT>
                      <a:noFill/>
                    </a:lnT>
                    <a:lnB w="6350" cap="flat" cmpd="sng">
                      <a:solidFill>
                        <a:srgbClr val="8EA9DB"/>
                      </a:solidFill>
                      <a:prstDash val="solid"/>
                      <a:headEnd type="none" w="med" len="med"/>
                      <a:tailEnd type="none" w="med" len="med"/>
                    </a:lnB>
                    <a:solidFill>
                      <a:srgbClr val="D9E1F2"/>
                    </a:solidFill>
                  </a:tcPr>
                </a:tc>
                <a:tc>
                  <a:txBody>
                    <a:bodyPr/>
                    <a:p>
                      <a:pPr algn="l" fontAlgn="b"/>
                      <a:endParaRPr sz="1100" b="1" i="0">
                        <a:solidFill>
                          <a:srgbClr val="000000"/>
                        </a:solidFill>
                        <a:latin typeface="Calibri" panose="020F0502020204030204"/>
                        <a:ea typeface="Calibri" panose="020F0502020204030204"/>
                      </a:endParaRPr>
                    </a:p>
                  </a:txBody>
                  <a:tcPr marL="7937" marR="7937" marT="7937" marB="0" anchor="b" anchorCtr="0">
                    <a:lnL>
                      <a:noFill/>
                    </a:lnL>
                    <a:lnR>
                      <a:noFill/>
                    </a:lnR>
                    <a:lnT>
                      <a:noFill/>
                    </a:lnT>
                    <a:lnB w="6350" cap="flat" cmpd="sng">
                      <a:solidFill>
                        <a:srgbClr val="8EA9DB"/>
                      </a:solidFill>
                      <a:prstDash val="solid"/>
                      <a:headEnd type="none" w="med" len="med"/>
                      <a:tailEnd type="none" w="med" len="med"/>
                    </a:lnB>
                    <a:solidFill>
                      <a:srgbClr val="D9E1F2"/>
                    </a:solidFill>
                  </a:tcPr>
                </a:tc>
              </a:tr>
              <a:tr h="259715">
                <a:tc>
                  <a:txBody>
                    <a:bodyPr/>
                    <a:p>
                      <a:pPr algn="l" fontAlgn="b"/>
                      <a:r>
                        <a:rPr sz="1100" b="1" i="0">
                          <a:solidFill>
                            <a:srgbClr val="000000"/>
                          </a:solidFill>
                          <a:latin typeface="Calibri" panose="020F0502020204030204"/>
                          <a:ea typeface="Calibri" panose="020F0502020204030204"/>
                        </a:rPr>
                        <a:t>Row Labels</a:t>
                      </a:r>
                      <a:endParaRPr sz="1100" b="1" i="0">
                        <a:solidFill>
                          <a:srgbClr val="000000"/>
                        </a:solidFill>
                        <a:latin typeface="Calibri" panose="020F0502020204030204"/>
                        <a:ea typeface="Calibri" panose="020F0502020204030204"/>
                      </a:endParaRPr>
                    </a:p>
                  </a:txBody>
                  <a:tcPr marL="7937" marR="7937" marT="7937" marB="0" anchor="b" anchorCtr="0">
                    <a:lnL>
                      <a:noFill/>
                    </a:lnL>
                    <a:lnR>
                      <a:noFill/>
                    </a:lnR>
                    <a:lnT w="6350" cap="flat" cmpd="sng">
                      <a:solidFill>
                        <a:srgbClr val="8EA9DB"/>
                      </a:solidFill>
                      <a:prstDash val="solid"/>
                      <a:headEnd type="none" w="med" len="med"/>
                      <a:tailEnd type="none" w="med" len="med"/>
                    </a:lnT>
                    <a:lnB w="6350" cap="flat" cmpd="sng">
                      <a:solidFill>
                        <a:srgbClr val="8EA9DB"/>
                      </a:solidFill>
                      <a:prstDash val="solid"/>
                      <a:headEnd type="none" w="med" len="med"/>
                      <a:tailEnd type="none" w="med" len="med"/>
                    </a:lnB>
                    <a:solidFill>
                      <a:srgbClr val="D9E1F2"/>
                    </a:solidFill>
                  </a:tcPr>
                </a:tc>
                <a:tc>
                  <a:txBody>
                    <a:bodyPr/>
                    <a:p>
                      <a:pPr algn="l" fontAlgn="b"/>
                      <a:r>
                        <a:rPr sz="1100" b="1" i="0">
                          <a:solidFill>
                            <a:srgbClr val="000000"/>
                          </a:solidFill>
                          <a:latin typeface="Calibri" panose="020F0502020204030204"/>
                          <a:ea typeface="Calibri" panose="020F0502020204030204"/>
                        </a:rPr>
                        <a:t>Furniture</a:t>
                      </a:r>
                      <a:endParaRPr sz="1100" b="1" i="0">
                        <a:solidFill>
                          <a:srgbClr val="000000"/>
                        </a:solidFill>
                        <a:latin typeface="Calibri" panose="020F0502020204030204"/>
                        <a:ea typeface="Calibri" panose="020F0502020204030204"/>
                      </a:endParaRPr>
                    </a:p>
                  </a:txBody>
                  <a:tcPr marL="7937" marR="7937" marT="7937" marB="0" anchor="b" anchorCtr="0">
                    <a:lnL>
                      <a:noFill/>
                    </a:lnL>
                    <a:lnR>
                      <a:noFill/>
                    </a:lnR>
                    <a:lnT w="6350" cap="flat" cmpd="sng">
                      <a:solidFill>
                        <a:srgbClr val="8EA9DB"/>
                      </a:solidFill>
                      <a:prstDash val="solid"/>
                      <a:headEnd type="none" w="med" len="med"/>
                      <a:tailEnd type="none" w="med" len="med"/>
                    </a:lnT>
                    <a:lnB w="6350" cap="flat" cmpd="sng">
                      <a:solidFill>
                        <a:srgbClr val="8EA9DB"/>
                      </a:solidFill>
                      <a:prstDash val="solid"/>
                      <a:headEnd type="none" w="med" len="med"/>
                      <a:tailEnd type="none" w="med" len="med"/>
                    </a:lnB>
                    <a:solidFill>
                      <a:srgbClr val="D9E1F2"/>
                    </a:solidFill>
                  </a:tcPr>
                </a:tc>
                <a:tc>
                  <a:txBody>
                    <a:bodyPr/>
                    <a:p>
                      <a:pPr algn="l" fontAlgn="b"/>
                      <a:r>
                        <a:rPr sz="1100" b="1" i="0">
                          <a:solidFill>
                            <a:srgbClr val="000000"/>
                          </a:solidFill>
                          <a:latin typeface="Calibri" panose="020F0502020204030204"/>
                          <a:ea typeface="Calibri" panose="020F0502020204030204"/>
                        </a:rPr>
                        <a:t>Office Supplies</a:t>
                      </a:r>
                      <a:endParaRPr sz="1100" b="1" i="0">
                        <a:solidFill>
                          <a:srgbClr val="000000"/>
                        </a:solidFill>
                        <a:latin typeface="Calibri" panose="020F0502020204030204"/>
                        <a:ea typeface="Calibri" panose="020F0502020204030204"/>
                      </a:endParaRPr>
                    </a:p>
                  </a:txBody>
                  <a:tcPr marL="7937" marR="7937" marT="7937" marB="0" anchor="b" anchorCtr="0">
                    <a:lnL>
                      <a:noFill/>
                    </a:lnL>
                    <a:lnR>
                      <a:noFill/>
                    </a:lnR>
                    <a:lnT w="6350" cap="flat" cmpd="sng">
                      <a:solidFill>
                        <a:srgbClr val="8EA9DB"/>
                      </a:solidFill>
                      <a:prstDash val="solid"/>
                      <a:headEnd type="none" w="med" len="med"/>
                      <a:tailEnd type="none" w="med" len="med"/>
                    </a:lnT>
                    <a:lnB w="6350" cap="flat" cmpd="sng">
                      <a:solidFill>
                        <a:srgbClr val="8EA9DB"/>
                      </a:solidFill>
                      <a:prstDash val="solid"/>
                      <a:headEnd type="none" w="med" len="med"/>
                      <a:tailEnd type="none" w="med" len="med"/>
                    </a:lnB>
                    <a:solidFill>
                      <a:srgbClr val="D9E1F2"/>
                    </a:solidFill>
                  </a:tcPr>
                </a:tc>
                <a:tc>
                  <a:txBody>
                    <a:bodyPr/>
                    <a:p>
                      <a:pPr algn="l" fontAlgn="b"/>
                      <a:r>
                        <a:rPr sz="1100" b="1" i="0">
                          <a:solidFill>
                            <a:srgbClr val="000000"/>
                          </a:solidFill>
                          <a:latin typeface="Calibri" panose="020F0502020204030204"/>
                          <a:ea typeface="Calibri" panose="020F0502020204030204"/>
                        </a:rPr>
                        <a:t>Technology</a:t>
                      </a:r>
                      <a:endParaRPr sz="1100" b="1" i="0">
                        <a:solidFill>
                          <a:srgbClr val="000000"/>
                        </a:solidFill>
                        <a:latin typeface="Calibri" panose="020F0502020204030204"/>
                        <a:ea typeface="Calibri" panose="020F0502020204030204"/>
                      </a:endParaRPr>
                    </a:p>
                  </a:txBody>
                  <a:tcPr marL="7937" marR="7937" marT="7937" marB="0" anchor="b" anchorCtr="0">
                    <a:lnL>
                      <a:noFill/>
                    </a:lnL>
                    <a:lnR>
                      <a:noFill/>
                    </a:lnR>
                    <a:lnT w="6350" cap="flat" cmpd="sng">
                      <a:solidFill>
                        <a:srgbClr val="8EA9DB"/>
                      </a:solidFill>
                      <a:prstDash val="solid"/>
                      <a:headEnd type="none" w="med" len="med"/>
                      <a:tailEnd type="none" w="med" len="med"/>
                    </a:lnT>
                    <a:lnB w="6350" cap="flat" cmpd="sng">
                      <a:solidFill>
                        <a:srgbClr val="8EA9DB"/>
                      </a:solidFill>
                      <a:prstDash val="solid"/>
                      <a:headEnd type="none" w="med" len="med"/>
                      <a:tailEnd type="none" w="med" len="med"/>
                    </a:lnB>
                    <a:solidFill>
                      <a:srgbClr val="D9E1F2"/>
                    </a:solidFill>
                  </a:tcPr>
                </a:tc>
                <a:tc>
                  <a:txBody>
                    <a:bodyPr/>
                    <a:p>
                      <a:pPr algn="l" fontAlgn="b"/>
                      <a:r>
                        <a:rPr sz="1100" b="1" i="0">
                          <a:solidFill>
                            <a:srgbClr val="000000"/>
                          </a:solidFill>
                          <a:latin typeface="Calibri" panose="020F0502020204030204"/>
                          <a:ea typeface="Calibri" panose="020F0502020204030204"/>
                        </a:rPr>
                        <a:t>Grand Total</a:t>
                      </a:r>
                      <a:endParaRPr sz="1100" b="1" i="0">
                        <a:solidFill>
                          <a:srgbClr val="000000"/>
                        </a:solidFill>
                        <a:latin typeface="Calibri" panose="020F0502020204030204"/>
                        <a:ea typeface="Calibri" panose="020F0502020204030204"/>
                      </a:endParaRPr>
                    </a:p>
                  </a:txBody>
                  <a:tcPr marL="7937" marR="7937" marT="7937" marB="0" anchor="b" anchorCtr="0">
                    <a:lnL>
                      <a:noFill/>
                    </a:lnL>
                    <a:lnR>
                      <a:noFill/>
                    </a:lnR>
                    <a:lnT w="6350" cap="flat" cmpd="sng">
                      <a:solidFill>
                        <a:srgbClr val="8EA9DB"/>
                      </a:solidFill>
                      <a:prstDash val="solid"/>
                      <a:headEnd type="none" w="med" len="med"/>
                      <a:tailEnd type="none" w="med" len="med"/>
                    </a:lnT>
                    <a:lnB w="6350" cap="flat" cmpd="sng">
                      <a:solidFill>
                        <a:srgbClr val="8EA9DB"/>
                      </a:solidFill>
                      <a:prstDash val="solid"/>
                      <a:headEnd type="none" w="med" len="med"/>
                      <a:tailEnd type="none" w="med" len="med"/>
                    </a:lnB>
                    <a:solidFill>
                      <a:srgbClr val="D9E1F2"/>
                    </a:solidFill>
                  </a:tcPr>
                </a:tc>
              </a:tr>
              <a:tr h="259715">
                <a:tc>
                  <a:txBody>
                    <a:bodyPr/>
                    <a:p>
                      <a:pPr algn="l" fontAlgn="b"/>
                      <a:r>
                        <a:rPr sz="1100" b="0" i="0">
                          <a:solidFill>
                            <a:srgbClr val="000000"/>
                          </a:solidFill>
                          <a:latin typeface="Calibri" panose="020F0502020204030204"/>
                          <a:ea typeface="Calibri" panose="020F0502020204030204"/>
                        </a:rPr>
                        <a:t>Central</a:t>
                      </a:r>
                      <a:endParaRPr sz="1100" b="0" i="0">
                        <a:solidFill>
                          <a:srgbClr val="000000"/>
                        </a:solidFill>
                        <a:latin typeface="Calibri" panose="020F0502020204030204"/>
                        <a:ea typeface="Calibri" panose="020F0502020204030204"/>
                      </a:endParaRPr>
                    </a:p>
                  </a:txBody>
                  <a:tcPr marL="7937" marR="7937" marT="7937" marB="0" anchor="b" anchorCtr="0">
                    <a:lnL>
                      <a:noFill/>
                    </a:lnL>
                    <a:lnR>
                      <a:noFill/>
                    </a:lnR>
                    <a:lnT w="6350" cap="flat" cmpd="sng">
                      <a:solidFill>
                        <a:srgbClr val="8EA9DB"/>
                      </a:solidFill>
                      <a:prstDash val="solid"/>
                      <a:headEnd type="none" w="med" len="med"/>
                      <a:tailEnd type="none" w="med" len="med"/>
                    </a:lnT>
                    <a:lnB>
                      <a:noFill/>
                    </a:lnB>
                    <a:noFill/>
                  </a:tcPr>
                </a:tc>
                <a:tc>
                  <a:txBody>
                    <a:bodyPr/>
                    <a:p>
                      <a:pPr algn="r" fontAlgn="b"/>
                      <a:r>
                        <a:rPr sz="1100" b="0" i="0">
                          <a:solidFill>
                            <a:srgbClr val="000000"/>
                          </a:solidFill>
                          <a:latin typeface="Calibri" panose="020F0502020204030204"/>
                          <a:ea typeface="Calibri" panose="020F0502020204030204"/>
                        </a:rPr>
                        <a:t>-662.8125</a:t>
                      </a:r>
                      <a:endParaRPr sz="1100" b="0" i="0">
                        <a:solidFill>
                          <a:srgbClr val="000000"/>
                        </a:solidFill>
                        <a:latin typeface="Calibri" panose="020F0502020204030204"/>
                        <a:ea typeface="Calibri" panose="020F0502020204030204"/>
                      </a:endParaRPr>
                    </a:p>
                  </a:txBody>
                  <a:tcPr marL="7937" marR="7937" marT="7937" marB="0" anchor="b" anchorCtr="0">
                    <a:lnL>
                      <a:noFill/>
                    </a:lnL>
                    <a:lnR>
                      <a:noFill/>
                    </a:lnR>
                    <a:lnT w="6350" cap="flat" cmpd="sng">
                      <a:solidFill>
                        <a:srgbClr val="8EA9DB"/>
                      </a:solidFill>
                      <a:prstDash val="solid"/>
                      <a:headEnd type="none" w="med" len="med"/>
                      <a:tailEnd type="none" w="med" len="med"/>
                    </a:lnT>
                    <a:lnB>
                      <a:noFill/>
                    </a:lnB>
                    <a:noFill/>
                  </a:tcPr>
                </a:tc>
                <a:tc>
                  <a:txBody>
                    <a:bodyPr/>
                    <a:p>
                      <a:pPr algn="r" fontAlgn="b"/>
                      <a:r>
                        <a:rPr sz="1100" b="0" i="0">
                          <a:solidFill>
                            <a:srgbClr val="000000"/>
                          </a:solidFill>
                          <a:latin typeface="Calibri" panose="020F0502020204030204"/>
                          <a:ea typeface="Calibri" panose="020F0502020204030204"/>
                        </a:rPr>
                        <a:t>645.6533</a:t>
                      </a:r>
                      <a:endParaRPr sz="1100" b="0" i="0">
                        <a:solidFill>
                          <a:srgbClr val="000000"/>
                        </a:solidFill>
                        <a:latin typeface="Calibri" panose="020F0502020204030204"/>
                        <a:ea typeface="Calibri" panose="020F0502020204030204"/>
                      </a:endParaRPr>
                    </a:p>
                  </a:txBody>
                  <a:tcPr marL="7937" marR="7937" marT="7937" marB="0" anchor="b" anchorCtr="0">
                    <a:lnL>
                      <a:noFill/>
                    </a:lnL>
                    <a:lnR>
                      <a:noFill/>
                    </a:lnR>
                    <a:lnT w="6350" cap="flat" cmpd="sng">
                      <a:solidFill>
                        <a:srgbClr val="8EA9DB"/>
                      </a:solidFill>
                      <a:prstDash val="solid"/>
                      <a:headEnd type="none" w="med" len="med"/>
                      <a:tailEnd type="none" w="med" len="med"/>
                    </a:lnT>
                    <a:lnB>
                      <a:noFill/>
                    </a:lnB>
                    <a:noFill/>
                  </a:tcPr>
                </a:tc>
                <a:tc>
                  <a:txBody>
                    <a:bodyPr/>
                    <a:p>
                      <a:pPr algn="r" fontAlgn="b"/>
                      <a:r>
                        <a:rPr sz="1100" b="0" i="0">
                          <a:solidFill>
                            <a:srgbClr val="000000"/>
                          </a:solidFill>
                          <a:latin typeface="Calibri" panose="020F0502020204030204"/>
                          <a:ea typeface="Calibri" panose="020F0502020204030204"/>
                        </a:rPr>
                        <a:t>2186.8034</a:t>
                      </a:r>
                      <a:endParaRPr sz="1100" b="0" i="0">
                        <a:solidFill>
                          <a:srgbClr val="000000"/>
                        </a:solidFill>
                        <a:latin typeface="Calibri" panose="020F0502020204030204"/>
                        <a:ea typeface="Calibri" panose="020F0502020204030204"/>
                      </a:endParaRPr>
                    </a:p>
                  </a:txBody>
                  <a:tcPr marL="7937" marR="7937" marT="7937" marB="0" anchor="b" anchorCtr="0">
                    <a:lnL>
                      <a:noFill/>
                    </a:lnL>
                    <a:lnR>
                      <a:noFill/>
                    </a:lnR>
                    <a:lnT w="6350" cap="flat" cmpd="sng">
                      <a:solidFill>
                        <a:srgbClr val="8EA9DB"/>
                      </a:solidFill>
                      <a:prstDash val="solid"/>
                      <a:headEnd type="none" w="med" len="med"/>
                      <a:tailEnd type="none" w="med" len="med"/>
                    </a:lnT>
                    <a:lnB>
                      <a:noFill/>
                    </a:lnB>
                    <a:noFill/>
                  </a:tcPr>
                </a:tc>
                <a:tc>
                  <a:txBody>
                    <a:bodyPr/>
                    <a:p>
                      <a:pPr algn="r" fontAlgn="b"/>
                      <a:r>
                        <a:rPr sz="1100" b="0" i="0">
                          <a:solidFill>
                            <a:srgbClr val="000000"/>
                          </a:solidFill>
                          <a:latin typeface="Calibri" panose="020F0502020204030204"/>
                          <a:ea typeface="Calibri" panose="020F0502020204030204"/>
                        </a:rPr>
                        <a:t>2169.6442</a:t>
                      </a:r>
                      <a:endParaRPr sz="1100" b="0" i="0">
                        <a:solidFill>
                          <a:srgbClr val="000000"/>
                        </a:solidFill>
                        <a:latin typeface="Calibri" panose="020F0502020204030204"/>
                        <a:ea typeface="Calibri" panose="020F0502020204030204"/>
                      </a:endParaRPr>
                    </a:p>
                  </a:txBody>
                  <a:tcPr marL="7937" marR="7937" marT="7937" marB="0" anchor="b" anchorCtr="0">
                    <a:lnL>
                      <a:noFill/>
                    </a:lnL>
                    <a:lnR>
                      <a:noFill/>
                    </a:lnR>
                    <a:lnT w="6350" cap="flat" cmpd="sng">
                      <a:solidFill>
                        <a:srgbClr val="8EA9DB"/>
                      </a:solidFill>
                      <a:prstDash val="solid"/>
                      <a:headEnd type="none" w="med" len="med"/>
                      <a:tailEnd type="none" w="med" len="med"/>
                    </a:lnT>
                    <a:lnB>
                      <a:noFill/>
                    </a:lnB>
                    <a:noFill/>
                  </a:tcPr>
                </a:tc>
              </a:tr>
              <a:tr h="259715">
                <a:tc>
                  <a:txBody>
                    <a:bodyPr/>
                    <a:p>
                      <a:pPr algn="l" fontAlgn="b"/>
                      <a:r>
                        <a:rPr sz="1100" b="0" i="0">
                          <a:solidFill>
                            <a:srgbClr val="000000"/>
                          </a:solidFill>
                          <a:latin typeface="Calibri" panose="020F0502020204030204"/>
                          <a:ea typeface="Calibri" panose="020F0502020204030204"/>
                        </a:rPr>
                        <a:t>East</a:t>
                      </a:r>
                      <a:endParaRPr sz="1100" b="0" i="0">
                        <a:solidFill>
                          <a:srgbClr val="000000"/>
                        </a:solidFill>
                        <a:latin typeface="Calibri" panose="020F0502020204030204"/>
                        <a:ea typeface="Calibri" panose="020F0502020204030204"/>
                      </a:endParaRPr>
                    </a:p>
                  </a:txBody>
                  <a:tcPr marL="7937" marR="7937" marT="7937" marB="0" anchor="b" anchorCtr="0">
                    <a:lnL>
                      <a:noFill/>
                    </a:lnL>
                    <a:lnR>
                      <a:noFill/>
                    </a:lnR>
                    <a:lnT>
                      <a:noFill/>
                    </a:lnT>
                    <a:lnB>
                      <a:noFill/>
                    </a:lnB>
                    <a:noFill/>
                  </a:tcPr>
                </a:tc>
                <a:tc>
                  <a:txBody>
                    <a:bodyPr/>
                    <a:p>
                      <a:pPr algn="r" fontAlgn="b"/>
                      <a:r>
                        <a:rPr sz="1100" b="0" i="0">
                          <a:solidFill>
                            <a:srgbClr val="000000"/>
                          </a:solidFill>
                          <a:latin typeface="Calibri" panose="020F0502020204030204"/>
                          <a:ea typeface="Calibri" panose="020F0502020204030204"/>
                        </a:rPr>
                        <a:t>-1804.8445</a:t>
                      </a:r>
                      <a:endParaRPr sz="1100" b="0" i="0">
                        <a:solidFill>
                          <a:srgbClr val="000000"/>
                        </a:solidFill>
                        <a:latin typeface="Calibri" panose="020F0502020204030204"/>
                        <a:ea typeface="Calibri" panose="020F0502020204030204"/>
                      </a:endParaRPr>
                    </a:p>
                  </a:txBody>
                  <a:tcPr marL="7937" marR="7937" marT="7937" marB="0" anchor="b" anchorCtr="0">
                    <a:lnL>
                      <a:noFill/>
                    </a:lnL>
                    <a:lnR>
                      <a:noFill/>
                    </a:lnR>
                    <a:lnT>
                      <a:noFill/>
                    </a:lnT>
                    <a:lnB>
                      <a:noFill/>
                    </a:lnB>
                    <a:noFill/>
                  </a:tcPr>
                </a:tc>
                <a:tc>
                  <a:txBody>
                    <a:bodyPr/>
                    <a:p>
                      <a:pPr algn="r" fontAlgn="b"/>
                      <a:r>
                        <a:rPr sz="1100" b="0" i="0">
                          <a:solidFill>
                            <a:srgbClr val="000000"/>
                          </a:solidFill>
                          <a:latin typeface="Calibri" panose="020F0502020204030204"/>
                          <a:ea typeface="Calibri" panose="020F0502020204030204"/>
                        </a:rPr>
                        <a:t>3435.7493</a:t>
                      </a:r>
                      <a:endParaRPr sz="1100" b="0" i="0">
                        <a:solidFill>
                          <a:srgbClr val="000000"/>
                        </a:solidFill>
                        <a:latin typeface="Calibri" panose="020F0502020204030204"/>
                        <a:ea typeface="Calibri" panose="020F0502020204030204"/>
                      </a:endParaRPr>
                    </a:p>
                  </a:txBody>
                  <a:tcPr marL="7937" marR="7937" marT="7937" marB="0" anchor="b" anchorCtr="0">
                    <a:lnL>
                      <a:noFill/>
                    </a:lnL>
                    <a:lnR>
                      <a:noFill/>
                    </a:lnR>
                    <a:lnT>
                      <a:noFill/>
                    </a:lnT>
                    <a:lnB>
                      <a:noFill/>
                    </a:lnB>
                    <a:noFill/>
                  </a:tcPr>
                </a:tc>
                <a:tc>
                  <a:txBody>
                    <a:bodyPr/>
                    <a:p>
                      <a:pPr algn="r" fontAlgn="b"/>
                      <a:r>
                        <a:rPr sz="1100" b="0" i="0">
                          <a:solidFill>
                            <a:srgbClr val="000000"/>
                          </a:solidFill>
                          <a:latin typeface="Calibri" panose="020F0502020204030204"/>
                          <a:ea typeface="Calibri" panose="020F0502020204030204"/>
                        </a:rPr>
                        <a:t>1159.3995</a:t>
                      </a:r>
                      <a:endParaRPr sz="1100" b="0" i="0">
                        <a:solidFill>
                          <a:srgbClr val="000000"/>
                        </a:solidFill>
                        <a:latin typeface="Calibri" panose="020F0502020204030204"/>
                        <a:ea typeface="Calibri" panose="020F0502020204030204"/>
                      </a:endParaRPr>
                    </a:p>
                  </a:txBody>
                  <a:tcPr marL="7937" marR="7937" marT="7937" marB="0" anchor="b" anchorCtr="0">
                    <a:lnL>
                      <a:noFill/>
                    </a:lnL>
                    <a:lnR>
                      <a:noFill/>
                    </a:lnR>
                    <a:lnT>
                      <a:noFill/>
                    </a:lnT>
                    <a:lnB>
                      <a:noFill/>
                    </a:lnB>
                    <a:noFill/>
                  </a:tcPr>
                </a:tc>
                <a:tc>
                  <a:txBody>
                    <a:bodyPr/>
                    <a:p>
                      <a:pPr algn="r" fontAlgn="b"/>
                      <a:r>
                        <a:rPr sz="1100" b="0" i="0">
                          <a:solidFill>
                            <a:srgbClr val="000000"/>
                          </a:solidFill>
                          <a:latin typeface="Calibri" panose="020F0502020204030204"/>
                          <a:ea typeface="Calibri" panose="020F0502020204030204"/>
                        </a:rPr>
                        <a:t>2790.3043</a:t>
                      </a:r>
                      <a:endParaRPr sz="1100" b="0" i="0">
                        <a:solidFill>
                          <a:srgbClr val="000000"/>
                        </a:solidFill>
                        <a:latin typeface="Calibri" panose="020F0502020204030204"/>
                        <a:ea typeface="Calibri" panose="020F0502020204030204"/>
                      </a:endParaRPr>
                    </a:p>
                  </a:txBody>
                  <a:tcPr marL="7937" marR="7937" marT="7937" marB="0" anchor="b" anchorCtr="0">
                    <a:lnL>
                      <a:noFill/>
                    </a:lnL>
                    <a:lnR>
                      <a:noFill/>
                    </a:lnR>
                    <a:lnT>
                      <a:noFill/>
                    </a:lnT>
                    <a:lnB>
                      <a:noFill/>
                    </a:lnB>
                    <a:noFill/>
                  </a:tcPr>
                </a:tc>
              </a:tr>
              <a:tr h="259715">
                <a:tc>
                  <a:txBody>
                    <a:bodyPr/>
                    <a:p>
                      <a:pPr algn="l" fontAlgn="b"/>
                      <a:r>
                        <a:rPr sz="1100" b="0" i="0">
                          <a:solidFill>
                            <a:srgbClr val="000000"/>
                          </a:solidFill>
                          <a:latin typeface="Calibri" panose="020F0502020204030204"/>
                          <a:ea typeface="Calibri" panose="020F0502020204030204"/>
                        </a:rPr>
                        <a:t>South</a:t>
                      </a:r>
                      <a:endParaRPr sz="1100" b="0" i="0">
                        <a:solidFill>
                          <a:srgbClr val="000000"/>
                        </a:solidFill>
                        <a:latin typeface="Calibri" panose="020F0502020204030204"/>
                        <a:ea typeface="Calibri" panose="020F0502020204030204"/>
                      </a:endParaRPr>
                    </a:p>
                  </a:txBody>
                  <a:tcPr marL="7937" marR="7937" marT="7937" marB="0" anchor="b" anchorCtr="0">
                    <a:lnL>
                      <a:noFill/>
                    </a:lnL>
                    <a:lnR>
                      <a:noFill/>
                    </a:lnR>
                    <a:lnT>
                      <a:noFill/>
                    </a:lnT>
                    <a:lnB>
                      <a:noFill/>
                    </a:lnB>
                    <a:noFill/>
                  </a:tcPr>
                </a:tc>
                <a:tc>
                  <a:txBody>
                    <a:bodyPr/>
                    <a:p>
                      <a:pPr algn="r" fontAlgn="b"/>
                      <a:r>
                        <a:rPr sz="1100" b="0" i="0">
                          <a:solidFill>
                            <a:srgbClr val="000000"/>
                          </a:solidFill>
                          <a:latin typeface="Calibri" panose="020F0502020204030204"/>
                          <a:ea typeface="Calibri" panose="020F0502020204030204"/>
                        </a:rPr>
                        <a:t>102.9619</a:t>
                      </a:r>
                      <a:endParaRPr sz="1100" b="0" i="0">
                        <a:solidFill>
                          <a:srgbClr val="000000"/>
                        </a:solidFill>
                        <a:latin typeface="Calibri" panose="020F0502020204030204"/>
                        <a:ea typeface="Calibri" panose="020F0502020204030204"/>
                      </a:endParaRPr>
                    </a:p>
                  </a:txBody>
                  <a:tcPr marL="7937" marR="7937" marT="7937" marB="0" anchor="b" anchorCtr="0">
                    <a:lnL>
                      <a:noFill/>
                    </a:lnL>
                    <a:lnR>
                      <a:noFill/>
                    </a:lnR>
                    <a:lnT>
                      <a:noFill/>
                    </a:lnT>
                    <a:lnB>
                      <a:noFill/>
                    </a:lnB>
                    <a:noFill/>
                  </a:tcPr>
                </a:tc>
                <a:tc>
                  <a:txBody>
                    <a:bodyPr/>
                    <a:p>
                      <a:pPr algn="r" fontAlgn="b"/>
                      <a:r>
                        <a:rPr sz="1100" b="0" i="0">
                          <a:solidFill>
                            <a:srgbClr val="000000"/>
                          </a:solidFill>
                          <a:latin typeface="Calibri" panose="020F0502020204030204"/>
                          <a:ea typeface="Calibri" panose="020F0502020204030204"/>
                        </a:rPr>
                        <a:t>5211.371</a:t>
                      </a:r>
                      <a:endParaRPr sz="1100" b="0" i="0">
                        <a:solidFill>
                          <a:srgbClr val="000000"/>
                        </a:solidFill>
                        <a:latin typeface="Calibri" panose="020F0502020204030204"/>
                        <a:ea typeface="Calibri" panose="020F0502020204030204"/>
                      </a:endParaRPr>
                    </a:p>
                  </a:txBody>
                  <a:tcPr marL="7937" marR="7937" marT="7937" marB="0" anchor="b" anchorCtr="0">
                    <a:lnL>
                      <a:noFill/>
                    </a:lnL>
                    <a:lnR>
                      <a:noFill/>
                    </a:lnR>
                    <a:lnT>
                      <a:noFill/>
                    </a:lnT>
                    <a:lnB>
                      <a:noFill/>
                    </a:lnB>
                    <a:noFill/>
                  </a:tcPr>
                </a:tc>
                <a:tc>
                  <a:txBody>
                    <a:bodyPr/>
                    <a:p>
                      <a:pPr algn="r" fontAlgn="b"/>
                      <a:r>
                        <a:rPr sz="1100" b="0" i="0">
                          <a:solidFill>
                            <a:srgbClr val="000000"/>
                          </a:solidFill>
                          <a:latin typeface="Calibri" panose="020F0502020204030204"/>
                          <a:ea typeface="Calibri" panose="020F0502020204030204"/>
                        </a:rPr>
                        <a:t>-2453.5577</a:t>
                      </a:r>
                      <a:endParaRPr sz="1100" b="0" i="0">
                        <a:solidFill>
                          <a:srgbClr val="000000"/>
                        </a:solidFill>
                        <a:latin typeface="Calibri" panose="020F0502020204030204"/>
                        <a:ea typeface="Calibri" panose="020F0502020204030204"/>
                      </a:endParaRPr>
                    </a:p>
                  </a:txBody>
                  <a:tcPr marL="7937" marR="7937" marT="7937" marB="0" anchor="b" anchorCtr="0">
                    <a:lnL>
                      <a:noFill/>
                    </a:lnL>
                    <a:lnR>
                      <a:noFill/>
                    </a:lnR>
                    <a:lnT>
                      <a:noFill/>
                    </a:lnT>
                    <a:lnB>
                      <a:noFill/>
                    </a:lnB>
                    <a:noFill/>
                  </a:tcPr>
                </a:tc>
                <a:tc>
                  <a:txBody>
                    <a:bodyPr/>
                    <a:p>
                      <a:pPr algn="r" fontAlgn="b"/>
                      <a:r>
                        <a:rPr sz="1100" b="0" i="0">
                          <a:solidFill>
                            <a:srgbClr val="000000"/>
                          </a:solidFill>
                          <a:latin typeface="Calibri" panose="020F0502020204030204"/>
                          <a:ea typeface="Calibri" panose="020F0502020204030204"/>
                        </a:rPr>
                        <a:t>2860.7752</a:t>
                      </a:r>
                      <a:endParaRPr sz="1100" b="0" i="0">
                        <a:solidFill>
                          <a:srgbClr val="000000"/>
                        </a:solidFill>
                        <a:latin typeface="Calibri" panose="020F0502020204030204"/>
                        <a:ea typeface="Calibri" panose="020F0502020204030204"/>
                      </a:endParaRPr>
                    </a:p>
                  </a:txBody>
                  <a:tcPr marL="7937" marR="7937" marT="7937" marB="0" anchor="b" anchorCtr="0">
                    <a:lnL>
                      <a:noFill/>
                    </a:lnL>
                    <a:lnR>
                      <a:noFill/>
                    </a:lnR>
                    <a:lnT>
                      <a:noFill/>
                    </a:lnT>
                    <a:lnB>
                      <a:noFill/>
                    </a:lnB>
                    <a:noFill/>
                  </a:tcPr>
                </a:tc>
              </a:tr>
              <a:tr h="259715">
                <a:tc>
                  <a:txBody>
                    <a:bodyPr/>
                    <a:p>
                      <a:pPr algn="l" fontAlgn="b"/>
                      <a:r>
                        <a:rPr sz="1100" b="0" i="0">
                          <a:solidFill>
                            <a:srgbClr val="000000"/>
                          </a:solidFill>
                          <a:latin typeface="Calibri" panose="020F0502020204030204"/>
                          <a:ea typeface="Calibri" panose="020F0502020204030204"/>
                        </a:rPr>
                        <a:t>West</a:t>
                      </a:r>
                      <a:endParaRPr sz="1100" b="0" i="0">
                        <a:solidFill>
                          <a:srgbClr val="000000"/>
                        </a:solidFill>
                        <a:latin typeface="Calibri" panose="020F0502020204030204"/>
                        <a:ea typeface="Calibri" panose="020F0502020204030204"/>
                      </a:endParaRPr>
                    </a:p>
                  </a:txBody>
                  <a:tcPr marL="7937" marR="7937" marT="7937" marB="0" anchor="b" anchorCtr="0">
                    <a:lnL>
                      <a:noFill/>
                    </a:lnL>
                    <a:lnR>
                      <a:noFill/>
                    </a:lnR>
                    <a:lnT>
                      <a:noFill/>
                    </a:lnT>
                    <a:lnB w="6350" cap="flat" cmpd="sng">
                      <a:solidFill>
                        <a:srgbClr val="8EA9DB"/>
                      </a:solidFill>
                      <a:prstDash val="solid"/>
                      <a:headEnd type="none" w="med" len="med"/>
                      <a:tailEnd type="none" w="med" len="med"/>
                    </a:lnB>
                    <a:noFill/>
                  </a:tcPr>
                </a:tc>
                <a:tc>
                  <a:txBody>
                    <a:bodyPr/>
                    <a:p>
                      <a:pPr algn="r" fontAlgn="b"/>
                      <a:r>
                        <a:rPr sz="1100" b="0" i="0">
                          <a:solidFill>
                            <a:srgbClr val="000000"/>
                          </a:solidFill>
                          <a:latin typeface="Calibri" panose="020F0502020204030204"/>
                          <a:ea typeface="Calibri" panose="020F0502020204030204"/>
                        </a:rPr>
                        <a:t>622.6758</a:t>
                      </a:r>
                      <a:endParaRPr sz="1100" b="0" i="0">
                        <a:solidFill>
                          <a:srgbClr val="000000"/>
                        </a:solidFill>
                        <a:latin typeface="Calibri" panose="020F0502020204030204"/>
                        <a:ea typeface="Calibri" panose="020F0502020204030204"/>
                      </a:endParaRPr>
                    </a:p>
                  </a:txBody>
                  <a:tcPr marL="7937" marR="7937" marT="7937" marB="0" anchor="b" anchorCtr="0">
                    <a:lnL>
                      <a:noFill/>
                    </a:lnL>
                    <a:lnR>
                      <a:noFill/>
                    </a:lnR>
                    <a:lnT>
                      <a:noFill/>
                    </a:lnT>
                    <a:lnB w="6350" cap="flat" cmpd="sng">
                      <a:solidFill>
                        <a:srgbClr val="8EA9DB"/>
                      </a:solidFill>
                      <a:prstDash val="solid"/>
                      <a:headEnd type="none" w="med" len="med"/>
                      <a:tailEnd type="none" w="med" len="med"/>
                    </a:lnB>
                    <a:noFill/>
                  </a:tcPr>
                </a:tc>
                <a:tc>
                  <a:txBody>
                    <a:bodyPr/>
                    <a:p>
                      <a:pPr algn="r" fontAlgn="b"/>
                      <a:r>
                        <a:rPr sz="1100" b="0" i="0">
                          <a:solidFill>
                            <a:srgbClr val="000000"/>
                          </a:solidFill>
                          <a:latin typeface="Calibri" panose="020F0502020204030204"/>
                          <a:ea typeface="Calibri" panose="020F0502020204030204"/>
                        </a:rPr>
                        <a:t>3177.9552</a:t>
                      </a:r>
                      <a:endParaRPr sz="1100" b="0" i="0">
                        <a:solidFill>
                          <a:srgbClr val="000000"/>
                        </a:solidFill>
                        <a:latin typeface="Calibri" panose="020F0502020204030204"/>
                        <a:ea typeface="Calibri" panose="020F0502020204030204"/>
                      </a:endParaRPr>
                    </a:p>
                  </a:txBody>
                  <a:tcPr marL="7937" marR="7937" marT="7937" marB="0" anchor="b" anchorCtr="0">
                    <a:lnL>
                      <a:noFill/>
                    </a:lnL>
                    <a:lnR>
                      <a:noFill/>
                    </a:lnR>
                    <a:lnT>
                      <a:noFill/>
                    </a:lnT>
                    <a:lnB w="6350" cap="flat" cmpd="sng">
                      <a:solidFill>
                        <a:srgbClr val="8EA9DB"/>
                      </a:solidFill>
                      <a:prstDash val="solid"/>
                      <a:headEnd type="none" w="med" len="med"/>
                      <a:tailEnd type="none" w="med" len="med"/>
                    </a:lnB>
                    <a:noFill/>
                  </a:tcPr>
                </a:tc>
                <a:tc>
                  <a:txBody>
                    <a:bodyPr/>
                    <a:p>
                      <a:pPr algn="r" fontAlgn="b"/>
                      <a:r>
                        <a:rPr sz="1100" b="0" i="0">
                          <a:solidFill>
                            <a:srgbClr val="000000"/>
                          </a:solidFill>
                          <a:latin typeface="Calibri" panose="020F0502020204030204"/>
                          <a:ea typeface="Calibri" panose="020F0502020204030204"/>
                        </a:rPr>
                        <a:t>7124.8245</a:t>
                      </a:r>
                      <a:endParaRPr sz="1100" b="0" i="0">
                        <a:solidFill>
                          <a:srgbClr val="000000"/>
                        </a:solidFill>
                        <a:latin typeface="Calibri" panose="020F0502020204030204"/>
                        <a:ea typeface="Calibri" panose="020F0502020204030204"/>
                      </a:endParaRPr>
                    </a:p>
                  </a:txBody>
                  <a:tcPr marL="7937" marR="7937" marT="7937" marB="0" anchor="b" anchorCtr="0">
                    <a:lnL>
                      <a:noFill/>
                    </a:lnL>
                    <a:lnR>
                      <a:noFill/>
                    </a:lnR>
                    <a:lnT>
                      <a:noFill/>
                    </a:lnT>
                    <a:lnB w="6350" cap="flat" cmpd="sng">
                      <a:solidFill>
                        <a:srgbClr val="8EA9DB"/>
                      </a:solidFill>
                      <a:prstDash val="solid"/>
                      <a:headEnd type="none" w="med" len="med"/>
                      <a:tailEnd type="none" w="med" len="med"/>
                    </a:lnB>
                    <a:noFill/>
                  </a:tcPr>
                </a:tc>
                <a:tc>
                  <a:txBody>
                    <a:bodyPr/>
                    <a:p>
                      <a:pPr algn="r" fontAlgn="b"/>
                      <a:r>
                        <a:rPr sz="1100" b="0" i="0">
                          <a:solidFill>
                            <a:srgbClr val="000000"/>
                          </a:solidFill>
                          <a:latin typeface="Calibri" panose="020F0502020204030204"/>
                          <a:ea typeface="Calibri" panose="020F0502020204030204"/>
                        </a:rPr>
                        <a:t>10925.4555</a:t>
                      </a:r>
                      <a:endParaRPr sz="1100" b="0" i="0">
                        <a:solidFill>
                          <a:srgbClr val="000000"/>
                        </a:solidFill>
                        <a:latin typeface="Calibri" panose="020F0502020204030204"/>
                        <a:ea typeface="Calibri" panose="020F0502020204030204"/>
                      </a:endParaRPr>
                    </a:p>
                  </a:txBody>
                  <a:tcPr marL="7937" marR="7937" marT="7937" marB="0" anchor="b" anchorCtr="0">
                    <a:lnL>
                      <a:noFill/>
                    </a:lnL>
                    <a:lnR>
                      <a:noFill/>
                    </a:lnR>
                    <a:lnT>
                      <a:noFill/>
                    </a:lnT>
                    <a:lnB w="6350" cap="flat" cmpd="sng">
                      <a:solidFill>
                        <a:srgbClr val="8EA9DB"/>
                      </a:solidFill>
                      <a:prstDash val="solid"/>
                      <a:headEnd type="none" w="med" len="med"/>
                      <a:tailEnd type="none" w="med" len="med"/>
                    </a:lnB>
                    <a:noFill/>
                  </a:tcPr>
                </a:tc>
              </a:tr>
              <a:tr h="259715">
                <a:tc>
                  <a:txBody>
                    <a:bodyPr/>
                    <a:p>
                      <a:pPr algn="l" fontAlgn="b"/>
                      <a:r>
                        <a:rPr sz="1100" b="1" i="0">
                          <a:solidFill>
                            <a:srgbClr val="000000"/>
                          </a:solidFill>
                          <a:latin typeface="Calibri" panose="020F0502020204030204"/>
                          <a:ea typeface="Calibri" panose="020F0502020204030204"/>
                        </a:rPr>
                        <a:t>Grand Total</a:t>
                      </a:r>
                      <a:endParaRPr sz="1100" b="1" i="0">
                        <a:solidFill>
                          <a:srgbClr val="000000"/>
                        </a:solidFill>
                        <a:latin typeface="Calibri" panose="020F0502020204030204"/>
                        <a:ea typeface="Calibri" panose="020F0502020204030204"/>
                      </a:endParaRPr>
                    </a:p>
                  </a:txBody>
                  <a:tcPr marL="7937" marR="7937" marT="7937" marB="0" anchor="b" anchorCtr="0">
                    <a:lnL>
                      <a:noFill/>
                    </a:lnL>
                    <a:lnR>
                      <a:noFill/>
                    </a:lnR>
                    <a:lnT w="6350" cap="flat" cmpd="sng">
                      <a:solidFill>
                        <a:srgbClr val="8EA9DB"/>
                      </a:solidFill>
                      <a:prstDash val="solid"/>
                      <a:headEnd type="none" w="med" len="med"/>
                      <a:tailEnd type="none" w="med" len="med"/>
                    </a:lnT>
                    <a:lnB>
                      <a:noFill/>
                    </a:lnB>
                    <a:solidFill>
                      <a:srgbClr val="D9E1F2"/>
                    </a:solidFill>
                  </a:tcPr>
                </a:tc>
                <a:tc>
                  <a:txBody>
                    <a:bodyPr/>
                    <a:p>
                      <a:pPr algn="r" fontAlgn="b"/>
                      <a:r>
                        <a:rPr sz="1100" b="1" i="0">
                          <a:solidFill>
                            <a:srgbClr val="000000"/>
                          </a:solidFill>
                          <a:latin typeface="Calibri" panose="020F0502020204030204"/>
                          <a:ea typeface="Calibri" panose="020F0502020204030204"/>
                        </a:rPr>
                        <a:t>-1742.0193</a:t>
                      </a:r>
                      <a:endParaRPr sz="1100" b="1" i="0">
                        <a:solidFill>
                          <a:srgbClr val="000000"/>
                        </a:solidFill>
                        <a:latin typeface="Calibri" panose="020F0502020204030204"/>
                        <a:ea typeface="Calibri" panose="020F0502020204030204"/>
                      </a:endParaRPr>
                    </a:p>
                  </a:txBody>
                  <a:tcPr marL="7937" marR="7937" marT="7937" marB="0" anchor="b" anchorCtr="0">
                    <a:lnL>
                      <a:noFill/>
                    </a:lnL>
                    <a:lnR>
                      <a:noFill/>
                    </a:lnR>
                    <a:lnT w="6350" cap="flat" cmpd="sng">
                      <a:solidFill>
                        <a:srgbClr val="8EA9DB"/>
                      </a:solidFill>
                      <a:prstDash val="solid"/>
                      <a:headEnd type="none" w="med" len="med"/>
                      <a:tailEnd type="none" w="med" len="med"/>
                    </a:lnT>
                    <a:lnB>
                      <a:noFill/>
                    </a:lnB>
                    <a:solidFill>
                      <a:srgbClr val="D9E1F2"/>
                    </a:solidFill>
                  </a:tcPr>
                </a:tc>
                <a:tc>
                  <a:txBody>
                    <a:bodyPr/>
                    <a:p>
                      <a:pPr algn="r" fontAlgn="b"/>
                      <a:r>
                        <a:rPr sz="1100" b="1" i="0">
                          <a:solidFill>
                            <a:srgbClr val="000000"/>
                          </a:solidFill>
                          <a:latin typeface="Calibri" panose="020F0502020204030204"/>
                          <a:ea typeface="Calibri" panose="020F0502020204030204"/>
                        </a:rPr>
                        <a:t>12470.7288</a:t>
                      </a:r>
                      <a:endParaRPr sz="1100" b="1" i="0">
                        <a:solidFill>
                          <a:srgbClr val="000000"/>
                        </a:solidFill>
                        <a:latin typeface="Calibri" panose="020F0502020204030204"/>
                        <a:ea typeface="Calibri" panose="020F0502020204030204"/>
                      </a:endParaRPr>
                    </a:p>
                  </a:txBody>
                  <a:tcPr marL="7937" marR="7937" marT="7937" marB="0" anchor="b" anchorCtr="0">
                    <a:lnL>
                      <a:noFill/>
                    </a:lnL>
                    <a:lnR>
                      <a:noFill/>
                    </a:lnR>
                    <a:lnT w="6350" cap="flat" cmpd="sng">
                      <a:solidFill>
                        <a:srgbClr val="8EA9DB"/>
                      </a:solidFill>
                      <a:prstDash val="solid"/>
                      <a:headEnd type="none" w="med" len="med"/>
                      <a:tailEnd type="none" w="med" len="med"/>
                    </a:lnT>
                    <a:lnB>
                      <a:noFill/>
                    </a:lnB>
                    <a:solidFill>
                      <a:srgbClr val="D9E1F2"/>
                    </a:solidFill>
                  </a:tcPr>
                </a:tc>
                <a:tc>
                  <a:txBody>
                    <a:bodyPr/>
                    <a:p>
                      <a:pPr algn="r" fontAlgn="b"/>
                      <a:r>
                        <a:rPr sz="1100" b="1" i="0">
                          <a:solidFill>
                            <a:srgbClr val="000000"/>
                          </a:solidFill>
                          <a:latin typeface="Calibri" panose="020F0502020204030204"/>
                          <a:ea typeface="Calibri" panose="020F0502020204030204"/>
                        </a:rPr>
                        <a:t>8017.4697</a:t>
                      </a:r>
                      <a:endParaRPr sz="1100" b="1" i="0">
                        <a:solidFill>
                          <a:srgbClr val="000000"/>
                        </a:solidFill>
                        <a:latin typeface="Calibri" panose="020F0502020204030204"/>
                        <a:ea typeface="Calibri" panose="020F0502020204030204"/>
                      </a:endParaRPr>
                    </a:p>
                  </a:txBody>
                  <a:tcPr marL="7937" marR="7937" marT="7937" marB="0" anchor="b" anchorCtr="0">
                    <a:lnL>
                      <a:noFill/>
                    </a:lnL>
                    <a:lnR>
                      <a:noFill/>
                    </a:lnR>
                    <a:lnT w="6350" cap="flat" cmpd="sng">
                      <a:solidFill>
                        <a:srgbClr val="8EA9DB"/>
                      </a:solidFill>
                      <a:prstDash val="solid"/>
                      <a:headEnd type="none" w="med" len="med"/>
                      <a:tailEnd type="none" w="med" len="med"/>
                    </a:lnT>
                    <a:lnB>
                      <a:noFill/>
                    </a:lnB>
                    <a:solidFill>
                      <a:srgbClr val="D9E1F2"/>
                    </a:solidFill>
                  </a:tcPr>
                </a:tc>
                <a:tc>
                  <a:txBody>
                    <a:bodyPr/>
                    <a:p>
                      <a:pPr algn="r" fontAlgn="b"/>
                      <a:r>
                        <a:rPr sz="1100" b="1" i="0">
                          <a:solidFill>
                            <a:srgbClr val="000000"/>
                          </a:solidFill>
                          <a:latin typeface="Calibri" panose="020F0502020204030204"/>
                          <a:ea typeface="Calibri" panose="020F0502020204030204"/>
                        </a:rPr>
                        <a:t>18746.1792</a:t>
                      </a:r>
                      <a:endParaRPr sz="1100" b="1" i="0">
                        <a:solidFill>
                          <a:srgbClr val="000000"/>
                        </a:solidFill>
                        <a:latin typeface="Calibri" panose="020F0502020204030204"/>
                        <a:ea typeface="Calibri" panose="020F0502020204030204"/>
                      </a:endParaRPr>
                    </a:p>
                  </a:txBody>
                  <a:tcPr marL="7937" marR="7937" marT="7937" marB="0" anchor="b" anchorCtr="0">
                    <a:lnL>
                      <a:noFill/>
                    </a:lnL>
                    <a:lnR>
                      <a:noFill/>
                    </a:lnR>
                    <a:lnT w="6350" cap="flat" cmpd="sng">
                      <a:solidFill>
                        <a:srgbClr val="8EA9DB"/>
                      </a:solidFill>
                      <a:prstDash val="solid"/>
                      <a:headEnd type="none" w="med" len="med"/>
                      <a:tailEnd type="none" w="med" len="med"/>
                    </a:lnT>
                    <a:lnB>
                      <a:noFill/>
                    </a:lnB>
                    <a:solidFill>
                      <a:srgbClr val="D9E1F2"/>
                    </a:solidFill>
                  </a:tcPr>
                </a:tc>
              </a:tr>
            </a:tbl>
          </a:graphicData>
        </a:graphic>
      </p:graphicFrame>
      <p:pic>
        <p:nvPicPr>
          <p:cNvPr id="6"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1227706" y="286603"/>
            <a:ext cx="2234997" cy="467029"/>
          </a:xfrm>
          <a:prstGeom prst="rect">
            <a:avLst/>
          </a:prstGeom>
          <a:noFill/>
          <a:ln>
            <a:noFill/>
          </a:ln>
        </p:spPr>
      </p:pic>
      <p:pic>
        <p:nvPicPr>
          <p:cNvPr id="7"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27706" y="894343"/>
            <a:ext cx="1464501" cy="70230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l"/>
            <a:r>
              <a:rPr lang="en-US"/>
              <a:t>				</a:t>
            </a:r>
            <a:r>
              <a:rPr lang="en-US" dirty="0">
                <a:sym typeface="+mn-ea"/>
              </a:rPr>
              <a:t>KPI’s</a:t>
            </a:r>
            <a:endParaRPr lang="en-US"/>
          </a:p>
        </p:txBody>
      </p:sp>
      <p:sp>
        <p:nvSpPr>
          <p:cNvPr id="3" name="Content Placeholder 2"/>
          <p:cNvSpPr>
            <a:spLocks noGrp="1"/>
          </p:cNvSpPr>
          <p:nvPr>
            <p:ph idx="1"/>
          </p:nvPr>
        </p:nvSpPr>
        <p:spPr>
          <a:xfrm>
            <a:off x="1097280" y="2108200"/>
            <a:ext cx="10854055" cy="3761105"/>
          </a:xfrm>
        </p:spPr>
        <p:txBody>
          <a:bodyPr/>
          <a:p>
            <a:r>
              <a:rPr lang="en-US" altLang="en-US"/>
              <a:t>Product Category Profitability – Determines which product categories contribute the most to profits.</a:t>
            </a:r>
            <a:endParaRPr lang="en-US" altLang="en-US"/>
          </a:p>
          <a:p>
            <a:endParaRPr lang="en-US" altLang="en-US"/>
          </a:p>
        </p:txBody>
      </p:sp>
      <p:pic>
        <p:nvPicPr>
          <p:cNvPr id="6"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1227706" y="286603"/>
            <a:ext cx="2234997" cy="467029"/>
          </a:xfrm>
          <a:prstGeom prst="rect">
            <a:avLst/>
          </a:prstGeom>
          <a:noFill/>
          <a:ln>
            <a:noFill/>
          </a:ln>
        </p:spPr>
      </p:pic>
      <p:pic>
        <p:nvPicPr>
          <p:cNvPr id="7"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27706" y="894343"/>
            <a:ext cx="1464501" cy="702305"/>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4" name="Table 3"/>
          <p:cNvGraphicFramePr/>
          <p:nvPr>
            <p:custDataLst>
              <p:tags r:id="rId4"/>
            </p:custDataLst>
          </p:nvPr>
        </p:nvGraphicFramePr>
        <p:xfrm>
          <a:off x="1226820" y="2971800"/>
          <a:ext cx="4335780" cy="2667000"/>
        </p:xfrm>
        <a:graphic>
          <a:graphicData uri="http://schemas.openxmlformats.org/drawingml/2006/table">
            <a:tbl>
              <a:tblPr/>
              <a:tblGrid>
                <a:gridCol w="2635885"/>
                <a:gridCol w="1699895"/>
              </a:tblGrid>
              <a:tr h="533400">
                <a:tc>
                  <a:txBody>
                    <a:bodyPr/>
                    <a:p>
                      <a:pPr algn="l" fontAlgn="b"/>
                      <a:r>
                        <a:rPr sz="1100" b="1" i="0">
                          <a:solidFill>
                            <a:srgbClr val="000000"/>
                          </a:solidFill>
                          <a:latin typeface="Calibri" panose="020F0502020204030204"/>
                          <a:ea typeface="Calibri" panose="020F0502020204030204"/>
                        </a:rPr>
                        <a:t>Product Categories</a:t>
                      </a:r>
                      <a:endParaRPr sz="1100" b="1" i="0">
                        <a:solidFill>
                          <a:srgbClr val="000000"/>
                        </a:solidFill>
                        <a:latin typeface="Calibri" panose="020F0502020204030204"/>
                        <a:ea typeface="Calibri" panose="020F0502020204030204"/>
                      </a:endParaRPr>
                    </a:p>
                  </a:txBody>
                  <a:tcPr marL="7937" marR="7937" marT="7937" marB="0" anchor="b" anchorCtr="0">
                    <a:lnL>
                      <a:noFill/>
                    </a:lnL>
                    <a:lnR>
                      <a:noFill/>
                    </a:lnR>
                    <a:lnT>
                      <a:noFill/>
                    </a:lnT>
                    <a:lnB w="6350" cap="flat" cmpd="sng">
                      <a:solidFill>
                        <a:srgbClr val="8EA9DB"/>
                      </a:solidFill>
                      <a:prstDash val="solid"/>
                      <a:headEnd type="none" w="med" len="med"/>
                      <a:tailEnd type="none" w="med" len="med"/>
                    </a:lnB>
                    <a:solidFill>
                      <a:srgbClr val="00B0F0"/>
                    </a:solidFill>
                  </a:tcPr>
                </a:tc>
                <a:tc>
                  <a:txBody>
                    <a:bodyPr/>
                    <a:p>
                      <a:pPr algn="l" fontAlgn="b"/>
                      <a:r>
                        <a:rPr sz="1100" b="1" i="0">
                          <a:solidFill>
                            <a:srgbClr val="000000"/>
                          </a:solidFill>
                          <a:latin typeface="Calibri" panose="020F0502020204030204"/>
                          <a:ea typeface="Calibri" panose="020F0502020204030204"/>
                        </a:rPr>
                        <a:t>Sum of Profit</a:t>
                      </a:r>
                      <a:endParaRPr sz="1100" b="1" i="0">
                        <a:solidFill>
                          <a:srgbClr val="000000"/>
                        </a:solidFill>
                        <a:latin typeface="Calibri" panose="020F0502020204030204"/>
                        <a:ea typeface="Calibri" panose="020F0502020204030204"/>
                      </a:endParaRPr>
                    </a:p>
                  </a:txBody>
                  <a:tcPr marL="7937" marR="7937" marT="7937" marB="0" anchor="b" anchorCtr="0">
                    <a:lnL>
                      <a:noFill/>
                    </a:lnL>
                    <a:lnR>
                      <a:noFill/>
                    </a:lnR>
                    <a:lnT>
                      <a:noFill/>
                    </a:lnT>
                    <a:lnB w="6350" cap="flat" cmpd="sng">
                      <a:solidFill>
                        <a:srgbClr val="8EA9DB"/>
                      </a:solidFill>
                      <a:prstDash val="solid"/>
                      <a:headEnd type="none" w="med" len="med"/>
                      <a:tailEnd type="none" w="med" len="med"/>
                    </a:lnB>
                    <a:solidFill>
                      <a:srgbClr val="00B0F0"/>
                    </a:solidFill>
                  </a:tcPr>
                </a:tc>
              </a:tr>
              <a:tr h="533400">
                <a:tc>
                  <a:txBody>
                    <a:bodyPr/>
                    <a:p>
                      <a:pPr algn="l" fontAlgn="b"/>
                      <a:r>
                        <a:rPr sz="1100" b="0" i="0">
                          <a:solidFill>
                            <a:srgbClr val="000000"/>
                          </a:solidFill>
                          <a:latin typeface="Calibri" panose="020F0502020204030204"/>
                          <a:ea typeface="Calibri" panose="020F0502020204030204"/>
                        </a:rPr>
                        <a:t>Furniture</a:t>
                      </a:r>
                      <a:endParaRPr sz="1100" b="0" i="0">
                        <a:solidFill>
                          <a:srgbClr val="000000"/>
                        </a:solidFill>
                        <a:latin typeface="Calibri" panose="020F0502020204030204"/>
                        <a:ea typeface="Calibri" panose="020F0502020204030204"/>
                      </a:endParaRPr>
                    </a:p>
                  </a:txBody>
                  <a:tcPr marL="7937" marR="7937" marT="7937" marB="0" anchor="b" anchorCtr="0">
                    <a:lnL>
                      <a:noFill/>
                    </a:lnL>
                    <a:lnR>
                      <a:noFill/>
                    </a:lnR>
                    <a:lnT w="6350" cap="flat" cmpd="sng">
                      <a:solidFill>
                        <a:srgbClr val="8EA9DB"/>
                      </a:solidFill>
                      <a:prstDash val="solid"/>
                      <a:headEnd type="none" w="med" len="med"/>
                      <a:tailEnd type="none" w="med" len="med"/>
                    </a:lnT>
                    <a:lnB>
                      <a:noFill/>
                    </a:lnB>
                    <a:noFill/>
                  </a:tcPr>
                </a:tc>
                <a:tc>
                  <a:txBody>
                    <a:bodyPr/>
                    <a:p>
                      <a:pPr algn="r" fontAlgn="b"/>
                      <a:r>
                        <a:rPr sz="1100" b="0" i="0">
                          <a:solidFill>
                            <a:srgbClr val="000000"/>
                          </a:solidFill>
                          <a:latin typeface="Calibri" panose="020F0502020204030204"/>
                          <a:ea typeface="Calibri" panose="020F0502020204030204"/>
                        </a:rPr>
                        <a:t>-1742.0193</a:t>
                      </a:r>
                      <a:endParaRPr sz="1100" b="0" i="0">
                        <a:solidFill>
                          <a:srgbClr val="000000"/>
                        </a:solidFill>
                        <a:latin typeface="Calibri" panose="020F0502020204030204"/>
                        <a:ea typeface="Calibri" panose="020F0502020204030204"/>
                      </a:endParaRPr>
                    </a:p>
                  </a:txBody>
                  <a:tcPr marL="7937" marR="7937" marT="7937" marB="0" anchor="b" anchorCtr="0">
                    <a:lnL>
                      <a:noFill/>
                    </a:lnL>
                    <a:lnR>
                      <a:noFill/>
                    </a:lnR>
                    <a:lnT w="6350" cap="flat" cmpd="sng">
                      <a:solidFill>
                        <a:srgbClr val="8EA9DB"/>
                      </a:solidFill>
                      <a:prstDash val="solid"/>
                      <a:headEnd type="none" w="med" len="med"/>
                      <a:tailEnd type="none" w="med" len="med"/>
                    </a:lnT>
                    <a:lnB>
                      <a:noFill/>
                    </a:lnB>
                    <a:noFill/>
                  </a:tcPr>
                </a:tc>
              </a:tr>
              <a:tr h="533400">
                <a:tc>
                  <a:txBody>
                    <a:bodyPr/>
                    <a:p>
                      <a:pPr algn="l" fontAlgn="b"/>
                      <a:r>
                        <a:rPr sz="1100" b="0" i="0">
                          <a:solidFill>
                            <a:srgbClr val="000000"/>
                          </a:solidFill>
                          <a:latin typeface="Calibri" panose="020F0502020204030204"/>
                          <a:ea typeface="Calibri" panose="020F0502020204030204"/>
                        </a:rPr>
                        <a:t>Office Supplies</a:t>
                      </a:r>
                      <a:endParaRPr sz="1100" b="0" i="0">
                        <a:solidFill>
                          <a:srgbClr val="000000"/>
                        </a:solidFill>
                        <a:latin typeface="Calibri" panose="020F0502020204030204"/>
                        <a:ea typeface="Calibri" panose="020F0502020204030204"/>
                      </a:endParaRPr>
                    </a:p>
                  </a:txBody>
                  <a:tcPr marL="7937" marR="7937" marT="7937" marB="0" anchor="b" anchorCtr="0">
                    <a:lnL>
                      <a:noFill/>
                    </a:lnL>
                    <a:lnR>
                      <a:noFill/>
                    </a:lnR>
                    <a:lnT>
                      <a:noFill/>
                    </a:lnT>
                    <a:lnB>
                      <a:noFill/>
                    </a:lnB>
                    <a:noFill/>
                  </a:tcPr>
                </a:tc>
                <a:tc>
                  <a:txBody>
                    <a:bodyPr/>
                    <a:p>
                      <a:pPr algn="r" fontAlgn="b"/>
                      <a:r>
                        <a:rPr sz="1100" b="0" i="0">
                          <a:solidFill>
                            <a:srgbClr val="000000"/>
                          </a:solidFill>
                          <a:latin typeface="Calibri" panose="020F0502020204030204"/>
                          <a:ea typeface="Calibri" panose="020F0502020204030204"/>
                        </a:rPr>
                        <a:t>12470.7288</a:t>
                      </a:r>
                      <a:endParaRPr sz="1100" b="0" i="0">
                        <a:solidFill>
                          <a:srgbClr val="000000"/>
                        </a:solidFill>
                        <a:latin typeface="Calibri" panose="020F0502020204030204"/>
                        <a:ea typeface="Calibri" panose="020F0502020204030204"/>
                      </a:endParaRPr>
                    </a:p>
                  </a:txBody>
                  <a:tcPr marL="7937" marR="7937" marT="7937" marB="0" anchor="b" anchorCtr="0">
                    <a:lnL>
                      <a:noFill/>
                    </a:lnL>
                    <a:lnR>
                      <a:noFill/>
                    </a:lnR>
                    <a:lnT>
                      <a:noFill/>
                    </a:lnT>
                    <a:lnB>
                      <a:noFill/>
                    </a:lnB>
                    <a:noFill/>
                  </a:tcPr>
                </a:tc>
              </a:tr>
              <a:tr h="533400">
                <a:tc>
                  <a:txBody>
                    <a:bodyPr/>
                    <a:p>
                      <a:pPr algn="l" fontAlgn="b"/>
                      <a:r>
                        <a:rPr sz="1100" b="0" i="0">
                          <a:solidFill>
                            <a:srgbClr val="000000"/>
                          </a:solidFill>
                          <a:latin typeface="Calibri" panose="020F0502020204030204"/>
                          <a:ea typeface="Calibri" panose="020F0502020204030204"/>
                        </a:rPr>
                        <a:t>Technology</a:t>
                      </a:r>
                      <a:endParaRPr sz="1100" b="0" i="0">
                        <a:solidFill>
                          <a:srgbClr val="000000"/>
                        </a:solidFill>
                        <a:latin typeface="Calibri" panose="020F0502020204030204"/>
                        <a:ea typeface="Calibri" panose="020F0502020204030204"/>
                      </a:endParaRPr>
                    </a:p>
                  </a:txBody>
                  <a:tcPr marL="7937" marR="7937" marT="7937" marB="0" anchor="b" anchorCtr="0">
                    <a:lnL>
                      <a:noFill/>
                    </a:lnL>
                    <a:lnR>
                      <a:noFill/>
                    </a:lnR>
                    <a:lnT>
                      <a:noFill/>
                    </a:lnT>
                    <a:lnB w="6350" cap="flat" cmpd="sng">
                      <a:solidFill>
                        <a:srgbClr val="8EA9DB"/>
                      </a:solidFill>
                      <a:prstDash val="solid"/>
                      <a:headEnd type="none" w="med" len="med"/>
                      <a:tailEnd type="none" w="med" len="med"/>
                    </a:lnB>
                    <a:noFill/>
                  </a:tcPr>
                </a:tc>
                <a:tc>
                  <a:txBody>
                    <a:bodyPr/>
                    <a:p>
                      <a:pPr algn="r" fontAlgn="b"/>
                      <a:r>
                        <a:rPr sz="1100" b="0" i="0">
                          <a:solidFill>
                            <a:srgbClr val="000000"/>
                          </a:solidFill>
                          <a:latin typeface="Calibri" panose="020F0502020204030204"/>
                          <a:ea typeface="Calibri" panose="020F0502020204030204"/>
                        </a:rPr>
                        <a:t>8017.4697</a:t>
                      </a:r>
                      <a:endParaRPr sz="1100" b="0" i="0">
                        <a:solidFill>
                          <a:srgbClr val="000000"/>
                        </a:solidFill>
                        <a:latin typeface="Calibri" panose="020F0502020204030204"/>
                        <a:ea typeface="Calibri" panose="020F0502020204030204"/>
                      </a:endParaRPr>
                    </a:p>
                  </a:txBody>
                  <a:tcPr marL="7937" marR="7937" marT="7937" marB="0" anchor="b" anchorCtr="0">
                    <a:lnL>
                      <a:noFill/>
                    </a:lnL>
                    <a:lnR>
                      <a:noFill/>
                    </a:lnR>
                    <a:lnT>
                      <a:noFill/>
                    </a:lnT>
                    <a:lnB w="6350" cap="flat" cmpd="sng">
                      <a:solidFill>
                        <a:srgbClr val="8EA9DB"/>
                      </a:solidFill>
                      <a:prstDash val="solid"/>
                      <a:headEnd type="none" w="med" len="med"/>
                      <a:tailEnd type="none" w="med" len="med"/>
                    </a:lnB>
                    <a:noFill/>
                  </a:tcPr>
                </a:tc>
              </a:tr>
              <a:tr h="533400">
                <a:tc>
                  <a:txBody>
                    <a:bodyPr/>
                    <a:p>
                      <a:pPr algn="l" fontAlgn="b"/>
                      <a:r>
                        <a:rPr sz="1100" b="1" i="0">
                          <a:solidFill>
                            <a:srgbClr val="000000"/>
                          </a:solidFill>
                          <a:latin typeface="Calibri" panose="020F0502020204030204"/>
                          <a:ea typeface="Calibri" panose="020F0502020204030204"/>
                        </a:rPr>
                        <a:t>Grand Total</a:t>
                      </a:r>
                      <a:endParaRPr sz="1100" b="1" i="0">
                        <a:solidFill>
                          <a:srgbClr val="000000"/>
                        </a:solidFill>
                        <a:latin typeface="Calibri" panose="020F0502020204030204"/>
                        <a:ea typeface="Calibri" panose="020F0502020204030204"/>
                      </a:endParaRPr>
                    </a:p>
                  </a:txBody>
                  <a:tcPr marL="7937" marR="7937" marT="7937" marB="0" anchor="b" anchorCtr="0">
                    <a:lnL>
                      <a:noFill/>
                    </a:lnL>
                    <a:lnR>
                      <a:noFill/>
                    </a:lnR>
                    <a:lnT w="6350" cap="flat" cmpd="sng">
                      <a:solidFill>
                        <a:srgbClr val="8EA9DB"/>
                      </a:solidFill>
                      <a:prstDash val="solid"/>
                      <a:headEnd type="none" w="med" len="med"/>
                      <a:tailEnd type="none" w="med" len="med"/>
                    </a:lnT>
                    <a:lnB>
                      <a:noFill/>
                    </a:lnB>
                    <a:solidFill>
                      <a:srgbClr val="00B0F0"/>
                    </a:solidFill>
                  </a:tcPr>
                </a:tc>
                <a:tc>
                  <a:txBody>
                    <a:bodyPr/>
                    <a:p>
                      <a:pPr algn="r" fontAlgn="b"/>
                      <a:r>
                        <a:rPr sz="1100" b="1" i="0">
                          <a:solidFill>
                            <a:srgbClr val="000000"/>
                          </a:solidFill>
                          <a:latin typeface="Calibri" panose="020F0502020204030204"/>
                          <a:ea typeface="Calibri" panose="020F0502020204030204"/>
                        </a:rPr>
                        <a:t>18746.1792</a:t>
                      </a:r>
                      <a:endParaRPr sz="1100" b="1" i="0">
                        <a:solidFill>
                          <a:srgbClr val="000000"/>
                        </a:solidFill>
                        <a:latin typeface="Calibri" panose="020F0502020204030204"/>
                        <a:ea typeface="Calibri" panose="020F0502020204030204"/>
                      </a:endParaRPr>
                    </a:p>
                  </a:txBody>
                  <a:tcPr marL="7937" marR="7937" marT="7937" marB="0" anchor="b" anchorCtr="0">
                    <a:lnL>
                      <a:noFill/>
                    </a:lnL>
                    <a:lnR>
                      <a:noFill/>
                    </a:lnR>
                    <a:lnT w="6350" cap="flat" cmpd="sng">
                      <a:solidFill>
                        <a:srgbClr val="8EA9DB"/>
                      </a:solidFill>
                      <a:prstDash val="solid"/>
                      <a:headEnd type="none" w="med" len="med"/>
                      <a:tailEnd type="none" w="med" len="med"/>
                    </a:lnT>
                    <a:lnB>
                      <a:noFill/>
                    </a:lnB>
                    <a:solidFill>
                      <a:srgbClr val="00B0F0"/>
                    </a:solidFill>
                  </a:tcPr>
                </a:tc>
              </a:tr>
            </a:tbl>
          </a:graphicData>
        </a:graphic>
      </p:graphicFrame>
      <p:graphicFrame>
        <p:nvGraphicFramePr>
          <p:cNvPr id="2068" name="Chart 1"/>
          <p:cNvGraphicFramePr/>
          <p:nvPr/>
        </p:nvGraphicFramePr>
        <p:xfrm>
          <a:off x="5725160" y="2971800"/>
          <a:ext cx="5993130" cy="2667635"/>
        </p:xfrm>
        <a:graphic>
          <a:graphicData uri="http://schemas.openxmlformats.org/drawingml/2006/chart">
            <c:chart xmlns:c="http://schemas.openxmlformats.org/drawingml/2006/chart" xmlns:r="http://schemas.openxmlformats.org/officeDocument/2006/relationships" r:id="rId1"/>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l"/>
            <a:r>
              <a:rPr lang="en-US"/>
              <a:t>				Technical Process</a:t>
            </a:r>
            <a:endParaRPr lang="en-US"/>
          </a:p>
        </p:txBody>
      </p:sp>
      <p:sp>
        <p:nvSpPr>
          <p:cNvPr id="3" name="Content Placeholder 2"/>
          <p:cNvSpPr>
            <a:spLocks noGrp="1"/>
          </p:cNvSpPr>
          <p:nvPr>
            <p:ph idx="1"/>
          </p:nvPr>
        </p:nvSpPr>
        <p:spPr/>
        <p:txBody>
          <a:bodyPr>
            <a:normAutofit fontScale="90000"/>
          </a:bodyPr>
          <a:p>
            <a:r>
              <a:rPr lang="en-US" altLang="en-US"/>
              <a:t>1. Data Collection &amp; Preparation</a:t>
            </a:r>
            <a:endParaRPr lang="en-US" altLang="en-US"/>
          </a:p>
          <a:p>
            <a:pPr marL="0" indent="0">
              <a:buNone/>
            </a:pPr>
            <a:r>
              <a:rPr lang="en-US" altLang="en-US"/>
              <a:t>Data Sources:</a:t>
            </a:r>
            <a:endParaRPr lang="en-US" altLang="en-US"/>
          </a:p>
          <a:p>
            <a:r>
              <a:rPr lang="en-US" altLang="en-US"/>
              <a:t>Sales transactions (order details, price, discount, quantity), Customer demographics (age, location, segment)</a:t>
            </a:r>
            <a:endParaRPr lang="en-US" altLang="en-US"/>
          </a:p>
          <a:p>
            <a:r>
              <a:rPr lang="en-US" altLang="en-US"/>
              <a:t>Product attributes (category, sub-category, brand), Regional data (economic factors, competitor presence)</a:t>
            </a:r>
            <a:endParaRPr lang="en-US" altLang="en-US"/>
          </a:p>
          <a:p>
            <a:pPr marL="0" indent="0">
              <a:buNone/>
            </a:pPr>
            <a:r>
              <a:rPr lang="en-US" altLang="en-US"/>
              <a:t>Data Cleaning:</a:t>
            </a:r>
            <a:endParaRPr lang="en-US" altLang="en-US"/>
          </a:p>
          <a:p>
            <a:r>
              <a:rPr lang="en-US" altLang="en-US"/>
              <a:t>Handle missing values (impute where needed),Remove duplicates and inconsistencies</a:t>
            </a:r>
            <a:endParaRPr lang="en-US" altLang="en-US"/>
          </a:p>
          <a:p>
            <a:r>
              <a:rPr lang="en-US" altLang="en-US"/>
              <a:t>Convert data into structured format (dates, categories)</a:t>
            </a:r>
            <a:endParaRPr lang="en-US" altLang="en-US"/>
          </a:p>
        </p:txBody>
      </p:sp>
      <p:pic>
        <p:nvPicPr>
          <p:cNvPr id="4" name="Picture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a:xfrm>
            <a:off x="1227706" y="286603"/>
            <a:ext cx="2234997" cy="467029"/>
          </a:xfrm>
          <a:prstGeom prst="rect">
            <a:avLst/>
          </a:prstGeom>
          <a:noFill/>
          <a:ln>
            <a:noFill/>
          </a:ln>
        </p:spPr>
      </p:pic>
      <p:pic>
        <p:nvPicPr>
          <p:cNvPr id="7"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27706" y="894343"/>
            <a:ext cx="1464501" cy="70230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			</a:t>
            </a:r>
            <a:r>
              <a:rPr lang="en-US">
                <a:sym typeface="+mn-ea"/>
              </a:rPr>
              <a:t>Technical Process</a:t>
            </a:r>
            <a:endParaRPr lang="en-US"/>
          </a:p>
        </p:txBody>
      </p:sp>
      <p:sp>
        <p:nvSpPr>
          <p:cNvPr id="3" name="Content Placeholder 2"/>
          <p:cNvSpPr>
            <a:spLocks noGrp="1"/>
          </p:cNvSpPr>
          <p:nvPr>
            <p:ph idx="1"/>
          </p:nvPr>
        </p:nvSpPr>
        <p:spPr/>
        <p:txBody>
          <a:bodyPr>
            <a:normAutofit lnSpcReduction="10000"/>
          </a:bodyPr>
          <a:p>
            <a:r>
              <a:rPr lang="en-US" altLang="en-US"/>
              <a:t>2. Exploratory Data Analysis (EDA)</a:t>
            </a:r>
            <a:endParaRPr lang="en-US" altLang="en-US"/>
          </a:p>
          <a:p>
            <a:pPr>
              <a:buFont typeface="Wingdings" panose="05000000000000000000" charset="0"/>
              <a:buChar char="ü"/>
            </a:pPr>
            <a:r>
              <a:rPr lang="en-US" altLang="en-US"/>
              <a:t>Sales &amp; Profitability Trends</a:t>
            </a:r>
            <a:endParaRPr lang="en-US" altLang="en-US"/>
          </a:p>
          <a:p>
            <a:pPr>
              <a:buFont typeface="Wingdings" panose="05000000000000000000" charset="0"/>
              <a:buChar char="ü"/>
            </a:pPr>
            <a:r>
              <a:rPr lang="en-US" altLang="en-US"/>
              <a:t>Customer Segmentation Analysis</a:t>
            </a:r>
            <a:endParaRPr lang="en-US" altLang="en-US"/>
          </a:p>
          <a:p>
            <a:pPr>
              <a:buFont typeface="Wingdings" panose="05000000000000000000" charset="0"/>
              <a:buChar char="ü"/>
            </a:pPr>
            <a:r>
              <a:rPr lang="en-US" altLang="en-US"/>
              <a:t>Product Performance</a:t>
            </a:r>
            <a:endParaRPr lang="en-US" altLang="en-US"/>
          </a:p>
          <a:p>
            <a:pPr>
              <a:buFont typeface="Wingdings" panose="05000000000000000000" charset="0"/>
              <a:buChar char="ü"/>
            </a:pPr>
            <a:r>
              <a:rPr lang="en-US" altLang="en-US"/>
              <a:t>Regional Performance</a:t>
            </a:r>
            <a:endParaRPr lang="en-US" altLang="en-US"/>
          </a:p>
          <a:p>
            <a:pPr marL="0" indent="0">
              <a:buFont typeface="Wingdings" panose="05000000000000000000" charset="0"/>
              <a:buNone/>
            </a:pPr>
            <a:r>
              <a:rPr lang="en-US" altLang="en-US"/>
              <a:t>3. Advanced Analytics &amp; Machine Learning</a:t>
            </a:r>
            <a:endParaRPr lang="en-US" altLang="en-US"/>
          </a:p>
          <a:p>
            <a:pPr>
              <a:buFont typeface="Wingdings" panose="05000000000000000000" charset="0"/>
              <a:buChar char="ü"/>
            </a:pPr>
            <a:r>
              <a:rPr lang="en-US" altLang="en-US"/>
              <a:t>Regression &amp; Correlation Analysis</a:t>
            </a:r>
            <a:endParaRPr lang="en-US" altLang="en-US"/>
          </a:p>
          <a:p>
            <a:pPr>
              <a:buFont typeface="Wingdings" panose="05000000000000000000" charset="0"/>
              <a:buChar char="ü"/>
            </a:pPr>
            <a:r>
              <a:rPr lang="en-US" altLang="en-US"/>
              <a:t>Profitability Forecasting:</a:t>
            </a:r>
            <a:endParaRPr lang="en-US" altLang="en-US"/>
          </a:p>
          <a:p>
            <a:endParaRPr lang="en-US" altLang="en-US"/>
          </a:p>
        </p:txBody>
      </p:sp>
      <p:pic>
        <p:nvPicPr>
          <p:cNvPr id="7"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227706" y="894343"/>
            <a:ext cx="1464501" cy="702305"/>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1227706" y="286603"/>
            <a:ext cx="2234997" cy="467029"/>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				Conclusion</a:t>
            </a:r>
            <a:endParaRPr lang="en-US"/>
          </a:p>
        </p:txBody>
      </p:sp>
      <p:sp>
        <p:nvSpPr>
          <p:cNvPr id="3" name="Content Placeholder 2"/>
          <p:cNvSpPr>
            <a:spLocks noGrp="1"/>
          </p:cNvSpPr>
          <p:nvPr>
            <p:ph idx="1"/>
          </p:nvPr>
        </p:nvSpPr>
        <p:spPr/>
        <p:txBody>
          <a:bodyPr>
            <a:normAutofit/>
          </a:bodyPr>
          <a:p>
            <a:r>
              <a:rPr lang="en-US" altLang="en-US" sz="1600">
                <a:cs typeface="+mn-lt"/>
              </a:rPr>
              <a:t>Superstore's inconsistent sales and profitability across regions, product categories, and customer segments indicate underlying inefficiencies in pricing, product demand, customer preferences, and regional market dynamics. By leveraging data analytics, the company can identify key drivers affecting sales and profitability, such as discounting impact, regional economic factors, and customer purchasing behaviors.</a:t>
            </a:r>
            <a:endParaRPr lang="en-US" altLang="en-US" sz="1600">
              <a:cs typeface="+mn-lt"/>
            </a:endParaRPr>
          </a:p>
          <a:p>
            <a:endParaRPr lang="en-US" altLang="en-US" sz="1600">
              <a:cs typeface="+mn-lt"/>
            </a:endParaRPr>
          </a:p>
          <a:p>
            <a:r>
              <a:rPr lang="en-US" altLang="en-US" sz="1600">
                <a:cs typeface="+mn-lt"/>
              </a:rPr>
              <a:t>Through exploratory data analysis, machine learning models, and visualization tools, Superstore can uncover actionable insights to optimize pricing strategies, tailor marketing efforts, improve inventory management, and enhance customer retention strategies. Implementing these data-driven recommendations will enable the company to boost revenue, maximize profit margins, and achieve sustainable growth in a competitive retail market. Continuous monitoring and refinement of strategies will further ensure long-term success. </a:t>
            </a:r>
            <a:r>
              <a:rPr lang="zh-CN" altLang="en-US" sz="1600">
                <a:cs typeface="+mn-lt"/>
              </a:rPr>
              <a:t>🚀</a:t>
            </a:r>
            <a:endParaRPr lang="zh-CN" altLang="en-US" sz="1600">
              <a:cs typeface="+mn-lt"/>
            </a:endParaRPr>
          </a:p>
        </p:txBody>
      </p:sp>
      <p:pic>
        <p:nvPicPr>
          <p:cNvPr id="4" name="Picture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a:xfrm>
            <a:off x="1227706" y="286603"/>
            <a:ext cx="2234997" cy="467029"/>
          </a:xfrm>
          <a:prstGeom prst="rect">
            <a:avLst/>
          </a:prstGeom>
          <a:noFill/>
          <a:ln>
            <a:noFill/>
          </a:ln>
        </p:spPr>
      </p:pic>
      <p:pic>
        <p:nvPicPr>
          <p:cNvPr id="7"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27706" y="894343"/>
            <a:ext cx="1464501" cy="70230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l"/>
            <a:r>
              <a:rPr lang="en-US"/>
              <a:t>				Contact</a:t>
            </a:r>
            <a:endParaRPr lang="en-US"/>
          </a:p>
        </p:txBody>
      </p:sp>
      <p:sp>
        <p:nvSpPr>
          <p:cNvPr id="3" name="Content Placeholder 2"/>
          <p:cNvSpPr>
            <a:spLocks noGrp="1"/>
          </p:cNvSpPr>
          <p:nvPr>
            <p:ph idx="1"/>
          </p:nvPr>
        </p:nvSpPr>
        <p:spPr>
          <a:xfrm>
            <a:off x="1389380" y="2108200"/>
            <a:ext cx="11038840" cy="3442335"/>
          </a:xfrm>
        </p:spPr>
        <p:txBody>
          <a:bodyPr>
            <a:noAutofit/>
          </a:bodyPr>
          <a:p>
            <a:pPr algn="ctr"/>
            <a:r>
              <a:rPr lang="en-US" altLang="en-US" sz="1800" b="1"/>
              <a:t>THANK YOU</a:t>
            </a:r>
            <a:endParaRPr lang="en-US" altLang="en-US" sz="1800" b="1"/>
          </a:p>
          <a:p>
            <a:pPr algn="ctr"/>
            <a:r>
              <a:rPr lang="en-US" altLang="en-US" sz="1400" b="1"/>
              <a:t>For Any QUERY CONTACT US on</a:t>
            </a:r>
            <a:endParaRPr lang="en-US" altLang="en-US" sz="1400" b="1"/>
          </a:p>
          <a:p>
            <a:endParaRPr lang="en-US" altLang="en-US" sz="1100"/>
          </a:p>
          <a:p>
            <a:pPr algn="l"/>
            <a:r>
              <a:rPr lang="en-US" altLang="en-US" sz="1100"/>
              <a:t>  	</a:t>
            </a:r>
            <a:r>
              <a:rPr lang="en-US" altLang="en-US" sz="1400" b="1"/>
              <a:t>suhane79jaya@gmail.com</a:t>
            </a:r>
            <a:endParaRPr lang="en-US" altLang="en-US" sz="1400" b="1"/>
          </a:p>
          <a:p>
            <a:pPr algn="l"/>
            <a:endParaRPr lang="en-US" altLang="en-US" sz="1400" b="1">
              <a:sym typeface="+mn-ea"/>
            </a:endParaRPr>
          </a:p>
          <a:p>
            <a:pPr marL="457200" lvl="2" algn="l"/>
            <a:r>
              <a:rPr lang="en-US" altLang="en-US" sz="1400" b="1">
                <a:sym typeface="+mn-ea"/>
              </a:rPr>
              <a:t>hhttps://www.linkedin.com/in/jaya-suhane-776142275/</a:t>
            </a:r>
            <a:endParaRPr lang="en-US" altLang="en-US" sz="1400" b="1"/>
          </a:p>
          <a:p>
            <a:pPr algn="l"/>
            <a:endParaRPr lang="en-US" altLang="en-US" sz="1400" b="1"/>
          </a:p>
          <a:p>
            <a:pPr marL="0" indent="0">
              <a:buNone/>
            </a:pPr>
            <a:r>
              <a:rPr lang="en-US" altLang="en-US" sz="1400" b="1"/>
              <a:t>	peerlist.io/jayasuhane/</a:t>
            </a:r>
            <a:endParaRPr lang="en-US" altLang="en-US" sz="1400" b="1"/>
          </a:p>
          <a:p>
            <a:endParaRPr lang="en-US" altLang="en-US" sz="1400" b="1"/>
          </a:p>
        </p:txBody>
      </p:sp>
      <p:pic>
        <p:nvPicPr>
          <p:cNvPr id="4" name="Picture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a:xfrm>
            <a:off x="1227706" y="286603"/>
            <a:ext cx="2234997" cy="467029"/>
          </a:xfrm>
          <a:prstGeom prst="rect">
            <a:avLst/>
          </a:prstGeom>
          <a:noFill/>
          <a:ln>
            <a:noFill/>
          </a:ln>
        </p:spPr>
      </p:pic>
      <p:pic>
        <p:nvPicPr>
          <p:cNvPr id="7"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27706" y="894343"/>
            <a:ext cx="1464501" cy="702305"/>
          </a:xfrm>
          <a:prstGeom prst="rect">
            <a:avLst/>
          </a:prstGeom>
          <a:noFill/>
          <a:extLst>
            <a:ext uri="{909E8E84-426E-40DD-AFC4-6F175D3DCCD1}">
              <a14:hiddenFill xmlns:a14="http://schemas.microsoft.com/office/drawing/2010/main">
                <a:solidFill>
                  <a:srgbClr val="FFFFFF"/>
                </a:solidFill>
              </a14:hiddenFill>
            </a:ext>
          </a:extLst>
        </p:spPr>
      </p:pic>
      <p:sp>
        <p:nvSpPr>
          <p:cNvPr id="10" name="Freeform 3"/>
          <p:cNvSpPr/>
          <p:nvPr/>
        </p:nvSpPr>
        <p:spPr>
          <a:xfrm>
            <a:off x="1445260" y="3336925"/>
            <a:ext cx="685165" cy="373380"/>
          </a:xfrm>
          <a:custGeom>
            <a:avLst/>
            <a:gdLst/>
            <a:ahLst/>
            <a:cxnLst/>
            <a:rect l="l" t="t" r="r" b="b"/>
            <a:pathLst>
              <a:path w="625831" h="625831">
                <a:moveTo>
                  <a:pt x="0" y="0"/>
                </a:moveTo>
                <a:lnTo>
                  <a:pt x="625832" y="0"/>
                </a:lnTo>
                <a:lnTo>
                  <a:pt x="625832" y="625831"/>
                </a:lnTo>
                <a:lnTo>
                  <a:pt x="0" y="625831"/>
                </a:lnTo>
                <a:lnTo>
                  <a:pt x="0" y="0"/>
                </a:lnTo>
                <a:close/>
              </a:path>
            </a:pathLst>
          </a:custGeom>
          <a:blipFill>
            <a:blip r:embed="rId3"/>
            <a:stretch>
              <a:fillRect/>
            </a:stretch>
          </a:blipFill>
        </p:spPr>
      </p:sp>
      <p:sp>
        <p:nvSpPr>
          <p:cNvPr id="11" name="Freeform 4"/>
          <p:cNvSpPr/>
          <p:nvPr/>
        </p:nvSpPr>
        <p:spPr>
          <a:xfrm>
            <a:off x="1445260" y="3919855"/>
            <a:ext cx="563880" cy="510540"/>
          </a:xfrm>
          <a:custGeom>
            <a:avLst/>
            <a:gdLst/>
            <a:ahLst/>
            <a:cxnLst/>
            <a:rect l="l" t="t" r="r" b="b"/>
            <a:pathLst>
              <a:path w="924707" h="924707">
                <a:moveTo>
                  <a:pt x="0" y="0"/>
                </a:moveTo>
                <a:lnTo>
                  <a:pt x="924706" y="0"/>
                </a:lnTo>
                <a:lnTo>
                  <a:pt x="924706" y="924707"/>
                </a:lnTo>
                <a:lnTo>
                  <a:pt x="0" y="924707"/>
                </a:lnTo>
                <a:lnTo>
                  <a:pt x="0" y="0"/>
                </a:lnTo>
                <a:close/>
              </a:path>
            </a:pathLst>
          </a:custGeom>
          <a:blipFill>
            <a:blip r:embed="rId4"/>
            <a:stretch>
              <a:fillRect/>
            </a:stretch>
          </a:blipFill>
        </p:spPr>
      </p:sp>
      <p:sp>
        <p:nvSpPr>
          <p:cNvPr id="12" name="Freeform 5"/>
          <p:cNvSpPr/>
          <p:nvPr/>
        </p:nvSpPr>
        <p:spPr>
          <a:xfrm>
            <a:off x="1389063" y="4744085"/>
            <a:ext cx="680085" cy="722630"/>
          </a:xfrm>
          <a:custGeom>
            <a:avLst/>
            <a:gdLst/>
            <a:ahLst/>
            <a:cxnLst/>
            <a:rect l="l" t="t" r="r" b="b"/>
            <a:pathLst>
              <a:path w="1170174" h="865928">
                <a:moveTo>
                  <a:pt x="0" y="0"/>
                </a:moveTo>
                <a:lnTo>
                  <a:pt x="1170173" y="0"/>
                </a:lnTo>
                <a:lnTo>
                  <a:pt x="1170173" y="865928"/>
                </a:lnTo>
                <a:lnTo>
                  <a:pt x="0" y="865928"/>
                </a:lnTo>
                <a:lnTo>
                  <a:pt x="0" y="0"/>
                </a:lnTo>
                <a:close/>
              </a:path>
            </a:pathLst>
          </a:custGeom>
          <a:blipFill>
            <a:blip r:embed="rId5"/>
            <a:stretch>
              <a:fillRect/>
            </a:stretch>
          </a:blipFill>
        </p:spPr>
      </p:sp>
    </p:spTree>
  </p:cSld>
  <p:clrMapOvr>
    <a:masterClrMapping/>
  </p:clrMapOvr>
</p:sld>
</file>

<file path=ppt/tags/tag1.xml><?xml version="1.0" encoding="utf-8"?>
<p:tagLst xmlns:p="http://schemas.openxmlformats.org/presentationml/2006/main">
  <p:tag name="TABLE_ENDDRAG_ORIGIN_RECT" val="182*184"/>
  <p:tag name="TABLE_ENDDRAG_RECT" val="669*266*182*184"/>
</p:tagLst>
</file>

<file path=ppt/tags/tag2.xml><?xml version="1.0" encoding="utf-8"?>
<p:tagLst xmlns:p="http://schemas.openxmlformats.org/presentationml/2006/main">
  <p:tag name="TABLE_ENDDRAG_ORIGIN_RECT" val="349*215"/>
  <p:tag name="TABLE_ENDDRAG_RECT" val="93*206*350*216"/>
</p:tagLst>
</file>

<file path=ppt/tags/tag3.xml><?xml version="1.0" encoding="utf-8"?>
<p:tagLst xmlns:p="http://schemas.openxmlformats.org/presentationml/2006/main">
  <p:tag name="TABLE_ENDDRAG_ORIGIN_RECT" val="769*63"/>
  <p:tag name="TABLE_ENDDRAG_RECT" val="108*210*769*63"/>
</p:tagLst>
</file>

<file path=ppt/tags/tag4.xml><?xml version="1.0" encoding="utf-8"?>
<p:tagLst xmlns:p="http://schemas.openxmlformats.org/presentationml/2006/main">
  <p:tag name="TABLE_ENDDRAG_ORIGIN_RECT" val="746*142"/>
  <p:tag name="TABLE_ENDDRAG_RECT" val="117*239*746*142"/>
</p:tagLst>
</file>

<file path=ppt/tags/tag5.xml><?xml version="1.0" encoding="utf-8"?>
<p:tagLst xmlns:p="http://schemas.openxmlformats.org/presentationml/2006/main">
  <p:tag name="TABLE_ENDDRAG_ORIGIN_RECT" val="341*209"/>
  <p:tag name="TABLE_ENDDRAG_RECT" val="96*234*341*209"/>
</p:tagLst>
</file>

<file path=ppt/theme/theme1.xml><?xml version="1.0" encoding="utf-8"?>
<a:theme xmlns:a="http://schemas.openxmlformats.org/drawingml/2006/main" name="Custom">
  <a:themeElements>
    <a:clrScheme name="Custom 37">
      <a:dk1>
        <a:srgbClr val="000000"/>
      </a:dk1>
      <a:lt1>
        <a:srgbClr val="FFFFFF"/>
      </a:lt1>
      <a:dk2>
        <a:srgbClr val="4A5356"/>
      </a:dk2>
      <a:lt2>
        <a:srgbClr val="E8E3CE"/>
      </a:lt2>
      <a:accent1>
        <a:srgbClr val="9BA8B7"/>
      </a:accent1>
      <a:accent2>
        <a:srgbClr val="E6A02E"/>
      </a:accent2>
      <a:accent3>
        <a:srgbClr val="BF6A3B"/>
      </a:accent3>
      <a:accent4>
        <a:srgbClr val="92987A"/>
      </a:accent4>
      <a:accent5>
        <a:srgbClr val="857659"/>
      </a:accent5>
      <a:accent6>
        <a:srgbClr val="A0988C"/>
      </a:accent6>
      <a:hlink>
        <a:srgbClr val="00B0F0"/>
      </a:hlink>
      <a:folHlink>
        <a:srgbClr val="738F97"/>
      </a:folHlink>
    </a:clrScheme>
    <a:fontScheme name="Retrospect">
      <a:majorFont>
        <a:latin typeface="Bookman Old Style"/>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Franklin Gothic Book"/>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6.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7.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8.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7" ma:contentTypeDescription="Create a new document." ma:contentTypeScope="" ma:versionID="c6f9a84f66a9c8b9a21755b9ffafb945">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27df39e3e7036dff54f89ddd5805ce72"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6.xml><?xml version="1.0" encoding="utf-8"?>
<ds:datastoreItem xmlns:ds="http://schemas.openxmlformats.org/officeDocument/2006/customXml" ds:itemID="{19DAD249-BF80-48EF-9AFB-36A11BCDC2CE}">
  <ds:schemaRefs/>
</ds:datastoreItem>
</file>

<file path=customXml/itemProps7.xml><?xml version="1.0" encoding="utf-8"?>
<ds:datastoreItem xmlns:ds="http://schemas.openxmlformats.org/officeDocument/2006/customXml" ds:itemID="{C5A59D56-2157-4202-9D02-F44E447A241D}">
  <ds:schemaRefs/>
</ds:datastoreItem>
</file>

<file path=customXml/itemProps8.xml><?xml version="1.0" encoding="utf-8"?>
<ds:datastoreItem xmlns:ds="http://schemas.openxmlformats.org/officeDocument/2006/customXml" ds:itemID="{6F4F4D41-822D-40F2-A7AC-E4E6CB36CA7A}">
  <ds:schemaRefs/>
</ds:datastoreItem>
</file>

<file path=docProps/app.xml><?xml version="1.0" encoding="utf-8"?>
<Properties xmlns="http://schemas.openxmlformats.org/officeDocument/2006/extended-properties" xmlns:vt="http://schemas.openxmlformats.org/officeDocument/2006/docPropsVTypes">
  <Template>{1B4C8EA9-AC91-49A4-9429-1A3CC4659F93}tf56160789_win32</Template>
  <TotalTime>0</TotalTime>
  <Words>7334</Words>
  <Application>WPS Presentation</Application>
  <PresentationFormat>Widescreen</PresentationFormat>
  <Paragraphs>323</Paragraphs>
  <Slides>18</Slides>
  <Notes>0</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18</vt:i4>
      </vt:variant>
    </vt:vector>
  </HeadingPairs>
  <TitlesOfParts>
    <vt:vector size="31" baseType="lpstr">
      <vt:lpstr>Arial</vt:lpstr>
      <vt:lpstr>SimSun</vt:lpstr>
      <vt:lpstr>Wingdings</vt:lpstr>
      <vt:lpstr>Calibri</vt:lpstr>
      <vt:lpstr>Times New Roman</vt:lpstr>
      <vt:lpstr>Franklin Gothic Book</vt:lpstr>
      <vt:lpstr>Symbol</vt:lpstr>
      <vt:lpstr>Calibri</vt:lpstr>
      <vt:lpstr>Bookman Old Style</vt:lpstr>
      <vt:lpstr>Microsoft YaHei</vt:lpstr>
      <vt:lpstr>Arial Unicode MS</vt:lpstr>
      <vt:lpstr>Wingdings</vt:lpstr>
      <vt:lpstr>Custom</vt:lpstr>
      <vt:lpstr>     Case Study  Improving Sales Performance at Superstore </vt:lpstr>
      <vt:lpstr>				Content</vt:lpstr>
      <vt:lpstr>				Introduction</vt:lpstr>
      <vt:lpstr>			Background And Problem</vt:lpstr>
      <vt:lpstr>				Solution</vt:lpstr>
      <vt:lpstr>			Methodology </vt:lpstr>
      <vt:lpstr>				Project Scope</vt:lpstr>
      <vt:lpstr>				 Project Scope</vt:lpstr>
      <vt:lpstr>				Goals</vt:lpstr>
      <vt:lpstr>				KPI’s</vt:lpstr>
      <vt:lpstr>				KPI’s</vt:lpstr>
      <vt:lpstr>					KPI’s</vt:lpstr>
      <vt:lpstr>				KPI’s</vt:lpstr>
      <vt:lpstr>				KPI’s</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vinay nagariya</dc:creator>
  <cp:lastModifiedBy>jaya nagariya</cp:lastModifiedBy>
  <cp:revision>50</cp:revision>
  <dcterms:created xsi:type="dcterms:W3CDTF">2025-02-24T11:23:00Z</dcterms:created>
  <dcterms:modified xsi:type="dcterms:W3CDTF">2025-02-24T17:47:50Z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ICV">
    <vt:lpwstr>59D2525A485E475C86369BBDE601E96B_12</vt:lpwstr>
  </property>
  <property fmtid="{D5CDD505-2E9C-101B-9397-08002B2CF9AE}" pid="4" name="KSOProductBuildVer">
    <vt:lpwstr>1033-12.2.0.19805</vt:lpwstr>
  </property>
</Properties>
</file>